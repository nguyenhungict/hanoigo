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89" r:id="rId5"/>
    <p:sldId id="259" r:id="rId6"/>
    <p:sldId id="270" r:id="rId7"/>
    <p:sldId id="260" r:id="rId8"/>
    <p:sldId id="290" r:id="rId9"/>
    <p:sldId id="273" r:id="rId10"/>
    <p:sldId id="261" r:id="rId11"/>
    <p:sldId id="274" r:id="rId12"/>
    <p:sldId id="275" r:id="rId13"/>
    <p:sldId id="291" r:id="rId14"/>
    <p:sldId id="262" r:id="rId15"/>
    <p:sldId id="276" r:id="rId16"/>
    <p:sldId id="277" r:id="rId17"/>
    <p:sldId id="278" r:id="rId18"/>
    <p:sldId id="279" r:id="rId19"/>
    <p:sldId id="281" r:id="rId20"/>
    <p:sldId id="282" r:id="rId21"/>
    <p:sldId id="283" r:id="rId22"/>
    <p:sldId id="284" r:id="rId23"/>
    <p:sldId id="263" r:id="rId24"/>
    <p:sldId id="292" r:id="rId25"/>
    <p:sldId id="285" r:id="rId26"/>
    <p:sldId id="286" r:id="rId27"/>
    <p:sldId id="268" r:id="rId28"/>
    <p:sldId id="287" r:id="rId29"/>
  </p:sldIdLst>
  <p:sldSz cx="12192000" cy="6856413"/>
  <p:notesSz cx="12192000" cy="787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952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952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A9F6E9-1167-439A-B0F8-C42FDE33F99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33800" y="984250"/>
            <a:ext cx="4724400" cy="2657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789363"/>
            <a:ext cx="9753600" cy="31003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478713"/>
            <a:ext cx="5283200" cy="395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7478713"/>
            <a:ext cx="5283200" cy="395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B1CE75-F671-4BA9-818A-B5D412FF3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24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E3000-CA69-4AF0-ADAE-2A17E9F383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49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rgbClr val="FF6A00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333333"/>
                </a:solidFill>
                <a:latin typeface="Montserrat Medium"/>
                <a:cs typeface="Montserrat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80" dirty="0"/>
              <a:t>Made</a:t>
            </a:r>
            <a:r>
              <a:rPr spc="-15" dirty="0"/>
              <a:t> </a:t>
            </a:r>
            <a:r>
              <a:rPr spc="-60" dirty="0"/>
              <a:t>with</a:t>
            </a:r>
            <a:r>
              <a:rPr spc="-10" dirty="0"/>
              <a:t> </a:t>
            </a:r>
            <a:r>
              <a:rPr spc="-55" dirty="0"/>
              <a:t>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8B87B-C506-47AE-9682-039BB71CEF3C}" type="datetime1">
              <a:rPr lang="en-US" smtClean="0"/>
              <a:t>7/8/2025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FF6A00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333333"/>
                </a:solidFill>
                <a:latin typeface="Montserrat Medium"/>
                <a:cs typeface="Montserrat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80" dirty="0"/>
              <a:t>Made</a:t>
            </a:r>
            <a:r>
              <a:rPr spc="-15" dirty="0"/>
              <a:t> </a:t>
            </a:r>
            <a:r>
              <a:rPr spc="-60" dirty="0"/>
              <a:t>with</a:t>
            </a:r>
            <a:r>
              <a:rPr spc="-10" dirty="0"/>
              <a:t> </a:t>
            </a:r>
            <a:r>
              <a:rPr spc="-55" dirty="0"/>
              <a:t>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4F502-BCE2-480B-A6B8-91B847670D87}" type="datetime1">
              <a:rPr lang="en-US" smtClean="0"/>
              <a:t>7/8/2025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FF6A00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80" dirty="0"/>
              <a:t>Made</a:t>
            </a:r>
            <a:r>
              <a:rPr spc="-15" dirty="0"/>
              <a:t> </a:t>
            </a:r>
            <a:r>
              <a:rPr spc="-60" dirty="0"/>
              <a:t>with</a:t>
            </a:r>
            <a:r>
              <a:rPr spc="-10" dirty="0"/>
              <a:t> </a:t>
            </a:r>
            <a:r>
              <a:rPr spc="-55" dirty="0"/>
              <a:t>Genspark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EFB74-84E9-4BD8-A661-16C4C1033BB2}" type="datetime1">
              <a:rPr lang="en-US" smtClean="0"/>
              <a:t>7/8/2025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FF6A00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80" dirty="0"/>
              <a:t>Made</a:t>
            </a:r>
            <a:r>
              <a:rPr spc="-15" dirty="0"/>
              <a:t> </a:t>
            </a:r>
            <a:r>
              <a:rPr spc="-60" dirty="0"/>
              <a:t>with</a:t>
            </a:r>
            <a:r>
              <a:rPr spc="-10" dirty="0"/>
              <a:t> </a:t>
            </a:r>
            <a:r>
              <a:rPr spc="-55" dirty="0"/>
              <a:t>Genspark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61C8B-E88D-4EC1-82D1-E2763A120526}" type="datetime1">
              <a:rPr lang="en-US" smtClean="0"/>
              <a:t>7/8/2025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80" dirty="0"/>
              <a:t>Made</a:t>
            </a:r>
            <a:r>
              <a:rPr spc="-15" dirty="0"/>
              <a:t> </a:t>
            </a:r>
            <a:r>
              <a:rPr spc="-60" dirty="0"/>
              <a:t>with</a:t>
            </a:r>
            <a:r>
              <a:rPr spc="-10" dirty="0"/>
              <a:t> </a:t>
            </a:r>
            <a:r>
              <a:rPr spc="-55" dirty="0"/>
              <a:t>Genspark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8C02C-0184-431A-95C3-B7F3CC509B6B}" type="datetime1">
              <a:rPr lang="en-US" smtClean="0"/>
              <a:t>7/8/2025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4399" y="60960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57149" y="1142999"/>
                </a:moveTo>
                <a:lnTo>
                  <a:pt x="0" y="1142999"/>
                </a:lnTo>
                <a:lnTo>
                  <a:pt x="0" y="0"/>
                </a:lnTo>
                <a:lnTo>
                  <a:pt x="57149" y="0"/>
                </a:lnTo>
                <a:lnTo>
                  <a:pt x="57149" y="1142999"/>
                </a:lnTo>
                <a:close/>
              </a:path>
            </a:pathLst>
          </a:custGeom>
          <a:solidFill>
            <a:srgbClr val="FF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00149" y="1447799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FF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7449" y="553178"/>
            <a:ext cx="6859270" cy="767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rgbClr val="FF6A00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4100" y="1992973"/>
            <a:ext cx="10151745" cy="3663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333333"/>
                </a:solidFill>
                <a:latin typeface="Montserrat Medium"/>
                <a:cs typeface="Montserrat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689232" y="6446049"/>
            <a:ext cx="1210945" cy="132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80" dirty="0"/>
              <a:t>Made</a:t>
            </a:r>
            <a:r>
              <a:rPr spc="-15" dirty="0"/>
              <a:t> </a:t>
            </a:r>
            <a:r>
              <a:rPr spc="-60" dirty="0"/>
              <a:t>with</a:t>
            </a:r>
            <a:r>
              <a:rPr spc="-10" dirty="0"/>
              <a:t> </a:t>
            </a:r>
            <a:r>
              <a:rPr spc="-55" dirty="0"/>
              <a:t>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27223-488B-422F-AC8B-207B91244F1D}" type="datetime1">
              <a:rPr lang="en-US" smtClean="0"/>
              <a:t>7/8/2025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1.svg"/><Relationship Id="rId7" Type="http://schemas.openxmlformats.org/officeDocument/2006/relationships/image" Target="../media/image3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4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svg"/><Relationship Id="rId2" Type="http://schemas.openxmlformats.org/officeDocument/2006/relationships/image" Target="../media/image64.png"/><Relationship Id="rId16" Type="http://schemas.openxmlformats.org/officeDocument/2006/relationships/image" Target="../media/image7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sv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130" y="1122203"/>
            <a:ext cx="9876155" cy="120269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4150" spc="-370" dirty="0"/>
              <a:t>GuitarMate</a:t>
            </a:r>
            <a:endParaRPr sz="4150"/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sz="2500" b="0" spc="-155" dirty="0">
                <a:solidFill>
                  <a:srgbClr val="333333"/>
                </a:solidFill>
                <a:latin typeface="Montserrat Medium"/>
                <a:cs typeface="Montserrat Medium"/>
              </a:rPr>
              <a:t>Interactive</a:t>
            </a:r>
            <a:r>
              <a:rPr sz="2500" b="0" spc="-35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2500" b="0" spc="-160" dirty="0">
                <a:solidFill>
                  <a:srgbClr val="333333"/>
                </a:solidFill>
                <a:latin typeface="Montserrat Medium"/>
                <a:cs typeface="Montserrat Medium"/>
              </a:rPr>
              <a:t>Guitar</a:t>
            </a:r>
            <a:r>
              <a:rPr sz="2500" b="0" spc="-3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2500" b="0" spc="-165" dirty="0">
                <a:solidFill>
                  <a:srgbClr val="333333"/>
                </a:solidFill>
                <a:latin typeface="Montserrat Medium"/>
                <a:cs typeface="Montserrat Medium"/>
              </a:rPr>
              <a:t>Learning</a:t>
            </a:r>
            <a:r>
              <a:rPr sz="2500" b="0" spc="-3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2500" b="0" spc="-200" dirty="0">
                <a:solidFill>
                  <a:srgbClr val="333333"/>
                </a:solidFill>
                <a:latin typeface="Montserrat Medium"/>
                <a:cs typeface="Montserrat Medium"/>
              </a:rPr>
              <a:t>App</a:t>
            </a:r>
            <a:r>
              <a:rPr sz="2500" b="0" spc="-3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2500" b="0" spc="-165" dirty="0">
                <a:solidFill>
                  <a:srgbClr val="333333"/>
                </a:solidFill>
                <a:latin typeface="Montserrat Medium"/>
                <a:cs typeface="Montserrat Medium"/>
              </a:rPr>
              <a:t>with</a:t>
            </a:r>
            <a:r>
              <a:rPr sz="2500" b="0" spc="-3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2500" b="0" spc="-185" dirty="0">
                <a:solidFill>
                  <a:srgbClr val="333333"/>
                </a:solidFill>
                <a:latin typeface="Montserrat Medium"/>
                <a:cs typeface="Montserrat Medium"/>
              </a:rPr>
              <a:t>Deep</a:t>
            </a:r>
            <a:r>
              <a:rPr sz="2500" b="0" spc="-3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2500" b="0" spc="-165" dirty="0">
                <a:solidFill>
                  <a:srgbClr val="333333"/>
                </a:solidFill>
                <a:latin typeface="Montserrat Medium"/>
                <a:cs typeface="Montserrat Medium"/>
              </a:rPr>
              <a:t>Learning</a:t>
            </a:r>
            <a:r>
              <a:rPr sz="2500" b="0" spc="-3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2500" b="0" spc="-165" dirty="0">
                <a:solidFill>
                  <a:srgbClr val="333333"/>
                </a:solidFill>
                <a:latin typeface="Montserrat Medium"/>
                <a:cs typeface="Montserrat Medium"/>
              </a:rPr>
              <a:t>Pitch</a:t>
            </a:r>
            <a:r>
              <a:rPr sz="2500" b="0" spc="-3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2500" b="0" spc="-70" dirty="0">
                <a:solidFill>
                  <a:srgbClr val="333333"/>
                </a:solidFill>
                <a:latin typeface="Montserrat Medium"/>
                <a:cs typeface="Montserrat Medium"/>
              </a:rPr>
              <a:t>Detection</a:t>
            </a:r>
            <a:endParaRPr sz="2500">
              <a:latin typeface="Montserrat Medium"/>
              <a:cs typeface="Montserrat Medium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05199" y="2857499"/>
            <a:ext cx="5181600" cy="38100"/>
          </a:xfrm>
          <a:custGeom>
            <a:avLst/>
            <a:gdLst/>
            <a:ahLst/>
            <a:cxnLst/>
            <a:rect l="l" t="t" r="r" b="b"/>
            <a:pathLst>
              <a:path w="5181600" h="38100">
                <a:moveTo>
                  <a:pt x="5181599" y="38099"/>
                </a:moveTo>
                <a:lnTo>
                  <a:pt x="0" y="38099"/>
                </a:lnTo>
                <a:lnTo>
                  <a:pt x="0" y="0"/>
                </a:lnTo>
                <a:lnTo>
                  <a:pt x="5181599" y="0"/>
                </a:lnTo>
                <a:lnTo>
                  <a:pt x="5181599" y="38099"/>
                </a:lnTo>
                <a:close/>
              </a:path>
            </a:pathLst>
          </a:custGeom>
          <a:solidFill>
            <a:srgbClr val="FF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11178" y="3464839"/>
            <a:ext cx="3969385" cy="199643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1950" b="1" spc="-95" dirty="0">
                <a:solidFill>
                  <a:srgbClr val="444444"/>
                </a:solidFill>
                <a:latin typeface="Montserrat SemiBold"/>
                <a:cs typeface="Montserrat SemiBold"/>
              </a:rPr>
              <a:t>Nguy</a:t>
            </a:r>
            <a:r>
              <a:rPr sz="2000" b="1" spc="-95" dirty="0">
                <a:solidFill>
                  <a:srgbClr val="444444"/>
                </a:solidFill>
                <a:latin typeface="Arial"/>
                <a:cs typeface="Arial"/>
              </a:rPr>
              <a:t>ễ</a:t>
            </a:r>
            <a:r>
              <a:rPr sz="1950" b="1" spc="-95" dirty="0">
                <a:solidFill>
                  <a:srgbClr val="444444"/>
                </a:solidFill>
                <a:latin typeface="Montserrat SemiBold"/>
                <a:cs typeface="Montserrat SemiBold"/>
              </a:rPr>
              <a:t>n</a:t>
            </a:r>
            <a:r>
              <a:rPr sz="1950" b="1" spc="-45" dirty="0">
                <a:solidFill>
                  <a:srgbClr val="444444"/>
                </a:solidFill>
                <a:latin typeface="Montserrat SemiBold"/>
                <a:cs typeface="Montserrat SemiBold"/>
              </a:rPr>
              <a:t> </a:t>
            </a:r>
            <a:r>
              <a:rPr sz="1950" b="1" spc="-50" dirty="0">
                <a:solidFill>
                  <a:srgbClr val="444444"/>
                </a:solidFill>
                <a:latin typeface="Montserrat SemiBold"/>
                <a:cs typeface="Montserrat SemiBold"/>
              </a:rPr>
              <a:t>Nh</a:t>
            </a:r>
            <a:r>
              <a:rPr sz="1700" b="1" spc="-50" dirty="0">
                <a:solidFill>
                  <a:srgbClr val="444444"/>
                </a:solidFill>
                <a:latin typeface="Arial"/>
                <a:cs typeface="Arial"/>
              </a:rPr>
              <a:t>ư</a:t>
            </a:r>
            <a:r>
              <a:rPr sz="17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950" b="1" spc="-110" dirty="0">
                <a:solidFill>
                  <a:srgbClr val="444444"/>
                </a:solidFill>
                <a:latin typeface="Montserrat SemiBold"/>
                <a:cs typeface="Montserrat SemiBold"/>
              </a:rPr>
              <a:t>Duy</a:t>
            </a:r>
            <a:r>
              <a:rPr sz="1950" b="1" spc="-45" dirty="0">
                <a:solidFill>
                  <a:srgbClr val="444444"/>
                </a:solidFill>
                <a:latin typeface="Montserrat SemiBold"/>
                <a:cs typeface="Montserrat SemiBold"/>
              </a:rPr>
              <a:t> </a:t>
            </a:r>
            <a:r>
              <a:rPr sz="1950" b="1" dirty="0">
                <a:solidFill>
                  <a:srgbClr val="444444"/>
                </a:solidFill>
                <a:latin typeface="Montserrat SemiBold"/>
                <a:cs typeface="Montserrat SemiBold"/>
              </a:rPr>
              <a:t>-</a:t>
            </a:r>
            <a:r>
              <a:rPr sz="1950" b="1" spc="-75" dirty="0">
                <a:solidFill>
                  <a:srgbClr val="444444"/>
                </a:solidFill>
                <a:latin typeface="Montserrat SemiBold"/>
                <a:cs typeface="Montserrat SemiBold"/>
              </a:rPr>
              <a:t> </a:t>
            </a:r>
            <a:r>
              <a:rPr sz="1950" b="1" spc="-10" dirty="0">
                <a:solidFill>
                  <a:srgbClr val="444444"/>
                </a:solidFill>
                <a:latin typeface="Montserrat SemiBold"/>
                <a:cs typeface="Montserrat SemiBold"/>
              </a:rPr>
              <a:t>22BI13123</a:t>
            </a:r>
            <a:endParaRPr sz="1950">
              <a:latin typeface="Montserrat SemiBold"/>
              <a:cs typeface="Montserrat SemiBold"/>
            </a:endParaRPr>
          </a:p>
          <a:p>
            <a:pPr algn="ctr">
              <a:lnSpc>
                <a:spcPct val="100000"/>
              </a:lnSpc>
              <a:spcBef>
                <a:spcPts val="1925"/>
              </a:spcBef>
            </a:pPr>
            <a:r>
              <a:rPr sz="1650" spc="-10" dirty="0">
                <a:solidFill>
                  <a:srgbClr val="333333"/>
                </a:solidFill>
                <a:latin typeface="Montserrat"/>
                <a:cs typeface="Montserrat"/>
              </a:rPr>
              <a:t>Supervisor:</a:t>
            </a:r>
            <a:endParaRPr sz="1650">
              <a:latin typeface="Montserrat"/>
              <a:cs typeface="Montserrat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650" b="0" spc="-80" dirty="0">
                <a:solidFill>
                  <a:srgbClr val="333333"/>
                </a:solidFill>
                <a:latin typeface="Montserrat Medium"/>
                <a:cs typeface="Montserrat Medium"/>
              </a:rPr>
              <a:t>Dr.</a:t>
            </a:r>
            <a:r>
              <a:rPr sz="1650" b="0" spc="-45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Đ</a:t>
            </a:r>
            <a:r>
              <a:rPr sz="1650" b="0" spc="-10" dirty="0">
                <a:solidFill>
                  <a:srgbClr val="333333"/>
                </a:solidFill>
                <a:latin typeface="Montserrat Medium"/>
                <a:cs typeface="Montserrat Medium"/>
              </a:rPr>
              <a:t>oàn</a:t>
            </a:r>
            <a:r>
              <a:rPr sz="1650" b="0" spc="-7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1650" b="0" spc="-55" dirty="0">
                <a:solidFill>
                  <a:srgbClr val="333333"/>
                </a:solidFill>
                <a:latin typeface="Montserrat Medium"/>
                <a:cs typeface="Montserrat Medium"/>
              </a:rPr>
              <a:t>Nh</a:t>
            </a:r>
            <a:r>
              <a:rPr sz="1450" spc="-55" dirty="0">
                <a:solidFill>
                  <a:srgbClr val="333333"/>
                </a:solidFill>
                <a:latin typeface="Arial"/>
                <a:cs typeface="Arial"/>
              </a:rPr>
              <a:t>ậ</a:t>
            </a:r>
            <a:r>
              <a:rPr sz="1650" b="0" spc="-55" dirty="0">
                <a:solidFill>
                  <a:srgbClr val="333333"/>
                </a:solidFill>
                <a:latin typeface="Montserrat Medium"/>
                <a:cs typeface="Montserrat Medium"/>
              </a:rPr>
              <a:t>t</a:t>
            </a:r>
            <a:r>
              <a:rPr sz="1650" b="0" spc="-6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1650" b="0" spc="-20" dirty="0">
                <a:solidFill>
                  <a:srgbClr val="333333"/>
                </a:solidFill>
                <a:latin typeface="Montserrat Medium"/>
                <a:cs typeface="Montserrat Medium"/>
              </a:rPr>
              <a:t>Quang</a:t>
            </a:r>
            <a:endParaRPr sz="1650">
              <a:latin typeface="Montserrat Medium"/>
              <a:cs typeface="Montserrat Medium"/>
            </a:endParaRPr>
          </a:p>
          <a:p>
            <a:pPr marL="12700" marR="5080" algn="ctr">
              <a:lnSpc>
                <a:spcPct val="155200"/>
              </a:lnSpc>
              <a:spcBef>
                <a:spcPts val="1685"/>
              </a:spcBef>
            </a:pPr>
            <a:r>
              <a:rPr sz="1450" spc="-65" dirty="0">
                <a:solidFill>
                  <a:srgbClr val="333333"/>
                </a:solidFill>
                <a:latin typeface="Montserrat"/>
                <a:cs typeface="Montserrat"/>
              </a:rPr>
              <a:t>University</a:t>
            </a:r>
            <a:r>
              <a:rPr sz="1450" spc="-2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450" spc="-50" dirty="0">
                <a:solidFill>
                  <a:srgbClr val="333333"/>
                </a:solidFill>
                <a:latin typeface="Montserrat"/>
                <a:cs typeface="Montserrat"/>
              </a:rPr>
              <a:t>of</a:t>
            </a:r>
            <a:r>
              <a:rPr sz="1450" spc="-2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450" spc="-70" dirty="0">
                <a:solidFill>
                  <a:srgbClr val="333333"/>
                </a:solidFill>
                <a:latin typeface="Montserrat"/>
                <a:cs typeface="Montserrat"/>
              </a:rPr>
              <a:t>Science</a:t>
            </a:r>
            <a:r>
              <a:rPr sz="1450" spc="-2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450" spc="-70" dirty="0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sz="1450" spc="-2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450" spc="-75" dirty="0">
                <a:solidFill>
                  <a:srgbClr val="333333"/>
                </a:solidFill>
                <a:latin typeface="Montserrat"/>
                <a:cs typeface="Montserrat"/>
              </a:rPr>
              <a:t>Technology</a:t>
            </a:r>
            <a:r>
              <a:rPr sz="1450" spc="-2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450" spc="-50" dirty="0">
                <a:solidFill>
                  <a:srgbClr val="333333"/>
                </a:solidFill>
                <a:latin typeface="Montserrat"/>
                <a:cs typeface="Montserrat"/>
              </a:rPr>
              <a:t>of</a:t>
            </a:r>
            <a:r>
              <a:rPr sz="1450" spc="-20" dirty="0">
                <a:solidFill>
                  <a:srgbClr val="333333"/>
                </a:solidFill>
                <a:latin typeface="Montserrat"/>
                <a:cs typeface="Montserrat"/>
              </a:rPr>
              <a:t> Hanoi </a:t>
            </a:r>
            <a:r>
              <a:rPr sz="1450" spc="-65" dirty="0">
                <a:solidFill>
                  <a:srgbClr val="333333"/>
                </a:solidFill>
                <a:latin typeface="Montserrat"/>
                <a:cs typeface="Montserrat"/>
              </a:rPr>
              <a:t>Hanoi,</a:t>
            </a:r>
            <a:r>
              <a:rPr sz="1450"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450" spc="-65" dirty="0">
                <a:solidFill>
                  <a:srgbClr val="333333"/>
                </a:solidFill>
                <a:latin typeface="Montserrat"/>
                <a:cs typeface="Montserrat"/>
              </a:rPr>
              <a:t>June</a:t>
            </a:r>
            <a:r>
              <a:rPr sz="1450"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450" spc="-20" dirty="0">
                <a:solidFill>
                  <a:srgbClr val="333333"/>
                </a:solidFill>
                <a:latin typeface="Montserrat"/>
                <a:cs typeface="Montserrat"/>
              </a:rPr>
              <a:t>2025</a:t>
            </a:r>
            <a:endParaRPr sz="1450">
              <a:latin typeface="Montserrat"/>
              <a:cs typeface="Montserra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5448C-AB07-6905-A806-07A009EE5D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8164" y="872836"/>
            <a:ext cx="6859270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sz="3600" spc="-110" dirty="0">
                <a:solidFill>
                  <a:schemeClr val="accent6"/>
                </a:solidFill>
                <a:latin typeface="Montserrat"/>
                <a:cs typeface="Montserrat"/>
              </a:rPr>
              <a:t>Table</a:t>
            </a:r>
            <a:r>
              <a:rPr sz="3600" spc="-25" dirty="0">
                <a:solidFill>
                  <a:schemeClr val="accent6"/>
                </a:solidFill>
                <a:latin typeface="Montserrat"/>
                <a:cs typeface="Montserrat"/>
              </a:rPr>
              <a:t> </a:t>
            </a:r>
            <a:r>
              <a:rPr sz="3600" spc="-75" dirty="0">
                <a:solidFill>
                  <a:schemeClr val="accent6"/>
                </a:solidFill>
                <a:latin typeface="Montserrat"/>
                <a:cs typeface="Montserrat"/>
              </a:rPr>
              <a:t>of</a:t>
            </a:r>
            <a:r>
              <a:rPr sz="3600" spc="-25" dirty="0">
                <a:solidFill>
                  <a:schemeClr val="accent6"/>
                </a:solidFill>
                <a:latin typeface="Montserrat"/>
                <a:cs typeface="Montserrat"/>
              </a:rPr>
              <a:t> </a:t>
            </a:r>
            <a:r>
              <a:rPr sz="3600" spc="-10" dirty="0">
                <a:solidFill>
                  <a:schemeClr val="accent6"/>
                </a:solidFill>
                <a:latin typeface="Montserrat"/>
                <a:cs typeface="Montserrat"/>
              </a:rPr>
              <a:t>Contents</a:t>
            </a:r>
            <a:endParaRPr sz="3600" dirty="0">
              <a:solidFill>
                <a:schemeClr val="accent6"/>
              </a:solidFill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5537" y="2186939"/>
            <a:ext cx="344360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5910" algn="l"/>
              </a:tabLst>
            </a:pPr>
            <a:r>
              <a:rPr sz="1600" b="1" spc="-25" dirty="0">
                <a:solidFill>
                  <a:srgbClr val="FF6A00"/>
                </a:solidFill>
                <a:latin typeface="Montserrat SemiBold"/>
                <a:cs typeface="Montserrat SemiBold"/>
              </a:rPr>
              <a:t>1.</a:t>
            </a:r>
            <a:r>
              <a:rPr sz="1600" b="1" dirty="0">
                <a:solidFill>
                  <a:srgbClr val="FF6A00"/>
                </a:solidFill>
                <a:latin typeface="Montserrat SemiBold"/>
                <a:cs typeface="Montserrat SemiBold"/>
              </a:rPr>
              <a:t>	</a:t>
            </a:r>
            <a:r>
              <a:rPr sz="1650" spc="-110" dirty="0">
                <a:solidFill>
                  <a:srgbClr val="333333"/>
                </a:solidFill>
                <a:latin typeface="Montserrat"/>
                <a:cs typeface="Montserrat"/>
              </a:rPr>
              <a:t>Problem</a:t>
            </a:r>
            <a:r>
              <a:rPr sz="1650" spc="-2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650" spc="-100" dirty="0">
                <a:solidFill>
                  <a:srgbClr val="333333"/>
                </a:solidFill>
                <a:latin typeface="Montserrat"/>
                <a:cs typeface="Montserrat"/>
              </a:rPr>
              <a:t>Statement</a:t>
            </a:r>
            <a:r>
              <a:rPr sz="1650"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650" spc="-105" dirty="0">
                <a:solidFill>
                  <a:srgbClr val="333333"/>
                </a:solidFill>
                <a:latin typeface="Montserrat"/>
                <a:cs typeface="Montserrat"/>
              </a:rPr>
              <a:t>&amp;</a:t>
            </a:r>
            <a:r>
              <a:rPr sz="1650"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650" spc="-90" dirty="0">
                <a:solidFill>
                  <a:srgbClr val="333333"/>
                </a:solidFill>
                <a:latin typeface="Montserrat"/>
                <a:cs typeface="Montserrat"/>
              </a:rPr>
              <a:t>Motivation</a:t>
            </a:r>
            <a:endParaRPr sz="1650" dirty="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5205" y="2606039"/>
            <a:ext cx="3405504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lvl="1">
              <a:spcBef>
                <a:spcPts val="105"/>
              </a:spcBef>
              <a:tabLst>
                <a:tab pos="335915" algn="l"/>
              </a:tabLst>
            </a:pPr>
            <a:r>
              <a:rPr sz="1600" b="1" spc="-25" dirty="0">
                <a:solidFill>
                  <a:srgbClr val="FF6A00"/>
                </a:solidFill>
                <a:latin typeface="Montserrat SemiBold"/>
                <a:cs typeface="Montserrat SemiBold"/>
              </a:rPr>
              <a:t>2.</a:t>
            </a:r>
            <a:r>
              <a:rPr sz="1600" b="1" dirty="0">
                <a:solidFill>
                  <a:srgbClr val="FF6A00"/>
                </a:solidFill>
                <a:latin typeface="Montserrat SemiBold"/>
                <a:cs typeface="Montserrat SemiBold"/>
              </a:rPr>
              <a:t>	</a:t>
            </a:r>
            <a:r>
              <a:rPr sz="1650" spc="-110" dirty="0">
                <a:solidFill>
                  <a:srgbClr val="333333"/>
                </a:solidFill>
                <a:latin typeface="Montserrat"/>
                <a:cs typeface="Montserrat"/>
              </a:rPr>
              <a:t>System</a:t>
            </a:r>
            <a:r>
              <a:rPr sz="1650" spc="-2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650" spc="-95" dirty="0">
                <a:solidFill>
                  <a:srgbClr val="333333"/>
                </a:solidFill>
                <a:latin typeface="Montserrat"/>
                <a:cs typeface="Montserrat"/>
              </a:rPr>
              <a:t>Overview</a:t>
            </a:r>
            <a:r>
              <a:rPr sz="1650" spc="-2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650" spc="-105" dirty="0">
                <a:solidFill>
                  <a:srgbClr val="333333"/>
                </a:solidFill>
                <a:latin typeface="Montserrat"/>
                <a:cs typeface="Montserrat"/>
              </a:rPr>
              <a:t>&amp;</a:t>
            </a:r>
            <a:r>
              <a:rPr sz="1650" spc="-2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650" spc="-90" dirty="0">
                <a:solidFill>
                  <a:srgbClr val="333333"/>
                </a:solidFill>
                <a:latin typeface="Montserrat"/>
                <a:cs typeface="Montserrat"/>
              </a:rPr>
              <a:t>Architecture</a:t>
            </a:r>
            <a:endParaRPr sz="1650" dirty="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7138" y="3025139"/>
            <a:ext cx="3942061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4010" algn="l"/>
              </a:tabLst>
            </a:pPr>
            <a:r>
              <a:rPr sz="1600" b="1" spc="-25" dirty="0">
                <a:solidFill>
                  <a:srgbClr val="FF6A00"/>
                </a:solidFill>
                <a:latin typeface="Montserrat SemiBold"/>
                <a:cs typeface="Montserrat SemiBold"/>
              </a:rPr>
              <a:t>3.</a:t>
            </a:r>
            <a:r>
              <a:rPr sz="1600" b="1" dirty="0">
                <a:solidFill>
                  <a:srgbClr val="FF6A00"/>
                </a:solidFill>
                <a:latin typeface="Montserrat SemiBold"/>
                <a:cs typeface="Montserrat SemiBold"/>
              </a:rPr>
              <a:t>	</a:t>
            </a:r>
            <a:r>
              <a:rPr lang="en-US" sz="1600" dirty="0">
                <a:latin typeface="Montserrat" panose="00000500000000000000" pitchFamily="2" charset="0"/>
              </a:rPr>
              <a:t>Model Evaluation and Selection</a:t>
            </a:r>
            <a:endParaRPr sz="1650" dirty="0"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4815" y="3444239"/>
            <a:ext cx="3116580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6235" algn="l"/>
              </a:tabLst>
            </a:pPr>
            <a:r>
              <a:rPr sz="1600" b="1" spc="-25" dirty="0">
                <a:solidFill>
                  <a:srgbClr val="FF6A00"/>
                </a:solidFill>
                <a:latin typeface="Montserrat SemiBold"/>
                <a:cs typeface="Montserrat SemiBold"/>
              </a:rPr>
              <a:t>4.</a:t>
            </a:r>
            <a:r>
              <a:rPr sz="1600" b="1" dirty="0">
                <a:solidFill>
                  <a:srgbClr val="FF6A00"/>
                </a:solidFill>
                <a:latin typeface="Montserrat SemiBold"/>
                <a:cs typeface="Montserrat SemiBold"/>
              </a:rPr>
              <a:t>	</a:t>
            </a:r>
            <a:r>
              <a:rPr lang="en-US" sz="1650" spc="-90" dirty="0">
                <a:solidFill>
                  <a:srgbClr val="333333"/>
                </a:solidFill>
                <a:latin typeface="Montserrat"/>
                <a:cs typeface="Montserrat SemiBold"/>
              </a:rPr>
              <a:t>Implementation</a:t>
            </a:r>
            <a:endParaRPr sz="1650" dirty="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9808" y="2058623"/>
            <a:ext cx="2931160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44805" algn="l"/>
              </a:tabLst>
            </a:pPr>
            <a:r>
              <a:rPr lang="en-US" sz="1600" b="1" spc="-25" dirty="0">
                <a:solidFill>
                  <a:srgbClr val="FF6A00"/>
                </a:solidFill>
                <a:latin typeface="Montserrat SemiBold"/>
                <a:cs typeface="Montserrat SemiBold"/>
              </a:rPr>
              <a:t>5</a:t>
            </a:r>
            <a:r>
              <a:rPr sz="1600" b="1" spc="-25" dirty="0">
                <a:solidFill>
                  <a:srgbClr val="FF6A00"/>
                </a:solidFill>
                <a:latin typeface="Montserrat SemiBold"/>
                <a:cs typeface="Montserrat SemiBold"/>
              </a:rPr>
              <a:t>.</a:t>
            </a:r>
            <a:r>
              <a:rPr sz="1600" b="1" dirty="0">
                <a:solidFill>
                  <a:srgbClr val="FF6A00"/>
                </a:solidFill>
                <a:latin typeface="Montserrat SemiBold"/>
                <a:cs typeface="Montserrat SemiBold"/>
              </a:rPr>
              <a:t>	</a:t>
            </a:r>
            <a:r>
              <a:rPr sz="1650" spc="-90" dirty="0">
                <a:solidFill>
                  <a:srgbClr val="333333"/>
                </a:solidFill>
                <a:latin typeface="Montserrat"/>
                <a:cs typeface="Montserrat"/>
              </a:rPr>
              <a:t>Evaluation</a:t>
            </a:r>
            <a:r>
              <a:rPr sz="1650" spc="-2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650" spc="-105" dirty="0">
                <a:solidFill>
                  <a:srgbClr val="333333"/>
                </a:solidFill>
                <a:latin typeface="Montserrat"/>
                <a:cs typeface="Montserrat"/>
              </a:rPr>
              <a:t>&amp;</a:t>
            </a:r>
            <a:r>
              <a:rPr sz="1650" spc="-2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650" spc="-80" dirty="0">
                <a:solidFill>
                  <a:srgbClr val="333333"/>
                </a:solidFill>
                <a:latin typeface="Montserrat"/>
                <a:cs typeface="Montserrat"/>
              </a:rPr>
              <a:t>Results</a:t>
            </a:r>
            <a:endParaRPr sz="1650" dirty="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14888" y="2482009"/>
            <a:ext cx="3116580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40360" algn="l"/>
              </a:tabLst>
            </a:pPr>
            <a:r>
              <a:rPr lang="en-US" sz="1600" b="1" spc="-25" dirty="0">
                <a:solidFill>
                  <a:srgbClr val="FF6A00"/>
                </a:solidFill>
                <a:latin typeface="Montserrat SemiBold"/>
                <a:cs typeface="Montserrat SemiBold"/>
              </a:rPr>
              <a:t>6</a:t>
            </a:r>
            <a:r>
              <a:rPr sz="1600" b="1" spc="-25" dirty="0">
                <a:solidFill>
                  <a:srgbClr val="FF6A00"/>
                </a:solidFill>
                <a:latin typeface="Montserrat SemiBold"/>
                <a:cs typeface="Montserrat SemiBold"/>
              </a:rPr>
              <a:t>.</a:t>
            </a:r>
            <a:r>
              <a:rPr sz="1600" b="1" dirty="0">
                <a:solidFill>
                  <a:srgbClr val="FF6A00"/>
                </a:solidFill>
                <a:latin typeface="Montserrat SemiBold"/>
                <a:cs typeface="Montserrat SemiBold"/>
              </a:rPr>
              <a:t>	</a:t>
            </a:r>
            <a:r>
              <a:rPr lang="en-US" sz="1650" spc="-95" dirty="0">
                <a:solidFill>
                  <a:srgbClr val="333333"/>
                </a:solidFill>
                <a:latin typeface="Montserrat"/>
                <a:cs typeface="Montserrat"/>
              </a:rPr>
              <a:t> Conclusion  &amp; </a:t>
            </a:r>
            <a:r>
              <a:rPr sz="1650" spc="-105" dirty="0">
                <a:solidFill>
                  <a:srgbClr val="333333"/>
                </a:solidFill>
                <a:latin typeface="Montserrat"/>
                <a:cs typeface="Montserrat"/>
              </a:rPr>
              <a:t>Future</a:t>
            </a:r>
            <a:r>
              <a:rPr sz="1650"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650" spc="-120" dirty="0">
                <a:solidFill>
                  <a:srgbClr val="333333"/>
                </a:solidFill>
                <a:latin typeface="Montserrat"/>
                <a:cs typeface="Montserrat"/>
              </a:rPr>
              <a:t>Work</a:t>
            </a:r>
            <a:endParaRPr sz="1650" dirty="0">
              <a:latin typeface="Montserrat"/>
              <a:cs typeface="Montserrat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5EFD05-5D48-10DB-B6C1-A2C227AA24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913606"/>
            <a:ext cx="8717915" cy="34169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230"/>
              </a:lnSpc>
            </a:pPr>
            <a:r>
              <a:rPr sz="3600" spc="-120" dirty="0">
                <a:solidFill>
                  <a:schemeClr val="accent6"/>
                </a:solidFill>
                <a:latin typeface="Montserrat"/>
                <a:cs typeface="Montserrat"/>
              </a:rPr>
              <a:t>Problem</a:t>
            </a:r>
            <a:r>
              <a:rPr sz="3600" spc="-20" dirty="0">
                <a:solidFill>
                  <a:schemeClr val="accent6"/>
                </a:solidFill>
                <a:latin typeface="Montserrat"/>
                <a:cs typeface="Montserrat"/>
              </a:rPr>
              <a:t> </a:t>
            </a:r>
            <a:r>
              <a:rPr sz="3600" spc="-100" dirty="0">
                <a:solidFill>
                  <a:schemeClr val="accent6"/>
                </a:solidFill>
                <a:latin typeface="Montserrat"/>
                <a:cs typeface="Montserrat"/>
              </a:rPr>
              <a:t>Statement</a:t>
            </a:r>
            <a:r>
              <a:rPr sz="3600" spc="-15" dirty="0">
                <a:solidFill>
                  <a:schemeClr val="accent6"/>
                </a:solidFill>
                <a:latin typeface="Montserrat"/>
                <a:cs typeface="Montserrat"/>
              </a:rPr>
              <a:t> </a:t>
            </a:r>
            <a:r>
              <a:rPr sz="3600" spc="-110" dirty="0">
                <a:solidFill>
                  <a:schemeClr val="accent6"/>
                </a:solidFill>
                <a:latin typeface="Montserrat"/>
                <a:cs typeface="Montserrat"/>
              </a:rPr>
              <a:t>&amp;</a:t>
            </a:r>
            <a:r>
              <a:rPr sz="3600" spc="-20" dirty="0">
                <a:solidFill>
                  <a:schemeClr val="accent6"/>
                </a:solidFill>
                <a:latin typeface="Montserrat"/>
                <a:cs typeface="Montserrat"/>
              </a:rPr>
              <a:t> </a:t>
            </a:r>
            <a:r>
              <a:rPr sz="3600" spc="-75" dirty="0">
                <a:solidFill>
                  <a:schemeClr val="accent6"/>
                </a:solidFill>
                <a:latin typeface="Montserrat"/>
                <a:cs typeface="Montserrat"/>
              </a:rPr>
              <a:t>Motivation</a:t>
            </a:r>
            <a:endParaRPr sz="3600" dirty="0">
              <a:solidFill>
                <a:schemeClr val="accent6"/>
              </a:solidFill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4100" y="1991169"/>
            <a:ext cx="8303895" cy="195245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5"/>
              </a:spcBef>
              <a:buClr>
                <a:srgbClr val="FF6A00"/>
              </a:buClr>
              <a:buSzPct val="84848"/>
              <a:buFont typeface="Arial"/>
              <a:buChar char="•"/>
              <a:tabLst>
                <a:tab pos="220979" algn="l"/>
              </a:tabLst>
            </a:pPr>
            <a:r>
              <a:rPr spc="-95" dirty="0">
                <a:solidFill>
                  <a:srgbClr val="333333"/>
                </a:solidFill>
                <a:latin typeface="Montserrat"/>
                <a:cs typeface="Montserrat"/>
              </a:rPr>
              <a:t>Beginner</a:t>
            </a:r>
            <a:r>
              <a:rPr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90" dirty="0">
                <a:solidFill>
                  <a:srgbClr val="333333"/>
                </a:solidFill>
                <a:latin typeface="Montserrat"/>
                <a:cs typeface="Montserrat"/>
              </a:rPr>
              <a:t>guitarists</a:t>
            </a:r>
            <a:r>
              <a:rPr spc="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95" dirty="0">
                <a:solidFill>
                  <a:srgbClr val="333333"/>
                </a:solidFill>
                <a:latin typeface="Montserrat"/>
                <a:cs typeface="Montserrat"/>
              </a:rPr>
              <a:t>lack</a:t>
            </a:r>
            <a:r>
              <a:rPr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85" dirty="0">
                <a:solidFill>
                  <a:srgbClr val="333333"/>
                </a:solidFill>
                <a:latin typeface="Montserrat"/>
                <a:cs typeface="Montserrat"/>
              </a:rPr>
              <a:t>real-</a:t>
            </a:r>
            <a:r>
              <a:rPr spc="-95" dirty="0">
                <a:solidFill>
                  <a:srgbClr val="333333"/>
                </a:solidFill>
                <a:latin typeface="Montserrat"/>
                <a:cs typeface="Montserrat"/>
              </a:rPr>
              <a:t>time</a:t>
            </a:r>
            <a:r>
              <a:rPr spc="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95" dirty="0">
                <a:solidFill>
                  <a:srgbClr val="333333"/>
                </a:solidFill>
                <a:latin typeface="Montserrat"/>
                <a:cs typeface="Montserrat"/>
              </a:rPr>
              <a:t>feedback,</a:t>
            </a:r>
            <a:r>
              <a:rPr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lang="en-US" spc="-80" dirty="0">
                <a:solidFill>
                  <a:srgbClr val="333333"/>
                </a:solidFill>
                <a:latin typeface="Montserrat"/>
                <a:cs typeface="Montserrat"/>
              </a:rPr>
              <a:t>motivation and a lesson plan</a:t>
            </a:r>
            <a:r>
              <a:rPr spc="-10" dirty="0">
                <a:solidFill>
                  <a:srgbClr val="333333"/>
                </a:solidFill>
                <a:latin typeface="Montserrat"/>
                <a:cs typeface="Montserrat"/>
              </a:rPr>
              <a:t>.</a:t>
            </a:r>
            <a:endParaRPr dirty="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buClr>
                <a:srgbClr val="FF6A00"/>
              </a:buClr>
              <a:buFont typeface="Arial"/>
              <a:buChar char="•"/>
            </a:pPr>
            <a:endParaRPr dirty="0">
              <a:latin typeface="Montserrat"/>
              <a:cs typeface="Montserrat"/>
            </a:endParaRPr>
          </a:p>
          <a:p>
            <a:pPr marL="220979" indent="-208279">
              <a:lnSpc>
                <a:spcPct val="100000"/>
              </a:lnSpc>
              <a:buClr>
                <a:srgbClr val="FF6A00"/>
              </a:buClr>
              <a:buSzPct val="84848"/>
              <a:buFont typeface="Arial"/>
              <a:buChar char="•"/>
              <a:tabLst>
                <a:tab pos="220979" algn="l"/>
              </a:tabLst>
            </a:pPr>
            <a:r>
              <a:rPr spc="-80" dirty="0">
                <a:solidFill>
                  <a:srgbClr val="333333"/>
                </a:solidFill>
                <a:latin typeface="Montserrat"/>
                <a:cs typeface="Montserrat"/>
              </a:rPr>
              <a:t>Existing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0" dirty="0">
                <a:solidFill>
                  <a:srgbClr val="333333"/>
                </a:solidFill>
                <a:latin typeface="Montserrat"/>
                <a:cs typeface="Montserrat"/>
              </a:rPr>
              <a:t>apps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85" dirty="0">
                <a:solidFill>
                  <a:srgbClr val="333333"/>
                </a:solidFill>
                <a:latin typeface="Montserrat"/>
                <a:cs typeface="Montserrat"/>
              </a:rPr>
              <a:t>suffer</a:t>
            </a:r>
            <a:r>
              <a:rPr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5" dirty="0">
                <a:solidFill>
                  <a:srgbClr val="333333"/>
                </a:solidFill>
                <a:latin typeface="Montserrat"/>
                <a:cs typeface="Montserrat"/>
              </a:rPr>
              <a:t>from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95" dirty="0">
                <a:solidFill>
                  <a:srgbClr val="333333"/>
                </a:solidFill>
                <a:latin typeface="Montserrat"/>
                <a:cs typeface="Montserrat"/>
              </a:rPr>
              <a:t>latency,</a:t>
            </a:r>
            <a:r>
              <a:rPr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5" dirty="0">
                <a:solidFill>
                  <a:srgbClr val="333333"/>
                </a:solidFill>
                <a:latin typeface="Montserrat"/>
                <a:cs typeface="Montserrat"/>
              </a:rPr>
              <a:t>inaccuracy,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95" dirty="0">
                <a:solidFill>
                  <a:srgbClr val="333333"/>
                </a:solidFill>
                <a:latin typeface="Montserrat"/>
                <a:cs typeface="Montserrat"/>
              </a:rPr>
              <a:t>lack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80" dirty="0">
                <a:solidFill>
                  <a:srgbClr val="333333"/>
                </a:solidFill>
                <a:latin typeface="Montserrat"/>
                <a:cs typeface="Montserrat"/>
              </a:rPr>
              <a:t>of</a:t>
            </a:r>
            <a:r>
              <a:rPr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95" dirty="0">
                <a:solidFill>
                  <a:srgbClr val="333333"/>
                </a:solidFill>
                <a:latin typeface="Montserrat"/>
                <a:cs typeface="Montserrat"/>
              </a:rPr>
              <a:t>interactive/guided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" dirty="0">
                <a:solidFill>
                  <a:srgbClr val="333333"/>
                </a:solidFill>
                <a:latin typeface="Montserrat"/>
                <a:cs typeface="Montserrat"/>
              </a:rPr>
              <a:t>lessons</a:t>
            </a:r>
            <a:r>
              <a:rPr lang="en-US" spc="-10" dirty="0">
                <a:solidFill>
                  <a:srgbClr val="333333"/>
                </a:solidFill>
                <a:latin typeface="Montserrat"/>
                <a:cs typeface="Montserrat"/>
              </a:rPr>
              <a:t> or old content</a:t>
            </a:r>
            <a:r>
              <a:rPr spc="-10" dirty="0">
                <a:solidFill>
                  <a:srgbClr val="333333"/>
                </a:solidFill>
                <a:latin typeface="Montserrat"/>
                <a:cs typeface="Montserrat"/>
              </a:rPr>
              <a:t>.</a:t>
            </a:r>
            <a:endParaRPr dirty="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buClr>
                <a:srgbClr val="FF6A00"/>
              </a:buClr>
              <a:buFont typeface="Arial"/>
              <a:buChar char="•"/>
            </a:pPr>
            <a:endParaRPr dirty="0">
              <a:latin typeface="Montserrat"/>
              <a:cs typeface="Montserrat"/>
            </a:endParaRPr>
          </a:p>
          <a:p>
            <a:pPr marL="220979" indent="-208279">
              <a:lnSpc>
                <a:spcPct val="100000"/>
              </a:lnSpc>
              <a:buClr>
                <a:srgbClr val="FF6A00"/>
              </a:buClr>
              <a:buSzPct val="84848"/>
              <a:buFont typeface="Arial"/>
              <a:buChar char="•"/>
              <a:tabLst>
                <a:tab pos="220979" algn="l"/>
              </a:tabLst>
            </a:pPr>
            <a:r>
              <a:rPr spc="-110" dirty="0">
                <a:solidFill>
                  <a:srgbClr val="333333"/>
                </a:solidFill>
                <a:latin typeface="Montserrat"/>
                <a:cs typeface="Montserrat"/>
              </a:rPr>
              <a:t>GuitarMate</a:t>
            </a:r>
            <a:r>
              <a:rPr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20" dirty="0">
                <a:solidFill>
                  <a:srgbClr val="333333"/>
                </a:solidFill>
                <a:latin typeface="Montserrat"/>
                <a:cs typeface="Montserrat"/>
              </a:rPr>
              <a:t>was</a:t>
            </a:r>
            <a:r>
              <a:rPr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95" dirty="0">
                <a:solidFill>
                  <a:srgbClr val="333333"/>
                </a:solidFill>
                <a:latin typeface="Montserrat"/>
                <a:cs typeface="Montserrat"/>
              </a:rPr>
              <a:t>developed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0" dirty="0">
                <a:solidFill>
                  <a:srgbClr val="333333"/>
                </a:solidFill>
                <a:latin typeface="Montserrat"/>
                <a:cs typeface="Montserrat"/>
              </a:rPr>
              <a:t>to</a:t>
            </a:r>
            <a:r>
              <a:rPr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95" dirty="0">
                <a:solidFill>
                  <a:srgbClr val="333333"/>
                </a:solidFill>
                <a:latin typeface="Montserrat"/>
                <a:cs typeface="Montserrat"/>
              </a:rPr>
              <a:t>provide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95" dirty="0">
                <a:solidFill>
                  <a:srgbClr val="333333"/>
                </a:solidFill>
                <a:latin typeface="Montserrat"/>
                <a:cs typeface="Montserrat"/>
              </a:rPr>
              <a:t>accurate,</a:t>
            </a:r>
            <a:r>
              <a:rPr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85" dirty="0">
                <a:solidFill>
                  <a:srgbClr val="333333"/>
                </a:solidFill>
                <a:latin typeface="Montserrat"/>
                <a:cs typeface="Montserrat"/>
              </a:rPr>
              <a:t>fast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5" dirty="0">
                <a:solidFill>
                  <a:srgbClr val="333333"/>
                </a:solidFill>
                <a:latin typeface="Montserrat"/>
                <a:cs typeface="Montserrat"/>
              </a:rPr>
              <a:t>feedback</a:t>
            </a:r>
            <a:r>
              <a:rPr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5" dirty="0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0" dirty="0">
                <a:solidFill>
                  <a:srgbClr val="333333"/>
                </a:solidFill>
                <a:latin typeface="Montserrat"/>
                <a:cs typeface="Montserrat"/>
              </a:rPr>
              <a:t>engaging</a:t>
            </a:r>
            <a:r>
              <a:rPr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60" dirty="0">
                <a:solidFill>
                  <a:srgbClr val="333333"/>
                </a:solidFill>
                <a:latin typeface="Montserrat"/>
                <a:cs typeface="Montserrat"/>
              </a:rPr>
              <a:t>learning.</a:t>
            </a:r>
            <a:endParaRPr dirty="0">
              <a:latin typeface="Montserrat"/>
              <a:cs typeface="Montserra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1AC05CA-B9A4-8DC3-F8D5-FB33F4F36970}"/>
              </a:ext>
            </a:extLst>
          </p:cNvPr>
          <p:cNvGrpSpPr/>
          <p:nvPr/>
        </p:nvGrpSpPr>
        <p:grpSpPr>
          <a:xfrm>
            <a:off x="909136" y="4342606"/>
            <a:ext cx="9295765" cy="1028700"/>
            <a:chOff x="914399" y="3943627"/>
            <a:chExt cx="9295765" cy="1028700"/>
          </a:xfrm>
        </p:grpSpPr>
        <p:sp>
          <p:nvSpPr>
            <p:cNvPr id="4" name="object 4"/>
            <p:cNvSpPr/>
            <p:nvPr/>
          </p:nvSpPr>
          <p:spPr>
            <a:xfrm>
              <a:off x="914399" y="3943627"/>
              <a:ext cx="70485" cy="1028700"/>
            </a:xfrm>
            <a:custGeom>
              <a:avLst/>
              <a:gdLst/>
              <a:ahLst/>
              <a:cxnLst/>
              <a:rect l="l" t="t" r="r" b="b"/>
              <a:pathLst>
                <a:path w="70484" h="1028700">
                  <a:moveTo>
                    <a:pt x="70450" y="1028144"/>
                  </a:moveTo>
                  <a:lnTo>
                    <a:pt x="33857" y="1015591"/>
                  </a:lnTo>
                  <a:lnTo>
                    <a:pt x="5800" y="981382"/>
                  </a:lnTo>
                  <a:lnTo>
                    <a:pt x="0" y="9522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2" y="9389"/>
                  </a:lnTo>
                  <a:lnTo>
                    <a:pt x="41000" y="46760"/>
                  </a:lnTo>
                  <a:lnTo>
                    <a:pt x="38100" y="75922"/>
                  </a:lnTo>
                  <a:lnTo>
                    <a:pt x="38100" y="952222"/>
                  </a:lnTo>
                  <a:lnTo>
                    <a:pt x="44515" y="994564"/>
                  </a:lnTo>
                  <a:lnTo>
                    <a:pt x="66287" y="1026487"/>
                  </a:lnTo>
                  <a:lnTo>
                    <a:pt x="70450" y="1028144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8243" y="4171950"/>
              <a:ext cx="157153" cy="228600"/>
            </a:xfrm>
            <a:prstGeom prst="rect">
              <a:avLst/>
            </a:prstGeom>
          </p:spPr>
        </p:pic>
        <p:sp>
          <p:nvSpPr>
            <p:cNvPr id="6" name="object 6"/>
            <p:cNvSpPr txBox="1"/>
            <p:nvPr/>
          </p:nvSpPr>
          <p:spPr>
            <a:xfrm>
              <a:off x="1492249" y="4079273"/>
              <a:ext cx="8717915" cy="860492"/>
            </a:xfrm>
            <a:prstGeom prst="rect">
              <a:avLst/>
            </a:prstGeom>
          </p:spPr>
          <p:txBody>
            <a:bodyPr vert="horz" wrap="square" lIns="0" tIns="927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730"/>
                </a:spcBef>
              </a:pPr>
              <a:r>
                <a:rPr sz="1500" b="0" spc="-85" dirty="0">
                  <a:solidFill>
                    <a:srgbClr val="333333"/>
                  </a:solidFill>
                  <a:latin typeface="Montserrat Medium"/>
                  <a:cs typeface="Montserrat Medium"/>
                </a:rPr>
                <a:t>Solution</a:t>
              </a:r>
              <a:r>
                <a:rPr sz="1500" b="0" spc="-35" dirty="0">
                  <a:solidFill>
                    <a:srgbClr val="333333"/>
                  </a:solidFill>
                  <a:latin typeface="Montserrat Medium"/>
                  <a:cs typeface="Montserrat Medium"/>
                </a:rPr>
                <a:t> </a:t>
              </a:r>
              <a:r>
                <a:rPr sz="1500" b="0" spc="-10" dirty="0">
                  <a:solidFill>
                    <a:srgbClr val="333333"/>
                  </a:solidFill>
                  <a:latin typeface="Montserrat Medium"/>
                  <a:cs typeface="Montserrat Medium"/>
                </a:rPr>
                <a:t>Approach:</a:t>
              </a:r>
              <a:endParaRPr sz="1500" dirty="0">
                <a:latin typeface="Montserrat Medium"/>
                <a:cs typeface="Montserrat Medium"/>
              </a:endParaRPr>
            </a:p>
            <a:p>
              <a:pPr marL="12700">
                <a:lnSpc>
                  <a:spcPct val="100000"/>
                </a:lnSpc>
                <a:spcBef>
                  <a:spcPts val="650"/>
                </a:spcBef>
              </a:pPr>
              <a:r>
                <a:rPr sz="1450" spc="-65" dirty="0">
                  <a:solidFill>
                    <a:srgbClr val="333333"/>
                  </a:solidFill>
                  <a:latin typeface="Montserrat"/>
                  <a:cs typeface="Montserrat"/>
                </a:rPr>
                <a:t>Interactive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65" dirty="0">
                  <a:solidFill>
                    <a:srgbClr val="333333"/>
                  </a:solidFill>
                  <a:latin typeface="Montserrat"/>
                  <a:cs typeface="Montserrat"/>
                </a:rPr>
                <a:t>lessons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65" dirty="0">
                  <a:solidFill>
                    <a:srgbClr val="333333"/>
                  </a:solidFill>
                  <a:latin typeface="Montserrat"/>
                  <a:cs typeface="Montserrat"/>
                </a:rPr>
                <a:t>with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80" dirty="0">
                  <a:solidFill>
                    <a:srgbClr val="333333"/>
                  </a:solidFill>
                  <a:latin typeface="Montserrat"/>
                  <a:cs typeface="Montserrat"/>
                </a:rPr>
                <a:t>moving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70" dirty="0">
                  <a:solidFill>
                    <a:srgbClr val="333333"/>
                  </a:solidFill>
                  <a:latin typeface="Montserrat"/>
                  <a:cs typeface="Montserrat"/>
                </a:rPr>
                <a:t>notes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dirty="0">
                  <a:solidFill>
                    <a:srgbClr val="333333"/>
                  </a:solidFill>
                  <a:latin typeface="Montserrat"/>
                  <a:cs typeface="Montserrat"/>
                </a:rPr>
                <a:t>+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70" dirty="0">
                  <a:solidFill>
                    <a:srgbClr val="333333"/>
                  </a:solidFill>
                  <a:latin typeface="Montserrat"/>
                  <a:cs typeface="Montserrat"/>
                </a:rPr>
                <a:t>hybrid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70" dirty="0">
                  <a:solidFill>
                    <a:srgbClr val="333333"/>
                  </a:solidFill>
                  <a:latin typeface="Montserrat"/>
                  <a:cs typeface="Montserrat"/>
                </a:rPr>
                <a:t>pitch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70" dirty="0">
                  <a:solidFill>
                    <a:srgbClr val="333333"/>
                  </a:solidFill>
                  <a:latin typeface="Montserrat"/>
                  <a:cs typeface="Montserrat"/>
                </a:rPr>
                <a:t>detection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75" dirty="0">
                  <a:solidFill>
                    <a:srgbClr val="333333"/>
                  </a:solidFill>
                  <a:latin typeface="Montserrat"/>
                  <a:cs typeface="Montserrat"/>
                </a:rPr>
                <a:t>model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60" dirty="0">
                  <a:solidFill>
                    <a:srgbClr val="333333"/>
                  </a:solidFill>
                  <a:latin typeface="Montserrat"/>
                  <a:cs typeface="Montserrat"/>
                </a:rPr>
                <a:t>for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75" dirty="0">
                  <a:solidFill>
                    <a:srgbClr val="333333"/>
                  </a:solidFill>
                  <a:latin typeface="Montserrat"/>
                  <a:cs typeface="Montserrat"/>
                </a:rPr>
                <a:t>improved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75" dirty="0">
                  <a:solidFill>
                    <a:srgbClr val="333333"/>
                  </a:solidFill>
                  <a:latin typeface="Montserrat"/>
                  <a:cs typeface="Montserrat"/>
                </a:rPr>
                <a:t>low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75" dirty="0">
                  <a:solidFill>
                    <a:srgbClr val="333333"/>
                  </a:solidFill>
                  <a:latin typeface="Montserrat"/>
                  <a:cs typeface="Montserrat"/>
                </a:rPr>
                <a:t>note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accuracy</a:t>
              </a:r>
              <a:r>
                <a:rPr lang="en-US"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and admin portal can extract note automatically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.</a:t>
              </a:r>
              <a:endParaRPr sz="1450" dirty="0">
                <a:latin typeface="Montserrat"/>
                <a:cs typeface="Montserrat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BB04D-2B46-6F59-24AB-8C4AB45A29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38200" y="761206"/>
            <a:ext cx="6735445" cy="16675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6450"/>
              </a:lnSpc>
              <a:spcBef>
                <a:spcPts val="229"/>
              </a:spcBef>
              <a:tabLst>
                <a:tab pos="848994" algn="l"/>
                <a:tab pos="3107690" algn="l"/>
              </a:tabLst>
            </a:pPr>
            <a:r>
              <a:rPr sz="4400" b="1" spc="-10" dirty="0">
                <a:solidFill>
                  <a:srgbClr val="FFA500"/>
                </a:solidFill>
                <a:latin typeface="DejaVu Sans"/>
                <a:cs typeface="DejaVu Sans"/>
              </a:rPr>
              <a:t>System</a:t>
            </a:r>
            <a:r>
              <a:rPr lang="en-US" sz="4400" spc="-10" dirty="0">
                <a:solidFill>
                  <a:srgbClr val="FFA500"/>
                </a:solidFill>
                <a:latin typeface="DejaVu Sans"/>
                <a:cs typeface="DejaVu Sans"/>
              </a:rPr>
              <a:t> </a:t>
            </a:r>
            <a:r>
              <a:rPr sz="4400" b="1" spc="-10" dirty="0">
                <a:solidFill>
                  <a:srgbClr val="FFA500"/>
                </a:solidFill>
                <a:latin typeface="DejaVu Sans"/>
                <a:cs typeface="DejaVu Sans"/>
              </a:rPr>
              <a:t>Overview </a:t>
            </a:r>
            <a:r>
              <a:rPr sz="4400" b="1" spc="-50" dirty="0">
                <a:solidFill>
                  <a:srgbClr val="FFA500"/>
                </a:solidFill>
                <a:latin typeface="DejaVu Sans"/>
                <a:cs typeface="DejaVu Sans"/>
              </a:rPr>
              <a:t>&amp;</a:t>
            </a:r>
            <a:r>
              <a:rPr lang="en-US" sz="4400" b="1" spc="-50" dirty="0">
                <a:solidFill>
                  <a:srgbClr val="FFA500"/>
                </a:solidFill>
                <a:latin typeface="DejaVu Sans"/>
                <a:cs typeface="DejaVu Sans"/>
              </a:rPr>
              <a:t> </a:t>
            </a:r>
            <a:r>
              <a:rPr sz="4400" b="1" spc="-10" dirty="0">
                <a:solidFill>
                  <a:srgbClr val="FFA500"/>
                </a:solidFill>
                <a:latin typeface="DejaVu Sans"/>
                <a:cs typeface="DejaVu Sans"/>
              </a:rPr>
              <a:t>Architecture</a:t>
            </a:r>
            <a:endParaRPr sz="4400" dirty="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2702662"/>
            <a:ext cx="6196965" cy="622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dirty="0">
                <a:solidFill>
                  <a:srgbClr val="666666"/>
                </a:solidFill>
                <a:latin typeface="DejaVu Sans"/>
                <a:cs typeface="DejaVu Sans"/>
              </a:rPr>
              <a:t>An</a:t>
            </a:r>
            <a:r>
              <a:rPr spc="-25" dirty="0">
                <a:solidFill>
                  <a:srgbClr val="666666"/>
                </a:solidFill>
                <a:latin typeface="DejaVu Sans"/>
                <a:cs typeface="DejaVu Sans"/>
              </a:rPr>
              <a:t> </a:t>
            </a:r>
            <a:r>
              <a:rPr dirty="0">
                <a:solidFill>
                  <a:srgbClr val="666666"/>
                </a:solidFill>
                <a:latin typeface="DejaVu Sans"/>
                <a:cs typeface="DejaVu Sans"/>
              </a:rPr>
              <a:t>introduction</a:t>
            </a:r>
            <a:r>
              <a:rPr spc="-20" dirty="0">
                <a:solidFill>
                  <a:srgbClr val="666666"/>
                </a:solidFill>
                <a:latin typeface="DejaVu Sans"/>
                <a:cs typeface="DejaVu Sans"/>
              </a:rPr>
              <a:t> </a:t>
            </a:r>
            <a:r>
              <a:rPr dirty="0">
                <a:solidFill>
                  <a:srgbClr val="666666"/>
                </a:solidFill>
                <a:latin typeface="DejaVu Sans"/>
                <a:cs typeface="DejaVu Sans"/>
              </a:rPr>
              <a:t>to</a:t>
            </a:r>
            <a:r>
              <a:rPr spc="-20" dirty="0">
                <a:solidFill>
                  <a:srgbClr val="666666"/>
                </a:solidFill>
                <a:latin typeface="DejaVu Sans"/>
                <a:cs typeface="DejaVu Sans"/>
              </a:rPr>
              <a:t> </a:t>
            </a:r>
            <a:r>
              <a:rPr dirty="0">
                <a:solidFill>
                  <a:srgbClr val="666666"/>
                </a:solidFill>
                <a:latin typeface="DejaVu Sans"/>
                <a:cs typeface="DejaVu Sans"/>
              </a:rPr>
              <a:t>the</a:t>
            </a:r>
            <a:r>
              <a:rPr spc="-25" dirty="0">
                <a:solidFill>
                  <a:srgbClr val="666666"/>
                </a:solidFill>
                <a:latin typeface="DejaVu Sans"/>
                <a:cs typeface="DejaVu Sans"/>
              </a:rPr>
              <a:t> </a:t>
            </a:r>
            <a:r>
              <a:rPr dirty="0">
                <a:solidFill>
                  <a:srgbClr val="666666"/>
                </a:solidFill>
                <a:latin typeface="DejaVu Sans"/>
                <a:cs typeface="DejaVu Sans"/>
              </a:rPr>
              <a:t>system's</a:t>
            </a:r>
            <a:r>
              <a:rPr spc="-20" dirty="0">
                <a:solidFill>
                  <a:srgbClr val="666666"/>
                </a:solidFill>
                <a:latin typeface="DejaVu Sans"/>
                <a:cs typeface="DejaVu Sans"/>
              </a:rPr>
              <a:t> </a:t>
            </a:r>
            <a:r>
              <a:rPr spc="-10" dirty="0">
                <a:solidFill>
                  <a:srgbClr val="666666"/>
                </a:solidFill>
                <a:latin typeface="DejaVu Sans"/>
                <a:cs typeface="DejaVu Sans"/>
              </a:rPr>
              <a:t>components</a:t>
            </a:r>
            <a:r>
              <a:rPr lang="en-US" spc="-10" dirty="0">
                <a:solidFill>
                  <a:srgbClr val="666666"/>
                </a:solidFill>
                <a:latin typeface="DejaVu Sans"/>
                <a:cs typeface="DejaVu Sans"/>
              </a:rPr>
              <a:t> and</a:t>
            </a:r>
            <a:r>
              <a:rPr spc="-10" dirty="0">
                <a:solidFill>
                  <a:srgbClr val="666666"/>
                </a:solidFill>
                <a:latin typeface="DejaVu Sans"/>
                <a:cs typeface="DejaVu Sans"/>
              </a:rPr>
              <a:t> </a:t>
            </a:r>
            <a:r>
              <a:rPr dirty="0">
                <a:solidFill>
                  <a:srgbClr val="666666"/>
                </a:solidFill>
                <a:latin typeface="DejaVu Sans"/>
                <a:cs typeface="DejaVu Sans"/>
              </a:rPr>
              <a:t>architecture</a:t>
            </a:r>
            <a:endParaRPr dirty="0">
              <a:latin typeface="DejaVu Sans"/>
              <a:cs typeface="DejaVu San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1EF8D85-288D-E339-6376-8AF221E4BB1F}"/>
              </a:ext>
            </a:extLst>
          </p:cNvPr>
          <p:cNvGrpSpPr/>
          <p:nvPr/>
        </p:nvGrpSpPr>
        <p:grpSpPr>
          <a:xfrm>
            <a:off x="6934200" y="2894806"/>
            <a:ext cx="4038601" cy="3296444"/>
            <a:chOff x="9905999" y="2571749"/>
            <a:chExt cx="1714500" cy="1714501"/>
          </a:xfrm>
        </p:grpSpPr>
        <p:grpSp>
          <p:nvGrpSpPr>
            <p:cNvPr id="4" name="object 4"/>
            <p:cNvGrpSpPr/>
            <p:nvPr/>
          </p:nvGrpSpPr>
          <p:grpSpPr>
            <a:xfrm>
              <a:off x="9905999" y="2571749"/>
              <a:ext cx="762000" cy="762000"/>
              <a:chOff x="9905999" y="2571749"/>
              <a:chExt cx="762000" cy="762000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9905999" y="2571749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2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2"/>
                    </a:lnTo>
                    <a:lnTo>
                      <a:pt x="761999" y="88995"/>
                    </a:lnTo>
                    <a:lnTo>
                      <a:pt x="761999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10077449" y="2762249"/>
                <a:ext cx="4286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81000">
                    <a:moveTo>
                      <a:pt x="381000" y="309562"/>
                    </a:moveTo>
                    <a:lnTo>
                      <a:pt x="47625" y="309562"/>
                    </a:lnTo>
                    <a:lnTo>
                      <a:pt x="29101" y="305815"/>
                    </a:lnTo>
                    <a:lnTo>
                      <a:pt x="13961" y="295600"/>
                    </a:lnTo>
                    <a:lnTo>
                      <a:pt x="3747" y="280460"/>
                    </a:lnTo>
                    <a:lnTo>
                      <a:pt x="0" y="261937"/>
                    </a:lnTo>
                    <a:lnTo>
                      <a:pt x="0" y="47625"/>
                    </a:lnTo>
                    <a:lnTo>
                      <a:pt x="3747" y="29101"/>
                    </a:lnTo>
                    <a:lnTo>
                      <a:pt x="13961" y="13961"/>
                    </a:lnTo>
                    <a:lnTo>
                      <a:pt x="29101" y="3747"/>
                    </a:lnTo>
                    <a:lnTo>
                      <a:pt x="47625" y="0"/>
                    </a:lnTo>
                    <a:lnTo>
                      <a:pt x="381000" y="0"/>
                    </a:lnTo>
                    <a:lnTo>
                      <a:pt x="399523" y="3747"/>
                    </a:lnTo>
                    <a:lnTo>
                      <a:pt x="414663" y="13961"/>
                    </a:lnTo>
                    <a:lnTo>
                      <a:pt x="424877" y="29101"/>
                    </a:lnTo>
                    <a:lnTo>
                      <a:pt x="428625" y="47625"/>
                    </a:lnTo>
                    <a:lnTo>
                      <a:pt x="47625" y="47625"/>
                    </a:lnTo>
                    <a:lnTo>
                      <a:pt x="47625" y="214312"/>
                    </a:lnTo>
                    <a:lnTo>
                      <a:pt x="428625" y="214312"/>
                    </a:lnTo>
                    <a:lnTo>
                      <a:pt x="428625" y="261937"/>
                    </a:lnTo>
                    <a:lnTo>
                      <a:pt x="424877" y="280460"/>
                    </a:lnTo>
                    <a:lnTo>
                      <a:pt x="414663" y="295600"/>
                    </a:lnTo>
                    <a:lnTo>
                      <a:pt x="399523" y="305815"/>
                    </a:lnTo>
                    <a:lnTo>
                      <a:pt x="381000" y="309562"/>
                    </a:lnTo>
                    <a:close/>
                  </a:path>
                  <a:path w="428625" h="381000">
                    <a:moveTo>
                      <a:pt x="428625" y="214312"/>
                    </a:moveTo>
                    <a:lnTo>
                      <a:pt x="381000" y="214312"/>
                    </a:lnTo>
                    <a:lnTo>
                      <a:pt x="381000" y="47625"/>
                    </a:lnTo>
                    <a:lnTo>
                      <a:pt x="428625" y="47625"/>
                    </a:lnTo>
                    <a:lnTo>
                      <a:pt x="428625" y="214312"/>
                    </a:lnTo>
                    <a:close/>
                  </a:path>
                  <a:path w="428625" h="381000">
                    <a:moveTo>
                      <a:pt x="257993" y="333375"/>
                    </a:moveTo>
                    <a:lnTo>
                      <a:pt x="170631" y="333375"/>
                    </a:lnTo>
                    <a:lnTo>
                      <a:pt x="178593" y="309562"/>
                    </a:lnTo>
                    <a:lnTo>
                      <a:pt x="250031" y="309562"/>
                    </a:lnTo>
                    <a:lnTo>
                      <a:pt x="257993" y="333375"/>
                    </a:lnTo>
                    <a:close/>
                  </a:path>
                  <a:path w="428625" h="381000">
                    <a:moveTo>
                      <a:pt x="309562" y="381000"/>
                    </a:moveTo>
                    <a:lnTo>
                      <a:pt x="119062" y="381000"/>
                    </a:lnTo>
                    <a:lnTo>
                      <a:pt x="109785" y="379131"/>
                    </a:lnTo>
                    <a:lnTo>
                      <a:pt x="102217" y="374033"/>
                    </a:lnTo>
                    <a:lnTo>
                      <a:pt x="97118" y="366464"/>
                    </a:lnTo>
                    <a:lnTo>
                      <a:pt x="95250" y="357187"/>
                    </a:lnTo>
                    <a:lnTo>
                      <a:pt x="97118" y="347910"/>
                    </a:lnTo>
                    <a:lnTo>
                      <a:pt x="102217" y="340342"/>
                    </a:lnTo>
                    <a:lnTo>
                      <a:pt x="109785" y="335243"/>
                    </a:lnTo>
                    <a:lnTo>
                      <a:pt x="119062" y="333375"/>
                    </a:lnTo>
                    <a:lnTo>
                      <a:pt x="309562" y="333375"/>
                    </a:lnTo>
                    <a:lnTo>
                      <a:pt x="318839" y="335243"/>
                    </a:lnTo>
                    <a:lnTo>
                      <a:pt x="326408" y="340342"/>
                    </a:lnTo>
                    <a:lnTo>
                      <a:pt x="331506" y="347910"/>
                    </a:lnTo>
                    <a:lnTo>
                      <a:pt x="333375" y="357187"/>
                    </a:lnTo>
                    <a:lnTo>
                      <a:pt x="331506" y="366464"/>
                    </a:lnTo>
                    <a:lnTo>
                      <a:pt x="326408" y="374033"/>
                    </a:lnTo>
                    <a:lnTo>
                      <a:pt x="318839" y="379131"/>
                    </a:lnTo>
                    <a:lnTo>
                      <a:pt x="309562" y="3810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" name="object 7"/>
            <p:cNvGrpSpPr/>
            <p:nvPr/>
          </p:nvGrpSpPr>
          <p:grpSpPr>
            <a:xfrm>
              <a:off x="10858499" y="2571749"/>
              <a:ext cx="762000" cy="762000"/>
              <a:chOff x="10858499" y="2571749"/>
              <a:chExt cx="762000" cy="762000"/>
            </a:xfrm>
          </p:grpSpPr>
          <p:sp>
            <p:nvSpPr>
              <p:cNvPr id="8" name="object 8"/>
              <p:cNvSpPr/>
              <p:nvPr/>
            </p:nvSpPr>
            <p:spPr>
              <a:xfrm>
                <a:off x="10858499" y="2571749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2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2"/>
                    </a:lnTo>
                    <a:lnTo>
                      <a:pt x="762000" y="88995"/>
                    </a:lnTo>
                    <a:lnTo>
                      <a:pt x="762000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11048999" y="2786062"/>
                <a:ext cx="38100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33375">
                    <a:moveTo>
                      <a:pt x="333375" y="142875"/>
                    </a:moveTo>
                    <a:lnTo>
                      <a:pt x="47625" y="142875"/>
                    </a:lnTo>
                    <a:lnTo>
                      <a:pt x="29101" y="139127"/>
                    </a:lnTo>
                    <a:lnTo>
                      <a:pt x="13961" y="128913"/>
                    </a:lnTo>
                    <a:lnTo>
                      <a:pt x="3747" y="113773"/>
                    </a:lnTo>
                    <a:lnTo>
                      <a:pt x="0" y="95250"/>
                    </a:lnTo>
                    <a:lnTo>
                      <a:pt x="0" y="47625"/>
                    </a:lnTo>
                    <a:lnTo>
                      <a:pt x="3747" y="29101"/>
                    </a:lnTo>
                    <a:lnTo>
                      <a:pt x="13961" y="13961"/>
                    </a:lnTo>
                    <a:lnTo>
                      <a:pt x="29101" y="3747"/>
                    </a:lnTo>
                    <a:lnTo>
                      <a:pt x="47625" y="0"/>
                    </a:lnTo>
                    <a:lnTo>
                      <a:pt x="333375" y="0"/>
                    </a:lnTo>
                    <a:lnTo>
                      <a:pt x="351898" y="3747"/>
                    </a:lnTo>
                    <a:lnTo>
                      <a:pt x="367038" y="13961"/>
                    </a:lnTo>
                    <a:lnTo>
                      <a:pt x="377252" y="29101"/>
                    </a:lnTo>
                    <a:lnTo>
                      <a:pt x="381000" y="47625"/>
                    </a:lnTo>
                    <a:lnTo>
                      <a:pt x="381000" y="53578"/>
                    </a:lnTo>
                    <a:lnTo>
                      <a:pt x="253616" y="53578"/>
                    </a:lnTo>
                    <a:lnTo>
                      <a:pt x="251337" y="54031"/>
                    </a:lnTo>
                    <a:lnTo>
                      <a:pt x="238124" y="69069"/>
                    </a:lnTo>
                    <a:lnTo>
                      <a:pt x="238124" y="73805"/>
                    </a:lnTo>
                    <a:lnTo>
                      <a:pt x="253616" y="89296"/>
                    </a:lnTo>
                    <a:lnTo>
                      <a:pt x="381000" y="89296"/>
                    </a:lnTo>
                    <a:lnTo>
                      <a:pt x="381000" y="95250"/>
                    </a:lnTo>
                    <a:lnTo>
                      <a:pt x="377252" y="113773"/>
                    </a:lnTo>
                    <a:lnTo>
                      <a:pt x="367038" y="128913"/>
                    </a:lnTo>
                    <a:lnTo>
                      <a:pt x="351898" y="139127"/>
                    </a:lnTo>
                    <a:lnTo>
                      <a:pt x="333375" y="142875"/>
                    </a:lnTo>
                    <a:close/>
                  </a:path>
                  <a:path w="381000" h="333375">
                    <a:moveTo>
                      <a:pt x="307194" y="89296"/>
                    </a:moveTo>
                    <a:lnTo>
                      <a:pt x="258352" y="89296"/>
                    </a:lnTo>
                    <a:lnTo>
                      <a:pt x="260630" y="88843"/>
                    </a:lnTo>
                    <a:lnTo>
                      <a:pt x="265006" y="87031"/>
                    </a:lnTo>
                    <a:lnTo>
                      <a:pt x="273843" y="73805"/>
                    </a:lnTo>
                    <a:lnTo>
                      <a:pt x="273843" y="69069"/>
                    </a:lnTo>
                    <a:lnTo>
                      <a:pt x="258352" y="53578"/>
                    </a:lnTo>
                    <a:lnTo>
                      <a:pt x="307194" y="53578"/>
                    </a:lnTo>
                    <a:lnTo>
                      <a:pt x="291703" y="69069"/>
                    </a:lnTo>
                    <a:lnTo>
                      <a:pt x="291703" y="73805"/>
                    </a:lnTo>
                    <a:lnTo>
                      <a:pt x="304916" y="88843"/>
                    </a:lnTo>
                    <a:lnTo>
                      <a:pt x="307194" y="89296"/>
                    </a:lnTo>
                    <a:close/>
                  </a:path>
                  <a:path w="381000" h="333375">
                    <a:moveTo>
                      <a:pt x="381000" y="89296"/>
                    </a:moveTo>
                    <a:lnTo>
                      <a:pt x="311930" y="89296"/>
                    </a:lnTo>
                    <a:lnTo>
                      <a:pt x="314208" y="88843"/>
                    </a:lnTo>
                    <a:lnTo>
                      <a:pt x="318584" y="87031"/>
                    </a:lnTo>
                    <a:lnTo>
                      <a:pt x="327421" y="73805"/>
                    </a:lnTo>
                    <a:lnTo>
                      <a:pt x="327421" y="69069"/>
                    </a:lnTo>
                    <a:lnTo>
                      <a:pt x="311930" y="53578"/>
                    </a:lnTo>
                    <a:lnTo>
                      <a:pt x="381000" y="53578"/>
                    </a:lnTo>
                    <a:lnTo>
                      <a:pt x="381000" y="89296"/>
                    </a:lnTo>
                    <a:close/>
                  </a:path>
                  <a:path w="381000" h="333375">
                    <a:moveTo>
                      <a:pt x="333375" y="333375"/>
                    </a:moveTo>
                    <a:lnTo>
                      <a:pt x="47625" y="333375"/>
                    </a:lnTo>
                    <a:lnTo>
                      <a:pt x="29101" y="329627"/>
                    </a:lnTo>
                    <a:lnTo>
                      <a:pt x="13961" y="319413"/>
                    </a:lnTo>
                    <a:lnTo>
                      <a:pt x="3747" y="304273"/>
                    </a:lnTo>
                    <a:lnTo>
                      <a:pt x="0" y="285750"/>
                    </a:lnTo>
                    <a:lnTo>
                      <a:pt x="0" y="238125"/>
                    </a:lnTo>
                    <a:lnTo>
                      <a:pt x="3747" y="219601"/>
                    </a:lnTo>
                    <a:lnTo>
                      <a:pt x="13961" y="204461"/>
                    </a:lnTo>
                    <a:lnTo>
                      <a:pt x="29101" y="194247"/>
                    </a:lnTo>
                    <a:lnTo>
                      <a:pt x="47625" y="190500"/>
                    </a:lnTo>
                    <a:lnTo>
                      <a:pt x="333375" y="190500"/>
                    </a:lnTo>
                    <a:lnTo>
                      <a:pt x="351898" y="194247"/>
                    </a:lnTo>
                    <a:lnTo>
                      <a:pt x="367038" y="204461"/>
                    </a:lnTo>
                    <a:lnTo>
                      <a:pt x="377252" y="219601"/>
                    </a:lnTo>
                    <a:lnTo>
                      <a:pt x="381000" y="238125"/>
                    </a:lnTo>
                    <a:lnTo>
                      <a:pt x="381000" y="244078"/>
                    </a:lnTo>
                    <a:lnTo>
                      <a:pt x="253616" y="244078"/>
                    </a:lnTo>
                    <a:lnTo>
                      <a:pt x="251337" y="244531"/>
                    </a:lnTo>
                    <a:lnTo>
                      <a:pt x="238124" y="259569"/>
                    </a:lnTo>
                    <a:lnTo>
                      <a:pt x="238124" y="264305"/>
                    </a:lnTo>
                    <a:lnTo>
                      <a:pt x="253616" y="279796"/>
                    </a:lnTo>
                    <a:lnTo>
                      <a:pt x="381000" y="279796"/>
                    </a:lnTo>
                    <a:lnTo>
                      <a:pt x="381000" y="285750"/>
                    </a:lnTo>
                    <a:lnTo>
                      <a:pt x="377252" y="304273"/>
                    </a:lnTo>
                    <a:lnTo>
                      <a:pt x="367038" y="319413"/>
                    </a:lnTo>
                    <a:lnTo>
                      <a:pt x="351898" y="329627"/>
                    </a:lnTo>
                    <a:lnTo>
                      <a:pt x="333375" y="333375"/>
                    </a:lnTo>
                    <a:close/>
                  </a:path>
                  <a:path w="381000" h="333375">
                    <a:moveTo>
                      <a:pt x="313147" y="279796"/>
                    </a:moveTo>
                    <a:lnTo>
                      <a:pt x="258352" y="279796"/>
                    </a:lnTo>
                    <a:lnTo>
                      <a:pt x="260630" y="279343"/>
                    </a:lnTo>
                    <a:lnTo>
                      <a:pt x="265006" y="277531"/>
                    </a:lnTo>
                    <a:lnTo>
                      <a:pt x="273843" y="264305"/>
                    </a:lnTo>
                    <a:lnTo>
                      <a:pt x="273843" y="259569"/>
                    </a:lnTo>
                    <a:lnTo>
                      <a:pt x="258352" y="244078"/>
                    </a:lnTo>
                    <a:lnTo>
                      <a:pt x="313147" y="244078"/>
                    </a:lnTo>
                    <a:lnTo>
                      <a:pt x="297656" y="259569"/>
                    </a:lnTo>
                    <a:lnTo>
                      <a:pt x="297656" y="264305"/>
                    </a:lnTo>
                    <a:lnTo>
                      <a:pt x="310869" y="279343"/>
                    </a:lnTo>
                    <a:lnTo>
                      <a:pt x="313147" y="279796"/>
                    </a:lnTo>
                    <a:close/>
                  </a:path>
                  <a:path w="381000" h="333375">
                    <a:moveTo>
                      <a:pt x="381000" y="279796"/>
                    </a:moveTo>
                    <a:lnTo>
                      <a:pt x="317883" y="279796"/>
                    </a:lnTo>
                    <a:lnTo>
                      <a:pt x="320162" y="279343"/>
                    </a:lnTo>
                    <a:lnTo>
                      <a:pt x="324538" y="277531"/>
                    </a:lnTo>
                    <a:lnTo>
                      <a:pt x="333374" y="264305"/>
                    </a:lnTo>
                    <a:lnTo>
                      <a:pt x="333374" y="259569"/>
                    </a:lnTo>
                    <a:lnTo>
                      <a:pt x="317883" y="244078"/>
                    </a:lnTo>
                    <a:lnTo>
                      <a:pt x="381000" y="244078"/>
                    </a:lnTo>
                    <a:lnTo>
                      <a:pt x="381000" y="27979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0" name="object 10"/>
            <p:cNvGrpSpPr/>
            <p:nvPr/>
          </p:nvGrpSpPr>
          <p:grpSpPr>
            <a:xfrm>
              <a:off x="9905999" y="3524250"/>
              <a:ext cx="762000" cy="762000"/>
              <a:chOff x="9905999" y="3524250"/>
              <a:chExt cx="762000" cy="762000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9905999" y="3524250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1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1"/>
                    </a:lnTo>
                    <a:lnTo>
                      <a:pt x="761999" y="88995"/>
                    </a:lnTo>
                    <a:lnTo>
                      <a:pt x="761999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10125074" y="3714750"/>
                <a:ext cx="33337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381000">
                    <a:moveTo>
                      <a:pt x="166687" y="154781"/>
                    </a:moveTo>
                    <a:lnTo>
                      <a:pt x="101808" y="150104"/>
                    </a:lnTo>
                    <a:lnTo>
                      <a:pt x="48824" y="137349"/>
                    </a:lnTo>
                    <a:lnTo>
                      <a:pt x="13100" y="118427"/>
                    </a:lnTo>
                    <a:lnTo>
                      <a:pt x="0" y="95250"/>
                    </a:lnTo>
                    <a:lnTo>
                      <a:pt x="0" y="59531"/>
                    </a:lnTo>
                    <a:lnTo>
                      <a:pt x="13100" y="36353"/>
                    </a:lnTo>
                    <a:lnTo>
                      <a:pt x="48824" y="17431"/>
                    </a:lnTo>
                    <a:lnTo>
                      <a:pt x="101808" y="4676"/>
                    </a:lnTo>
                    <a:lnTo>
                      <a:pt x="166687" y="0"/>
                    </a:lnTo>
                    <a:lnTo>
                      <a:pt x="231566" y="4676"/>
                    </a:lnTo>
                    <a:lnTo>
                      <a:pt x="284550" y="17431"/>
                    </a:lnTo>
                    <a:lnTo>
                      <a:pt x="320274" y="36353"/>
                    </a:lnTo>
                    <a:lnTo>
                      <a:pt x="333375" y="59531"/>
                    </a:lnTo>
                    <a:lnTo>
                      <a:pt x="333375" y="95250"/>
                    </a:lnTo>
                    <a:lnTo>
                      <a:pt x="320274" y="118427"/>
                    </a:lnTo>
                    <a:lnTo>
                      <a:pt x="284550" y="137349"/>
                    </a:lnTo>
                    <a:lnTo>
                      <a:pt x="231566" y="150104"/>
                    </a:lnTo>
                    <a:lnTo>
                      <a:pt x="166687" y="154781"/>
                    </a:lnTo>
                    <a:close/>
                  </a:path>
                  <a:path w="333375" h="381000">
                    <a:moveTo>
                      <a:pt x="166687" y="273843"/>
                    </a:moveTo>
                    <a:lnTo>
                      <a:pt x="101808" y="269167"/>
                    </a:lnTo>
                    <a:lnTo>
                      <a:pt x="48824" y="256412"/>
                    </a:lnTo>
                    <a:lnTo>
                      <a:pt x="13100" y="237490"/>
                    </a:lnTo>
                    <a:lnTo>
                      <a:pt x="0" y="214312"/>
                    </a:lnTo>
                    <a:lnTo>
                      <a:pt x="0" y="138484"/>
                    </a:lnTo>
                    <a:lnTo>
                      <a:pt x="8828" y="144708"/>
                    </a:lnTo>
                    <a:lnTo>
                      <a:pt x="18693" y="150325"/>
                    </a:lnTo>
                    <a:lnTo>
                      <a:pt x="67798" y="167731"/>
                    </a:lnTo>
                    <a:lnTo>
                      <a:pt x="131464" y="177326"/>
                    </a:lnTo>
                    <a:lnTo>
                      <a:pt x="166687" y="178593"/>
                    </a:lnTo>
                    <a:lnTo>
                      <a:pt x="333375" y="178593"/>
                    </a:lnTo>
                    <a:lnTo>
                      <a:pt x="333375" y="214312"/>
                    </a:lnTo>
                    <a:lnTo>
                      <a:pt x="320274" y="237490"/>
                    </a:lnTo>
                    <a:lnTo>
                      <a:pt x="284550" y="256412"/>
                    </a:lnTo>
                    <a:lnTo>
                      <a:pt x="231566" y="269167"/>
                    </a:lnTo>
                    <a:lnTo>
                      <a:pt x="166687" y="273843"/>
                    </a:lnTo>
                    <a:close/>
                  </a:path>
                  <a:path w="333375" h="381000">
                    <a:moveTo>
                      <a:pt x="333375" y="178593"/>
                    </a:moveTo>
                    <a:lnTo>
                      <a:pt x="166687" y="178593"/>
                    </a:lnTo>
                    <a:lnTo>
                      <a:pt x="201910" y="177326"/>
                    </a:lnTo>
                    <a:lnTo>
                      <a:pt x="235111" y="173645"/>
                    </a:lnTo>
                    <a:lnTo>
                      <a:pt x="292596" y="159767"/>
                    </a:lnTo>
                    <a:lnTo>
                      <a:pt x="333375" y="138484"/>
                    </a:lnTo>
                    <a:lnTo>
                      <a:pt x="333375" y="178593"/>
                    </a:lnTo>
                    <a:close/>
                  </a:path>
                  <a:path w="333375" h="381000">
                    <a:moveTo>
                      <a:pt x="166687" y="381000"/>
                    </a:moveTo>
                    <a:lnTo>
                      <a:pt x="101808" y="376323"/>
                    </a:lnTo>
                    <a:lnTo>
                      <a:pt x="48824" y="363568"/>
                    </a:lnTo>
                    <a:lnTo>
                      <a:pt x="13100" y="344646"/>
                    </a:lnTo>
                    <a:lnTo>
                      <a:pt x="0" y="321468"/>
                    </a:lnTo>
                    <a:lnTo>
                      <a:pt x="0" y="257547"/>
                    </a:lnTo>
                    <a:lnTo>
                      <a:pt x="8828" y="263771"/>
                    </a:lnTo>
                    <a:lnTo>
                      <a:pt x="18693" y="269388"/>
                    </a:lnTo>
                    <a:lnTo>
                      <a:pt x="67798" y="286794"/>
                    </a:lnTo>
                    <a:lnTo>
                      <a:pt x="131464" y="296388"/>
                    </a:lnTo>
                    <a:lnTo>
                      <a:pt x="166687" y="297656"/>
                    </a:lnTo>
                    <a:lnTo>
                      <a:pt x="333375" y="297656"/>
                    </a:lnTo>
                    <a:lnTo>
                      <a:pt x="333375" y="321468"/>
                    </a:lnTo>
                    <a:lnTo>
                      <a:pt x="320274" y="344646"/>
                    </a:lnTo>
                    <a:lnTo>
                      <a:pt x="284550" y="363568"/>
                    </a:lnTo>
                    <a:lnTo>
                      <a:pt x="231566" y="376323"/>
                    </a:lnTo>
                    <a:lnTo>
                      <a:pt x="166687" y="381000"/>
                    </a:lnTo>
                    <a:close/>
                  </a:path>
                  <a:path w="333375" h="381000">
                    <a:moveTo>
                      <a:pt x="333375" y="297656"/>
                    </a:moveTo>
                    <a:lnTo>
                      <a:pt x="166687" y="297656"/>
                    </a:lnTo>
                    <a:lnTo>
                      <a:pt x="201910" y="296388"/>
                    </a:lnTo>
                    <a:lnTo>
                      <a:pt x="235111" y="292707"/>
                    </a:lnTo>
                    <a:lnTo>
                      <a:pt x="292596" y="278829"/>
                    </a:lnTo>
                    <a:lnTo>
                      <a:pt x="333375" y="257547"/>
                    </a:lnTo>
                    <a:lnTo>
                      <a:pt x="333375" y="29765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3" name="object 13"/>
            <p:cNvGrpSpPr/>
            <p:nvPr/>
          </p:nvGrpSpPr>
          <p:grpSpPr>
            <a:xfrm>
              <a:off x="10858499" y="3524250"/>
              <a:ext cx="762000" cy="762000"/>
              <a:chOff x="10858499" y="3524250"/>
              <a:chExt cx="762000" cy="762000"/>
            </a:xfrm>
          </p:grpSpPr>
          <p:sp>
            <p:nvSpPr>
              <p:cNvPr id="14" name="object 14"/>
              <p:cNvSpPr/>
              <p:nvPr/>
            </p:nvSpPr>
            <p:spPr>
              <a:xfrm>
                <a:off x="10858499" y="3524250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1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1"/>
                    </a:lnTo>
                    <a:lnTo>
                      <a:pt x="762000" y="88995"/>
                    </a:lnTo>
                    <a:lnTo>
                      <a:pt x="762000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11001374" y="371475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297656" y="142875"/>
                    </a:moveTo>
                    <a:lnTo>
                      <a:pt x="178593" y="142875"/>
                    </a:lnTo>
                    <a:lnTo>
                      <a:pt x="164693" y="140067"/>
                    </a:lnTo>
                    <a:lnTo>
                      <a:pt x="153339" y="132410"/>
                    </a:lnTo>
                    <a:lnTo>
                      <a:pt x="145682" y="121056"/>
                    </a:lnTo>
                    <a:lnTo>
                      <a:pt x="142875" y="107156"/>
                    </a:lnTo>
                    <a:lnTo>
                      <a:pt x="142875" y="35718"/>
                    </a:lnTo>
                    <a:lnTo>
                      <a:pt x="145682" y="21818"/>
                    </a:lnTo>
                    <a:lnTo>
                      <a:pt x="153339" y="10464"/>
                    </a:lnTo>
                    <a:lnTo>
                      <a:pt x="164693" y="2807"/>
                    </a:lnTo>
                    <a:lnTo>
                      <a:pt x="178593" y="0"/>
                    </a:lnTo>
                    <a:lnTo>
                      <a:pt x="297656" y="0"/>
                    </a:lnTo>
                    <a:lnTo>
                      <a:pt x="311556" y="2807"/>
                    </a:lnTo>
                    <a:lnTo>
                      <a:pt x="322910" y="10464"/>
                    </a:lnTo>
                    <a:lnTo>
                      <a:pt x="330567" y="21818"/>
                    </a:lnTo>
                    <a:lnTo>
                      <a:pt x="333375" y="35718"/>
                    </a:lnTo>
                    <a:lnTo>
                      <a:pt x="333375" y="47625"/>
                    </a:lnTo>
                    <a:lnTo>
                      <a:pt x="190500" y="47625"/>
                    </a:lnTo>
                    <a:lnTo>
                      <a:pt x="190500" y="95250"/>
                    </a:lnTo>
                    <a:lnTo>
                      <a:pt x="333375" y="95250"/>
                    </a:lnTo>
                    <a:lnTo>
                      <a:pt x="333375" y="107156"/>
                    </a:lnTo>
                    <a:lnTo>
                      <a:pt x="330567" y="121056"/>
                    </a:lnTo>
                    <a:lnTo>
                      <a:pt x="322910" y="132410"/>
                    </a:lnTo>
                    <a:lnTo>
                      <a:pt x="311556" y="140067"/>
                    </a:lnTo>
                    <a:lnTo>
                      <a:pt x="297656" y="142875"/>
                    </a:lnTo>
                    <a:close/>
                  </a:path>
                  <a:path w="476250" h="381000">
                    <a:moveTo>
                      <a:pt x="333375" y="95250"/>
                    </a:moveTo>
                    <a:lnTo>
                      <a:pt x="285750" y="95250"/>
                    </a:lnTo>
                    <a:lnTo>
                      <a:pt x="285750" y="47625"/>
                    </a:lnTo>
                    <a:lnTo>
                      <a:pt x="333375" y="47625"/>
                    </a:lnTo>
                    <a:lnTo>
                      <a:pt x="333375" y="95250"/>
                    </a:lnTo>
                    <a:close/>
                  </a:path>
                  <a:path w="476250" h="381000">
                    <a:moveTo>
                      <a:pt x="261937" y="166687"/>
                    </a:moveTo>
                    <a:lnTo>
                      <a:pt x="214312" y="166687"/>
                    </a:lnTo>
                    <a:lnTo>
                      <a:pt x="214312" y="142875"/>
                    </a:lnTo>
                    <a:lnTo>
                      <a:pt x="261937" y="142875"/>
                    </a:lnTo>
                    <a:lnTo>
                      <a:pt x="261937" y="166687"/>
                    </a:lnTo>
                    <a:close/>
                  </a:path>
                  <a:path w="476250" h="381000">
                    <a:moveTo>
                      <a:pt x="452437" y="214312"/>
                    </a:moveTo>
                    <a:lnTo>
                      <a:pt x="23812" y="214312"/>
                    </a:lnTo>
                    <a:lnTo>
                      <a:pt x="14535" y="212444"/>
                    </a:lnTo>
                    <a:lnTo>
                      <a:pt x="6967" y="207345"/>
                    </a:lnTo>
                    <a:lnTo>
                      <a:pt x="1868" y="199777"/>
                    </a:lnTo>
                    <a:lnTo>
                      <a:pt x="0" y="190500"/>
                    </a:lnTo>
                    <a:lnTo>
                      <a:pt x="1868" y="181222"/>
                    </a:lnTo>
                    <a:lnTo>
                      <a:pt x="6967" y="173654"/>
                    </a:lnTo>
                    <a:lnTo>
                      <a:pt x="14535" y="168555"/>
                    </a:lnTo>
                    <a:lnTo>
                      <a:pt x="23812" y="166687"/>
                    </a:lnTo>
                    <a:lnTo>
                      <a:pt x="452437" y="166687"/>
                    </a:lnTo>
                    <a:lnTo>
                      <a:pt x="461714" y="168555"/>
                    </a:lnTo>
                    <a:lnTo>
                      <a:pt x="469283" y="173654"/>
                    </a:lnTo>
                    <a:lnTo>
                      <a:pt x="474381" y="181222"/>
                    </a:lnTo>
                    <a:lnTo>
                      <a:pt x="476250" y="190500"/>
                    </a:lnTo>
                    <a:lnTo>
                      <a:pt x="474381" y="199777"/>
                    </a:lnTo>
                    <a:lnTo>
                      <a:pt x="469283" y="207345"/>
                    </a:lnTo>
                    <a:lnTo>
                      <a:pt x="461714" y="212444"/>
                    </a:lnTo>
                    <a:lnTo>
                      <a:pt x="452437" y="214312"/>
                    </a:lnTo>
                    <a:close/>
                  </a:path>
                  <a:path w="476250" h="381000">
                    <a:moveTo>
                      <a:pt x="142875" y="238125"/>
                    </a:moveTo>
                    <a:lnTo>
                      <a:pt x="95250" y="238125"/>
                    </a:lnTo>
                    <a:lnTo>
                      <a:pt x="95250" y="214312"/>
                    </a:lnTo>
                    <a:lnTo>
                      <a:pt x="142875" y="214312"/>
                    </a:lnTo>
                    <a:lnTo>
                      <a:pt x="142875" y="238125"/>
                    </a:lnTo>
                    <a:close/>
                  </a:path>
                  <a:path w="476250" h="381000">
                    <a:moveTo>
                      <a:pt x="381000" y="238125"/>
                    </a:moveTo>
                    <a:lnTo>
                      <a:pt x="333375" y="238125"/>
                    </a:lnTo>
                    <a:lnTo>
                      <a:pt x="333375" y="214312"/>
                    </a:lnTo>
                    <a:lnTo>
                      <a:pt x="381000" y="214312"/>
                    </a:lnTo>
                    <a:lnTo>
                      <a:pt x="381000" y="238125"/>
                    </a:lnTo>
                    <a:close/>
                  </a:path>
                  <a:path w="476250" h="381000">
                    <a:moveTo>
                      <a:pt x="178593" y="381000"/>
                    </a:moveTo>
                    <a:lnTo>
                      <a:pt x="59531" y="381000"/>
                    </a:lnTo>
                    <a:lnTo>
                      <a:pt x="45630" y="378192"/>
                    </a:lnTo>
                    <a:lnTo>
                      <a:pt x="34276" y="370535"/>
                    </a:lnTo>
                    <a:lnTo>
                      <a:pt x="26620" y="359181"/>
                    </a:lnTo>
                    <a:lnTo>
                      <a:pt x="23812" y="345281"/>
                    </a:lnTo>
                    <a:lnTo>
                      <a:pt x="23812" y="273843"/>
                    </a:lnTo>
                    <a:lnTo>
                      <a:pt x="26620" y="259943"/>
                    </a:lnTo>
                    <a:lnTo>
                      <a:pt x="34276" y="248589"/>
                    </a:lnTo>
                    <a:lnTo>
                      <a:pt x="45630" y="240932"/>
                    </a:lnTo>
                    <a:lnTo>
                      <a:pt x="59531" y="238125"/>
                    </a:lnTo>
                    <a:lnTo>
                      <a:pt x="178593" y="238125"/>
                    </a:lnTo>
                    <a:lnTo>
                      <a:pt x="192494" y="240932"/>
                    </a:lnTo>
                    <a:lnTo>
                      <a:pt x="203848" y="248589"/>
                    </a:lnTo>
                    <a:lnTo>
                      <a:pt x="211504" y="259943"/>
                    </a:lnTo>
                    <a:lnTo>
                      <a:pt x="214312" y="273843"/>
                    </a:lnTo>
                    <a:lnTo>
                      <a:pt x="214312" y="285750"/>
                    </a:lnTo>
                    <a:lnTo>
                      <a:pt x="71437" y="285750"/>
                    </a:lnTo>
                    <a:lnTo>
                      <a:pt x="71437" y="333375"/>
                    </a:lnTo>
                    <a:lnTo>
                      <a:pt x="214312" y="333375"/>
                    </a:lnTo>
                    <a:lnTo>
                      <a:pt x="214312" y="345281"/>
                    </a:lnTo>
                    <a:lnTo>
                      <a:pt x="211504" y="359181"/>
                    </a:lnTo>
                    <a:lnTo>
                      <a:pt x="203848" y="370535"/>
                    </a:lnTo>
                    <a:lnTo>
                      <a:pt x="192494" y="378192"/>
                    </a:lnTo>
                    <a:lnTo>
                      <a:pt x="178593" y="381000"/>
                    </a:lnTo>
                    <a:close/>
                  </a:path>
                  <a:path w="476250" h="381000">
                    <a:moveTo>
                      <a:pt x="416718" y="381000"/>
                    </a:moveTo>
                    <a:lnTo>
                      <a:pt x="297656" y="381000"/>
                    </a:lnTo>
                    <a:lnTo>
                      <a:pt x="283755" y="378192"/>
                    </a:lnTo>
                    <a:lnTo>
                      <a:pt x="272401" y="370535"/>
                    </a:lnTo>
                    <a:lnTo>
                      <a:pt x="264745" y="359181"/>
                    </a:lnTo>
                    <a:lnTo>
                      <a:pt x="261937" y="345281"/>
                    </a:lnTo>
                    <a:lnTo>
                      <a:pt x="261937" y="273843"/>
                    </a:lnTo>
                    <a:lnTo>
                      <a:pt x="264745" y="259943"/>
                    </a:lnTo>
                    <a:lnTo>
                      <a:pt x="272401" y="248589"/>
                    </a:lnTo>
                    <a:lnTo>
                      <a:pt x="283755" y="240932"/>
                    </a:lnTo>
                    <a:lnTo>
                      <a:pt x="297656" y="238125"/>
                    </a:lnTo>
                    <a:lnTo>
                      <a:pt x="416718" y="238125"/>
                    </a:lnTo>
                    <a:lnTo>
                      <a:pt x="430619" y="240932"/>
                    </a:lnTo>
                    <a:lnTo>
                      <a:pt x="441973" y="248589"/>
                    </a:lnTo>
                    <a:lnTo>
                      <a:pt x="449629" y="259943"/>
                    </a:lnTo>
                    <a:lnTo>
                      <a:pt x="452437" y="273843"/>
                    </a:lnTo>
                    <a:lnTo>
                      <a:pt x="452437" y="285750"/>
                    </a:lnTo>
                    <a:lnTo>
                      <a:pt x="309562" y="285750"/>
                    </a:lnTo>
                    <a:lnTo>
                      <a:pt x="309562" y="333375"/>
                    </a:lnTo>
                    <a:lnTo>
                      <a:pt x="452437" y="333375"/>
                    </a:lnTo>
                    <a:lnTo>
                      <a:pt x="452437" y="345281"/>
                    </a:lnTo>
                    <a:lnTo>
                      <a:pt x="449629" y="359181"/>
                    </a:lnTo>
                    <a:lnTo>
                      <a:pt x="441973" y="370535"/>
                    </a:lnTo>
                    <a:lnTo>
                      <a:pt x="430619" y="378192"/>
                    </a:lnTo>
                    <a:lnTo>
                      <a:pt x="416718" y="381000"/>
                    </a:lnTo>
                    <a:close/>
                  </a:path>
                  <a:path w="476250" h="381000">
                    <a:moveTo>
                      <a:pt x="214312" y="333375"/>
                    </a:moveTo>
                    <a:lnTo>
                      <a:pt x="166687" y="333375"/>
                    </a:lnTo>
                    <a:lnTo>
                      <a:pt x="166687" y="285750"/>
                    </a:lnTo>
                    <a:lnTo>
                      <a:pt x="214312" y="285750"/>
                    </a:lnTo>
                    <a:lnTo>
                      <a:pt x="214312" y="333375"/>
                    </a:lnTo>
                    <a:close/>
                  </a:path>
                  <a:path w="476250" h="381000">
                    <a:moveTo>
                      <a:pt x="452437" y="333375"/>
                    </a:moveTo>
                    <a:lnTo>
                      <a:pt x="404812" y="333375"/>
                    </a:lnTo>
                    <a:lnTo>
                      <a:pt x="404812" y="285750"/>
                    </a:lnTo>
                    <a:lnTo>
                      <a:pt x="452437" y="285750"/>
                    </a:lnTo>
                    <a:lnTo>
                      <a:pt x="452437" y="33337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44589D3-B6A1-940F-6826-E6F261224144}"/>
              </a:ext>
            </a:extLst>
          </p:cNvPr>
          <p:cNvCxnSpPr/>
          <p:nvPr/>
        </p:nvCxnSpPr>
        <p:spPr>
          <a:xfrm>
            <a:off x="685800" y="761206"/>
            <a:ext cx="0" cy="1524000"/>
          </a:xfrm>
          <a:prstGeom prst="line">
            <a:avLst/>
          </a:prstGeom>
          <a:ln w="5080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6015" y="915557"/>
            <a:ext cx="6859270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sz="3600" spc="-114" dirty="0">
                <a:solidFill>
                  <a:schemeClr val="accent6"/>
                </a:solidFill>
                <a:latin typeface="Montserrat"/>
                <a:cs typeface="Montserrat"/>
              </a:rPr>
              <a:t>System</a:t>
            </a:r>
            <a:r>
              <a:rPr sz="3600" spc="15" dirty="0">
                <a:solidFill>
                  <a:schemeClr val="accent6"/>
                </a:solidFill>
                <a:latin typeface="Montserrat"/>
                <a:cs typeface="Montserrat"/>
              </a:rPr>
              <a:t> </a:t>
            </a:r>
            <a:r>
              <a:rPr sz="3600" spc="-10" dirty="0">
                <a:solidFill>
                  <a:schemeClr val="accent6"/>
                </a:solidFill>
                <a:latin typeface="Montserrat"/>
                <a:cs typeface="Montserrat"/>
              </a:rPr>
              <a:t>Overview</a:t>
            </a:r>
            <a:endParaRPr sz="3600" dirty="0">
              <a:solidFill>
                <a:schemeClr val="accent6"/>
              </a:solidFill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9264" y="3915592"/>
            <a:ext cx="344424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b="0" spc="-95" dirty="0">
                <a:solidFill>
                  <a:srgbClr val="333333"/>
                </a:solidFill>
                <a:latin typeface="Montserrat Medium"/>
                <a:cs typeface="Montserrat Medium"/>
              </a:rPr>
              <a:t>Mobile</a:t>
            </a:r>
            <a:r>
              <a:rPr sz="2400" b="0" spc="-2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2400" b="0" spc="-114" dirty="0">
                <a:solidFill>
                  <a:srgbClr val="333333"/>
                </a:solidFill>
                <a:latin typeface="Montserrat Medium"/>
                <a:cs typeface="Montserrat Medium"/>
              </a:rPr>
              <a:t>app</a:t>
            </a:r>
            <a:r>
              <a:rPr sz="2400" b="0" spc="-15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2400" b="0" spc="-75" dirty="0">
                <a:solidFill>
                  <a:srgbClr val="333333"/>
                </a:solidFill>
                <a:latin typeface="Montserrat Medium"/>
                <a:cs typeface="Montserrat Medium"/>
              </a:rPr>
              <a:t>for</a:t>
            </a:r>
            <a:r>
              <a:rPr sz="2400" b="0" spc="-15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2400" b="0" spc="-80" dirty="0">
                <a:solidFill>
                  <a:srgbClr val="333333"/>
                </a:solidFill>
                <a:latin typeface="Montserrat Medium"/>
                <a:cs typeface="Montserrat Medium"/>
              </a:rPr>
              <a:t>learners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15200" y="3915591"/>
            <a:ext cx="4115434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b="0" spc="-120" dirty="0">
                <a:solidFill>
                  <a:srgbClr val="333333"/>
                </a:solidFill>
                <a:latin typeface="Montserrat Medium"/>
                <a:cs typeface="Montserrat Medium"/>
              </a:rPr>
              <a:t>Admin</a:t>
            </a:r>
            <a:r>
              <a:rPr sz="2400" b="0" spc="-5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2400" b="0" spc="-135" dirty="0">
                <a:solidFill>
                  <a:srgbClr val="333333"/>
                </a:solidFill>
                <a:latin typeface="Montserrat Medium"/>
                <a:cs typeface="Montserrat Medium"/>
              </a:rPr>
              <a:t>web</a:t>
            </a:r>
            <a:r>
              <a:rPr sz="2400" b="0" spc="-5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2400" b="0" spc="-75" dirty="0">
                <a:solidFill>
                  <a:srgbClr val="333333"/>
                </a:solidFill>
                <a:latin typeface="Montserrat Medium"/>
                <a:cs typeface="Montserrat Medium"/>
              </a:rPr>
              <a:t>portal</a:t>
            </a:r>
            <a:endParaRPr sz="2400" dirty="0">
              <a:latin typeface="Montserrat"/>
              <a:cs typeface="Montserrat"/>
            </a:endParaRPr>
          </a:p>
        </p:txBody>
      </p:sp>
      <p:pic>
        <p:nvPicPr>
          <p:cNvPr id="23" name="Graphic 22" descr="Smart Phone outline">
            <a:extLst>
              <a:ext uri="{FF2B5EF4-FFF2-40B4-BE49-F238E27FC236}">
                <a16:creationId xmlns:a16="http://schemas.microsoft.com/office/drawing/2014/main" id="{15709623-195B-3672-1011-A93C1AADA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6400" y="1836939"/>
            <a:ext cx="2106336" cy="2106336"/>
          </a:xfrm>
          <a:prstGeom prst="rect">
            <a:avLst/>
          </a:prstGeom>
        </p:spPr>
      </p:pic>
      <p:pic>
        <p:nvPicPr>
          <p:cNvPr id="25" name="Graphic 24" descr="Laptop with solid fill">
            <a:extLst>
              <a:ext uri="{FF2B5EF4-FFF2-40B4-BE49-F238E27FC236}">
                <a16:creationId xmlns:a16="http://schemas.microsoft.com/office/drawing/2014/main" id="{D5F67C44-7ED9-B608-5FE3-658E16F059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9940" y="1152144"/>
            <a:ext cx="3276600" cy="32766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BB1FC9-A641-4F1A-CCF2-995A103A950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7D3A25-D2A5-6A0D-DAF6-767BD1A04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270" y="4467955"/>
            <a:ext cx="5867400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b="1" dirty="0"/>
              <a:t>Authentication:</a:t>
            </a:r>
            <a:r>
              <a:rPr lang="en-US" dirty="0"/>
              <a:t> Firebase, secure login.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Pitch Detection: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Real-time, accurate, simple.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b="1" dirty="0"/>
              <a:t>Lessons:</a:t>
            </a:r>
            <a:r>
              <a:rPr lang="en-US" dirty="0"/>
              <a:t> Step-based, visual, Instant results.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9535C6-7E47-9ECC-DA54-85074F6AC9E9}"/>
              </a:ext>
            </a:extLst>
          </p:cNvPr>
          <p:cNvSpPr txBox="1"/>
          <p:nvPr/>
        </p:nvSpPr>
        <p:spPr>
          <a:xfrm>
            <a:off x="5655904" y="4525731"/>
            <a:ext cx="6536096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Authentication:</a:t>
            </a:r>
            <a:r>
              <a:rPr lang="en-US" dirty="0"/>
              <a:t> Secure login, role-based access, Firebase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Content Management:</a:t>
            </a:r>
            <a:r>
              <a:rPr lang="en-US" dirty="0"/>
              <a:t> extract notes (polyphonic, high accuracy model), edit lessons, delete, add.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User Monitoring: </a:t>
            </a:r>
            <a:r>
              <a:rPr lang="en-US" dirty="0"/>
              <a:t>Analysis, traffic, lesson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1261" y="1037382"/>
            <a:ext cx="3917951" cy="33515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sz="3600" spc="-114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3600" spc="15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sz="36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76A770D-3863-FF6C-D7B3-DA96B2B345D3}"/>
              </a:ext>
            </a:extLst>
          </p:cNvPr>
          <p:cNvGrpSpPr/>
          <p:nvPr/>
        </p:nvGrpSpPr>
        <p:grpSpPr>
          <a:xfrm>
            <a:off x="850423" y="2028277"/>
            <a:ext cx="4730115" cy="4343953"/>
            <a:chOff x="914398" y="2400299"/>
            <a:chExt cx="4730115" cy="4343953"/>
          </a:xfrm>
        </p:grpSpPr>
        <p:grpSp>
          <p:nvGrpSpPr>
            <p:cNvPr id="3" name="object 3"/>
            <p:cNvGrpSpPr/>
            <p:nvPr/>
          </p:nvGrpSpPr>
          <p:grpSpPr>
            <a:xfrm>
              <a:off x="914399" y="2400299"/>
              <a:ext cx="4667250" cy="762000"/>
              <a:chOff x="914399" y="2400299"/>
              <a:chExt cx="4667250" cy="762000"/>
            </a:xfrm>
          </p:grpSpPr>
          <p:sp>
            <p:nvSpPr>
              <p:cNvPr id="4" name="object 4"/>
              <p:cNvSpPr/>
              <p:nvPr/>
            </p:nvSpPr>
            <p:spPr>
              <a:xfrm>
                <a:off x="933449" y="2400299"/>
                <a:ext cx="46482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4648200" h="762000">
                    <a:moveTo>
                      <a:pt x="4577002" y="761999"/>
                    </a:moveTo>
                    <a:lnTo>
                      <a:pt x="53397" y="761999"/>
                    </a:lnTo>
                    <a:lnTo>
                      <a:pt x="49680" y="761511"/>
                    </a:lnTo>
                    <a:lnTo>
                      <a:pt x="14085" y="736143"/>
                    </a:lnTo>
                    <a:lnTo>
                      <a:pt x="366" y="695758"/>
                    </a:lnTo>
                    <a:lnTo>
                      <a:pt x="0" y="690803"/>
                    </a:lnTo>
                    <a:lnTo>
                      <a:pt x="0" y="685799"/>
                    </a:lnTo>
                    <a:lnTo>
                      <a:pt x="0" y="71196"/>
                    </a:lnTo>
                    <a:lnTo>
                      <a:pt x="11716" y="29705"/>
                    </a:lnTo>
                    <a:lnTo>
                      <a:pt x="42320" y="2440"/>
                    </a:lnTo>
                    <a:lnTo>
                      <a:pt x="53397" y="0"/>
                    </a:lnTo>
                    <a:lnTo>
                      <a:pt x="4577002" y="0"/>
                    </a:lnTo>
                    <a:lnTo>
                      <a:pt x="4618493" y="15621"/>
                    </a:lnTo>
                    <a:lnTo>
                      <a:pt x="4644313" y="51661"/>
                    </a:lnTo>
                    <a:lnTo>
                      <a:pt x="4648199" y="71196"/>
                    </a:lnTo>
                    <a:lnTo>
                      <a:pt x="4648199" y="690803"/>
                    </a:lnTo>
                    <a:lnTo>
                      <a:pt x="4632577" y="732294"/>
                    </a:lnTo>
                    <a:lnTo>
                      <a:pt x="4596536" y="758114"/>
                    </a:lnTo>
                    <a:lnTo>
                      <a:pt x="4581957" y="761511"/>
                    </a:lnTo>
                    <a:lnTo>
                      <a:pt x="4577002" y="761999"/>
                    </a:lnTo>
                    <a:close/>
                  </a:path>
                </a:pathLst>
              </a:custGeom>
              <a:solidFill>
                <a:srgbClr val="FF6A00">
                  <a:alpha val="10198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914399" y="2400577"/>
                <a:ext cx="7048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0484" h="762000">
                    <a:moveTo>
                      <a:pt x="70450" y="761444"/>
                    </a:moveTo>
                    <a:lnTo>
                      <a:pt x="33857" y="748891"/>
                    </a:lnTo>
                    <a:lnTo>
                      <a:pt x="5800" y="714682"/>
                    </a:lnTo>
                    <a:lnTo>
                      <a:pt x="0" y="685522"/>
                    </a:lnTo>
                    <a:lnTo>
                      <a:pt x="0" y="75922"/>
                    </a:lnTo>
                    <a:lnTo>
                      <a:pt x="12830" y="33579"/>
                    </a:lnTo>
                    <a:lnTo>
                      <a:pt x="47039" y="5522"/>
                    </a:lnTo>
                    <a:lnTo>
                      <a:pt x="70449" y="0"/>
                    </a:lnTo>
                    <a:lnTo>
                      <a:pt x="66287" y="1655"/>
                    </a:lnTo>
                    <a:lnTo>
                      <a:pt x="56952" y="9389"/>
                    </a:lnTo>
                    <a:lnTo>
                      <a:pt x="41000" y="46761"/>
                    </a:lnTo>
                    <a:lnTo>
                      <a:pt x="38100" y="75922"/>
                    </a:lnTo>
                    <a:lnTo>
                      <a:pt x="38100" y="685522"/>
                    </a:lnTo>
                    <a:lnTo>
                      <a:pt x="44515" y="727864"/>
                    </a:lnTo>
                    <a:lnTo>
                      <a:pt x="66287" y="759788"/>
                    </a:lnTo>
                    <a:lnTo>
                      <a:pt x="70450" y="761444"/>
                    </a:lnTo>
                    <a:close/>
                  </a:path>
                </a:pathLst>
              </a:custGeom>
              <a:solidFill>
                <a:srgbClr val="FF6A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" name="object 6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10257" y="2543174"/>
                <a:ext cx="117871" cy="171449"/>
              </a:xfrm>
              <a:prstGeom prst="rect">
                <a:avLst/>
              </a:prstGeom>
            </p:spPr>
          </p:pic>
        </p:grpSp>
        <p:grpSp>
          <p:nvGrpSpPr>
            <p:cNvPr id="7" name="object 7"/>
            <p:cNvGrpSpPr/>
            <p:nvPr/>
          </p:nvGrpSpPr>
          <p:grpSpPr>
            <a:xfrm>
              <a:off x="914398" y="3275805"/>
              <a:ext cx="4730115" cy="1324491"/>
              <a:chOff x="914399" y="3314699"/>
              <a:chExt cx="4667250" cy="990600"/>
            </a:xfrm>
          </p:grpSpPr>
          <p:sp>
            <p:nvSpPr>
              <p:cNvPr id="8" name="object 8"/>
              <p:cNvSpPr/>
              <p:nvPr/>
            </p:nvSpPr>
            <p:spPr>
              <a:xfrm>
                <a:off x="933449" y="3314699"/>
                <a:ext cx="4648200" cy="990600"/>
              </a:xfrm>
              <a:custGeom>
                <a:avLst/>
                <a:gdLst/>
                <a:ahLst/>
                <a:cxnLst/>
                <a:rect l="l" t="t" r="r" b="b"/>
                <a:pathLst>
                  <a:path w="4648200" h="990600">
                    <a:moveTo>
                      <a:pt x="4577002" y="990599"/>
                    </a:moveTo>
                    <a:lnTo>
                      <a:pt x="53397" y="990599"/>
                    </a:lnTo>
                    <a:lnTo>
                      <a:pt x="49680" y="990111"/>
                    </a:lnTo>
                    <a:lnTo>
                      <a:pt x="14085" y="964743"/>
                    </a:lnTo>
                    <a:lnTo>
                      <a:pt x="366" y="924358"/>
                    </a:lnTo>
                    <a:lnTo>
                      <a:pt x="0" y="919403"/>
                    </a:lnTo>
                    <a:lnTo>
                      <a:pt x="0" y="914399"/>
                    </a:lnTo>
                    <a:lnTo>
                      <a:pt x="0" y="71196"/>
                    </a:lnTo>
                    <a:lnTo>
                      <a:pt x="11716" y="29704"/>
                    </a:lnTo>
                    <a:lnTo>
                      <a:pt x="42320" y="2440"/>
                    </a:lnTo>
                    <a:lnTo>
                      <a:pt x="53397" y="0"/>
                    </a:lnTo>
                    <a:lnTo>
                      <a:pt x="4577002" y="0"/>
                    </a:lnTo>
                    <a:lnTo>
                      <a:pt x="4618493" y="15621"/>
                    </a:lnTo>
                    <a:lnTo>
                      <a:pt x="4644313" y="51661"/>
                    </a:lnTo>
                    <a:lnTo>
                      <a:pt x="4648199" y="71196"/>
                    </a:lnTo>
                    <a:lnTo>
                      <a:pt x="4648199" y="919403"/>
                    </a:lnTo>
                    <a:lnTo>
                      <a:pt x="4632577" y="960894"/>
                    </a:lnTo>
                    <a:lnTo>
                      <a:pt x="4596536" y="986714"/>
                    </a:lnTo>
                    <a:lnTo>
                      <a:pt x="4581957" y="990111"/>
                    </a:lnTo>
                    <a:lnTo>
                      <a:pt x="4577002" y="990599"/>
                    </a:lnTo>
                    <a:close/>
                  </a:path>
                </a:pathLst>
              </a:custGeom>
              <a:solidFill>
                <a:srgbClr val="FF6A00">
                  <a:alpha val="509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914399" y="3314977"/>
                <a:ext cx="70485" cy="990600"/>
              </a:xfrm>
              <a:custGeom>
                <a:avLst/>
                <a:gdLst/>
                <a:ahLst/>
                <a:cxnLst/>
                <a:rect l="l" t="t" r="r" b="b"/>
                <a:pathLst>
                  <a:path w="70484" h="990600">
                    <a:moveTo>
                      <a:pt x="70450" y="990044"/>
                    </a:moveTo>
                    <a:lnTo>
                      <a:pt x="33857" y="977491"/>
                    </a:lnTo>
                    <a:lnTo>
                      <a:pt x="5800" y="943282"/>
                    </a:lnTo>
                    <a:lnTo>
                      <a:pt x="0" y="914122"/>
                    </a:lnTo>
                    <a:lnTo>
                      <a:pt x="0" y="75922"/>
                    </a:lnTo>
                    <a:lnTo>
                      <a:pt x="12830" y="33579"/>
                    </a:lnTo>
                    <a:lnTo>
                      <a:pt x="47039" y="5522"/>
                    </a:lnTo>
                    <a:lnTo>
                      <a:pt x="70449" y="0"/>
                    </a:lnTo>
                    <a:lnTo>
                      <a:pt x="66287" y="1655"/>
                    </a:lnTo>
                    <a:lnTo>
                      <a:pt x="56952" y="9389"/>
                    </a:lnTo>
                    <a:lnTo>
                      <a:pt x="41000" y="46761"/>
                    </a:lnTo>
                    <a:lnTo>
                      <a:pt x="38100" y="75922"/>
                    </a:lnTo>
                    <a:lnTo>
                      <a:pt x="38100" y="914122"/>
                    </a:lnTo>
                    <a:lnTo>
                      <a:pt x="44515" y="956464"/>
                    </a:lnTo>
                    <a:lnTo>
                      <a:pt x="66287" y="988388"/>
                    </a:lnTo>
                    <a:lnTo>
                      <a:pt x="70450" y="990044"/>
                    </a:lnTo>
                    <a:close/>
                  </a:path>
                </a:pathLst>
              </a:custGeom>
              <a:solidFill>
                <a:srgbClr val="FF9952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0" name="object 10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104899" y="3468290"/>
                <a:ext cx="171449" cy="150018"/>
              </a:xfrm>
              <a:prstGeom prst="rect">
                <a:avLst/>
              </a:prstGeom>
            </p:spPr>
          </p:pic>
        </p:grpSp>
        <p:grpSp>
          <p:nvGrpSpPr>
            <p:cNvPr id="11" name="object 11"/>
            <p:cNvGrpSpPr/>
            <p:nvPr/>
          </p:nvGrpSpPr>
          <p:grpSpPr>
            <a:xfrm>
              <a:off x="923924" y="4713523"/>
              <a:ext cx="4667250" cy="1105507"/>
              <a:chOff x="914399" y="4457700"/>
              <a:chExt cx="4667250" cy="762000"/>
            </a:xfrm>
          </p:grpSpPr>
          <p:sp>
            <p:nvSpPr>
              <p:cNvPr id="12" name="object 12"/>
              <p:cNvSpPr/>
              <p:nvPr/>
            </p:nvSpPr>
            <p:spPr>
              <a:xfrm>
                <a:off x="933449" y="4457700"/>
                <a:ext cx="46482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4648200" h="762000">
                    <a:moveTo>
                      <a:pt x="4577002" y="761999"/>
                    </a:moveTo>
                    <a:lnTo>
                      <a:pt x="53397" y="761999"/>
                    </a:lnTo>
                    <a:lnTo>
                      <a:pt x="49680" y="761511"/>
                    </a:lnTo>
                    <a:lnTo>
                      <a:pt x="14085" y="736142"/>
                    </a:lnTo>
                    <a:lnTo>
                      <a:pt x="366" y="695758"/>
                    </a:lnTo>
                    <a:lnTo>
                      <a:pt x="0" y="690803"/>
                    </a:lnTo>
                    <a:lnTo>
                      <a:pt x="0" y="685799"/>
                    </a:lnTo>
                    <a:lnTo>
                      <a:pt x="0" y="71196"/>
                    </a:lnTo>
                    <a:lnTo>
                      <a:pt x="11716" y="29704"/>
                    </a:lnTo>
                    <a:lnTo>
                      <a:pt x="42320" y="2439"/>
                    </a:lnTo>
                    <a:lnTo>
                      <a:pt x="53397" y="0"/>
                    </a:lnTo>
                    <a:lnTo>
                      <a:pt x="4577002" y="0"/>
                    </a:lnTo>
                    <a:lnTo>
                      <a:pt x="4618493" y="15621"/>
                    </a:lnTo>
                    <a:lnTo>
                      <a:pt x="4644313" y="51661"/>
                    </a:lnTo>
                    <a:lnTo>
                      <a:pt x="4648199" y="71196"/>
                    </a:lnTo>
                    <a:lnTo>
                      <a:pt x="4648199" y="690803"/>
                    </a:lnTo>
                    <a:lnTo>
                      <a:pt x="4632577" y="732293"/>
                    </a:lnTo>
                    <a:lnTo>
                      <a:pt x="4596536" y="758113"/>
                    </a:lnTo>
                    <a:lnTo>
                      <a:pt x="4581957" y="761511"/>
                    </a:lnTo>
                    <a:lnTo>
                      <a:pt x="4577002" y="761999"/>
                    </a:lnTo>
                    <a:close/>
                  </a:path>
                </a:pathLst>
              </a:custGeom>
              <a:solidFill>
                <a:srgbClr val="FF6A00">
                  <a:alpha val="509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914399" y="4457977"/>
                <a:ext cx="7048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0484" h="762000">
                    <a:moveTo>
                      <a:pt x="70450" y="761444"/>
                    </a:moveTo>
                    <a:lnTo>
                      <a:pt x="33857" y="748891"/>
                    </a:lnTo>
                    <a:lnTo>
                      <a:pt x="5800" y="714682"/>
                    </a:lnTo>
                    <a:lnTo>
                      <a:pt x="0" y="685522"/>
                    </a:lnTo>
                    <a:lnTo>
                      <a:pt x="0" y="75922"/>
                    </a:lnTo>
                    <a:lnTo>
                      <a:pt x="12830" y="33579"/>
                    </a:lnTo>
                    <a:lnTo>
                      <a:pt x="47039" y="5522"/>
                    </a:lnTo>
                    <a:lnTo>
                      <a:pt x="70449" y="0"/>
                    </a:lnTo>
                    <a:lnTo>
                      <a:pt x="66287" y="1655"/>
                    </a:lnTo>
                    <a:lnTo>
                      <a:pt x="56952" y="9389"/>
                    </a:lnTo>
                    <a:lnTo>
                      <a:pt x="41000" y="46761"/>
                    </a:lnTo>
                    <a:lnTo>
                      <a:pt x="38100" y="75922"/>
                    </a:lnTo>
                    <a:lnTo>
                      <a:pt x="38100" y="685522"/>
                    </a:lnTo>
                    <a:lnTo>
                      <a:pt x="44515" y="727864"/>
                    </a:lnTo>
                    <a:lnTo>
                      <a:pt x="66287" y="759788"/>
                    </a:lnTo>
                    <a:lnTo>
                      <a:pt x="70450" y="761444"/>
                    </a:lnTo>
                    <a:close/>
                  </a:path>
                </a:pathLst>
              </a:custGeom>
              <a:solidFill>
                <a:srgbClr val="FFBA8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4" name="object 14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104899" y="4600574"/>
                <a:ext cx="150018" cy="171449"/>
              </a:xfrm>
              <a:prstGeom prst="rect">
                <a:avLst/>
              </a:prstGeom>
            </p:spPr>
          </p:pic>
        </p:grpSp>
        <p:sp>
          <p:nvSpPr>
            <p:cNvPr id="15" name="object 15"/>
            <p:cNvSpPr/>
            <p:nvPr/>
          </p:nvSpPr>
          <p:spPr>
            <a:xfrm>
              <a:off x="933449" y="5753652"/>
              <a:ext cx="70485" cy="990600"/>
            </a:xfrm>
            <a:custGeom>
              <a:avLst/>
              <a:gdLst/>
              <a:ahLst/>
              <a:cxnLst/>
              <a:rect l="l" t="t" r="r" b="b"/>
              <a:pathLst>
                <a:path w="70484" h="990600">
                  <a:moveTo>
                    <a:pt x="70450" y="990044"/>
                  </a:moveTo>
                  <a:lnTo>
                    <a:pt x="33857" y="977491"/>
                  </a:lnTo>
                  <a:lnTo>
                    <a:pt x="5800" y="943282"/>
                  </a:lnTo>
                  <a:lnTo>
                    <a:pt x="0" y="9141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2" y="9389"/>
                  </a:lnTo>
                  <a:lnTo>
                    <a:pt x="41000" y="46760"/>
                  </a:lnTo>
                  <a:lnTo>
                    <a:pt x="38100" y="75922"/>
                  </a:lnTo>
                  <a:lnTo>
                    <a:pt x="38100" y="914122"/>
                  </a:lnTo>
                  <a:lnTo>
                    <a:pt x="44515" y="956463"/>
                  </a:lnTo>
                  <a:lnTo>
                    <a:pt x="66287" y="988388"/>
                  </a:lnTo>
                  <a:lnTo>
                    <a:pt x="70450" y="990044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1316036" y="2478227"/>
              <a:ext cx="1661477" cy="294311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b="1" spc="-90" dirty="0">
                  <a:solidFill>
                    <a:srgbClr val="FF6A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Client</a:t>
              </a:r>
              <a:r>
                <a:rPr b="1" dirty="0">
                  <a:solidFill>
                    <a:srgbClr val="FF6A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b="1" spc="-85" dirty="0">
                  <a:solidFill>
                    <a:srgbClr val="FF6A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1092199" y="2819526"/>
              <a:ext cx="4171315" cy="293029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pc="-6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Flutter</a:t>
              </a:r>
              <a:r>
                <a:rPr spc="-1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7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Mobile</a:t>
              </a:r>
              <a:r>
                <a:rPr spc="-1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8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</a:t>
              </a:r>
              <a:r>
                <a:rPr spc="-1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7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r>
                <a:rPr spc="-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7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React</a:t>
              </a:r>
              <a:r>
                <a:rPr spc="-1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114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Web</a:t>
              </a:r>
              <a:r>
                <a:rPr spc="-1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3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Portal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1358899" y="3392627"/>
              <a:ext cx="2222501" cy="294311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b="1" spc="-90" dirty="0">
                  <a:solidFill>
                    <a:srgbClr val="FF6A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Server</a:t>
              </a:r>
              <a:r>
                <a:rPr b="1" spc="-15" dirty="0">
                  <a:solidFill>
                    <a:srgbClr val="FF6A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b="1" spc="-85" dirty="0">
                  <a:solidFill>
                    <a:srgbClr val="FF6A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1092200" y="3707104"/>
              <a:ext cx="4331969" cy="94230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15399"/>
                </a:lnSpc>
                <a:spcBef>
                  <a:spcPts val="95"/>
                </a:spcBef>
              </a:pPr>
              <a:r>
                <a:rPr spc="-6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Flask</a:t>
              </a:r>
              <a:r>
                <a:rPr spc="-1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7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Backend</a:t>
              </a:r>
              <a:r>
                <a:rPr spc="-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7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with</a:t>
              </a:r>
              <a:r>
                <a:rPr spc="-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7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API</a:t>
              </a:r>
              <a:r>
                <a:rPr spc="-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6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Gate,</a:t>
              </a:r>
              <a:r>
                <a:rPr spc="-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7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Lesson</a:t>
              </a:r>
              <a:r>
                <a:rPr spc="-1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6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Delivery,</a:t>
              </a:r>
              <a:r>
                <a:rPr spc="-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pc="-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authentication, </a:t>
              </a:r>
              <a:r>
                <a:rPr spc="-5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Content </a:t>
              </a:r>
              <a:r>
                <a:rPr spc="-7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Management</a:t>
              </a:r>
              <a:r>
                <a:rPr spc="-1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7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with</a:t>
              </a:r>
              <a:r>
                <a:rPr spc="-1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1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Omnizart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1333725" y="4822847"/>
              <a:ext cx="1942875" cy="294311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b="1" spc="-114" dirty="0">
                  <a:solidFill>
                    <a:srgbClr val="FF6A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  <a:r>
                <a:rPr b="1" spc="-10" dirty="0">
                  <a:solidFill>
                    <a:srgbClr val="FF6A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b="1" spc="-85" dirty="0">
                  <a:solidFill>
                    <a:srgbClr val="FF6A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1104900" y="5170721"/>
              <a:ext cx="4505324" cy="570028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pc="-7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Firebase</a:t>
              </a:r>
              <a:r>
                <a:rPr lang="en-US" spc="-7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pc="-70" dirty="0" err="1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firestore</a:t>
              </a:r>
              <a:r>
                <a:rPr spc="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6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(auth/progress)</a:t>
              </a:r>
              <a:r>
                <a:rPr spc="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7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r>
                <a:rPr spc="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9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MySQL</a:t>
              </a:r>
              <a:r>
                <a:rPr spc="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pc="-4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(songs/lessons)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4267" y="5883623"/>
              <a:ext cx="190499" cy="190499"/>
            </a:xfrm>
            <a:prstGeom prst="rect">
              <a:avLst/>
            </a:prstGeom>
          </p:spPr>
        </p:pic>
        <p:sp>
          <p:nvSpPr>
            <p:cNvPr id="24" name="object 24"/>
            <p:cNvSpPr txBox="1"/>
            <p:nvPr/>
          </p:nvSpPr>
          <p:spPr>
            <a:xfrm>
              <a:off x="1435099" y="5791198"/>
              <a:ext cx="3989070" cy="676339"/>
            </a:xfrm>
            <a:prstGeom prst="rect">
              <a:avLst/>
            </a:prstGeom>
          </p:spPr>
          <p:txBody>
            <a:bodyPr vert="horz" wrap="square" lIns="0" tIns="419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30"/>
                </a:spcBef>
              </a:pPr>
              <a:r>
                <a:rPr sz="1250" b="0" spc="-4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 </a:t>
              </a:r>
              <a:r>
                <a:rPr sz="1250" b="0" spc="-1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Feature:</a:t>
              </a:r>
              <a:endParaRPr sz="12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2700" marR="5080">
                <a:lnSpc>
                  <a:spcPct val="115399"/>
                </a:lnSpc>
                <a:spcBef>
                  <a:spcPts val="5"/>
                </a:spcBef>
              </a:pPr>
              <a:r>
                <a:rPr sz="1300" spc="-6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Real-time</a:t>
              </a:r>
              <a:r>
                <a:rPr sz="1300" spc="-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00" spc="-7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pitch</a:t>
              </a:r>
              <a:r>
                <a:rPr sz="1300" spc="-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00" spc="-6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detection</a:t>
              </a:r>
              <a:r>
                <a:rPr sz="1300" spc="-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00" spc="-6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runs</a:t>
              </a:r>
              <a:r>
                <a:rPr sz="1300" spc="-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00" spc="-5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entirely</a:t>
              </a:r>
              <a:r>
                <a:rPr sz="1300" spc="-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00" spc="-7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</a:t>
              </a:r>
              <a:r>
                <a:rPr sz="1300" spc="-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00" spc="-7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device</a:t>
              </a:r>
              <a:r>
                <a:rPr sz="1300" spc="-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00" spc="-2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for </a:t>
              </a:r>
              <a:r>
                <a:rPr sz="1300" spc="-75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</a:t>
              </a:r>
              <a:r>
                <a:rPr sz="1300" spc="1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00" spc="-7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latency</a:t>
              </a:r>
              <a:r>
                <a:rPr sz="1300" spc="1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00" spc="-1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feedback.</a:t>
              </a:r>
              <a:endParaRPr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0689232" y="66365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Genspark</a:t>
            </a:r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9" name="image11.png">
            <a:extLst>
              <a:ext uri="{FF2B5EF4-FFF2-40B4-BE49-F238E27FC236}">
                <a16:creationId xmlns:a16="http://schemas.microsoft.com/office/drawing/2014/main" id="{1348D415-CAB3-8B74-3F89-6FC3E49E684F}"/>
              </a:ext>
            </a:extLst>
          </p:cNvPr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6031864" y="934301"/>
            <a:ext cx="5730875" cy="5257800"/>
          </a:xfrm>
          <a:prstGeom prst="rect">
            <a:avLst/>
          </a:prstGeom>
          <a:ln/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54A5C059-6419-913F-BCB4-4453418098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3752" y="898747"/>
            <a:ext cx="5441951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sz="3600" spc="-114" dirty="0">
                <a:solidFill>
                  <a:schemeClr val="accent6"/>
                </a:solidFill>
                <a:latin typeface="Montserrat"/>
                <a:cs typeface="Montserrat"/>
              </a:rPr>
              <a:t>System</a:t>
            </a:r>
            <a:r>
              <a:rPr sz="3600" spc="15" dirty="0">
                <a:solidFill>
                  <a:schemeClr val="accent6"/>
                </a:solidFill>
                <a:latin typeface="Montserrat"/>
                <a:cs typeface="Montserrat"/>
              </a:rPr>
              <a:t> </a:t>
            </a:r>
            <a:r>
              <a:rPr sz="3600" spc="-10" dirty="0">
                <a:solidFill>
                  <a:schemeClr val="accent6"/>
                </a:solidFill>
                <a:latin typeface="Montserrat"/>
                <a:cs typeface="Montserrat"/>
              </a:rPr>
              <a:t>Architecture</a:t>
            </a:r>
            <a:endParaRPr sz="3600" dirty="0">
              <a:solidFill>
                <a:schemeClr val="accent6"/>
              </a:solidFill>
              <a:latin typeface="Montserrat"/>
              <a:cs typeface="Montserra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689232" y="66365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pic>
        <p:nvPicPr>
          <p:cNvPr id="36" name="Picture 35" descr="A diagram of a mobile application&#10;&#10;AI-generated content may be incorrect.">
            <a:extLst>
              <a:ext uri="{FF2B5EF4-FFF2-40B4-BE49-F238E27FC236}">
                <a16:creationId xmlns:a16="http://schemas.microsoft.com/office/drawing/2014/main" id="{14EB9733-35DC-015D-B9C0-ED1589C1D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900" y="1599406"/>
            <a:ext cx="6934200" cy="426270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AA01A8-82A2-DBFC-1400-4CEA973E29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509EFD-DA18-4133-3F22-07510BEFE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2991E57-7927-78C6-2B6B-ACB376B490F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38200" y="761206"/>
            <a:ext cx="6735445" cy="16232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6450"/>
              </a:lnSpc>
              <a:spcBef>
                <a:spcPts val="229"/>
              </a:spcBef>
              <a:tabLst>
                <a:tab pos="848994" algn="l"/>
                <a:tab pos="3107690" algn="l"/>
              </a:tabLst>
            </a:pPr>
            <a:r>
              <a:rPr lang="en-US" sz="4400" dirty="0">
                <a:solidFill>
                  <a:schemeClr val="accent6"/>
                </a:solidFill>
                <a:latin typeface="Montserrat" panose="00000500000000000000" pitchFamily="2" charset="0"/>
              </a:rPr>
              <a:t>Model Evaluation and Selection</a:t>
            </a:r>
            <a:endParaRPr sz="4400" dirty="0">
              <a:solidFill>
                <a:schemeClr val="accent6"/>
              </a:solidFill>
              <a:latin typeface="DejaVu Sans"/>
              <a:cs typeface="DejaVu San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2215373-4D76-BC3D-FBC7-72209CD2D6EB}"/>
              </a:ext>
            </a:extLst>
          </p:cNvPr>
          <p:cNvSpPr txBox="1"/>
          <p:nvPr/>
        </p:nvSpPr>
        <p:spPr>
          <a:xfrm>
            <a:off x="838200" y="2702662"/>
            <a:ext cx="6196965" cy="301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lang="en-US" dirty="0">
                <a:solidFill>
                  <a:srgbClr val="666666"/>
                </a:solidFill>
                <a:latin typeface="DejaVu Sans"/>
                <a:cs typeface="DejaVu Sans"/>
              </a:rPr>
              <a:t>Requirement, dataset and selection</a:t>
            </a:r>
            <a:endParaRPr dirty="0">
              <a:latin typeface="DejaVu Sans"/>
              <a:cs typeface="DejaVu San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01FA1BD-A2E1-3F07-8E9E-3E7A927D6C69}"/>
              </a:ext>
            </a:extLst>
          </p:cNvPr>
          <p:cNvGrpSpPr/>
          <p:nvPr/>
        </p:nvGrpSpPr>
        <p:grpSpPr>
          <a:xfrm>
            <a:off x="7239000" y="2693115"/>
            <a:ext cx="3886201" cy="3402092"/>
            <a:chOff x="9905999" y="2571749"/>
            <a:chExt cx="1714500" cy="1714501"/>
          </a:xfrm>
        </p:grpSpPr>
        <p:grpSp>
          <p:nvGrpSpPr>
            <p:cNvPr id="4" name="object 4">
              <a:extLst>
                <a:ext uri="{FF2B5EF4-FFF2-40B4-BE49-F238E27FC236}">
                  <a16:creationId xmlns:a16="http://schemas.microsoft.com/office/drawing/2014/main" id="{46AB60E1-26CC-DD72-1200-4BF9C2FFA38B}"/>
                </a:ext>
              </a:extLst>
            </p:cNvPr>
            <p:cNvGrpSpPr/>
            <p:nvPr/>
          </p:nvGrpSpPr>
          <p:grpSpPr>
            <a:xfrm>
              <a:off x="9905999" y="2571749"/>
              <a:ext cx="762000" cy="762000"/>
              <a:chOff x="9905999" y="2571749"/>
              <a:chExt cx="762000" cy="762000"/>
            </a:xfrm>
          </p:grpSpPr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50C87946-C216-F64F-034A-B1CAEEB3ACCF}"/>
                  </a:ext>
                </a:extLst>
              </p:cNvPr>
              <p:cNvSpPr/>
              <p:nvPr/>
            </p:nvSpPr>
            <p:spPr>
              <a:xfrm>
                <a:off x="9905999" y="2571749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2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2"/>
                    </a:lnTo>
                    <a:lnTo>
                      <a:pt x="761999" y="88995"/>
                    </a:lnTo>
                    <a:lnTo>
                      <a:pt x="761999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145550AC-57F0-787A-B229-23BDD4910EDC}"/>
                  </a:ext>
                </a:extLst>
              </p:cNvPr>
              <p:cNvSpPr/>
              <p:nvPr/>
            </p:nvSpPr>
            <p:spPr>
              <a:xfrm>
                <a:off x="10077449" y="2762249"/>
                <a:ext cx="4286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81000">
                    <a:moveTo>
                      <a:pt x="381000" y="309562"/>
                    </a:moveTo>
                    <a:lnTo>
                      <a:pt x="47625" y="309562"/>
                    </a:lnTo>
                    <a:lnTo>
                      <a:pt x="29101" y="305815"/>
                    </a:lnTo>
                    <a:lnTo>
                      <a:pt x="13961" y="295600"/>
                    </a:lnTo>
                    <a:lnTo>
                      <a:pt x="3747" y="280460"/>
                    </a:lnTo>
                    <a:lnTo>
                      <a:pt x="0" y="261937"/>
                    </a:lnTo>
                    <a:lnTo>
                      <a:pt x="0" y="47625"/>
                    </a:lnTo>
                    <a:lnTo>
                      <a:pt x="3747" y="29101"/>
                    </a:lnTo>
                    <a:lnTo>
                      <a:pt x="13961" y="13961"/>
                    </a:lnTo>
                    <a:lnTo>
                      <a:pt x="29101" y="3747"/>
                    </a:lnTo>
                    <a:lnTo>
                      <a:pt x="47625" y="0"/>
                    </a:lnTo>
                    <a:lnTo>
                      <a:pt x="381000" y="0"/>
                    </a:lnTo>
                    <a:lnTo>
                      <a:pt x="399523" y="3747"/>
                    </a:lnTo>
                    <a:lnTo>
                      <a:pt x="414663" y="13961"/>
                    </a:lnTo>
                    <a:lnTo>
                      <a:pt x="424877" y="29101"/>
                    </a:lnTo>
                    <a:lnTo>
                      <a:pt x="428625" y="47625"/>
                    </a:lnTo>
                    <a:lnTo>
                      <a:pt x="47625" y="47625"/>
                    </a:lnTo>
                    <a:lnTo>
                      <a:pt x="47625" y="214312"/>
                    </a:lnTo>
                    <a:lnTo>
                      <a:pt x="428625" y="214312"/>
                    </a:lnTo>
                    <a:lnTo>
                      <a:pt x="428625" y="261937"/>
                    </a:lnTo>
                    <a:lnTo>
                      <a:pt x="424877" y="280460"/>
                    </a:lnTo>
                    <a:lnTo>
                      <a:pt x="414663" y="295600"/>
                    </a:lnTo>
                    <a:lnTo>
                      <a:pt x="399523" y="305815"/>
                    </a:lnTo>
                    <a:lnTo>
                      <a:pt x="381000" y="309562"/>
                    </a:lnTo>
                    <a:close/>
                  </a:path>
                  <a:path w="428625" h="381000">
                    <a:moveTo>
                      <a:pt x="428625" y="214312"/>
                    </a:moveTo>
                    <a:lnTo>
                      <a:pt x="381000" y="214312"/>
                    </a:lnTo>
                    <a:lnTo>
                      <a:pt x="381000" y="47625"/>
                    </a:lnTo>
                    <a:lnTo>
                      <a:pt x="428625" y="47625"/>
                    </a:lnTo>
                    <a:lnTo>
                      <a:pt x="428625" y="214312"/>
                    </a:lnTo>
                    <a:close/>
                  </a:path>
                  <a:path w="428625" h="381000">
                    <a:moveTo>
                      <a:pt x="257993" y="333375"/>
                    </a:moveTo>
                    <a:lnTo>
                      <a:pt x="170631" y="333375"/>
                    </a:lnTo>
                    <a:lnTo>
                      <a:pt x="178593" y="309562"/>
                    </a:lnTo>
                    <a:lnTo>
                      <a:pt x="250031" y="309562"/>
                    </a:lnTo>
                    <a:lnTo>
                      <a:pt x="257993" y="333375"/>
                    </a:lnTo>
                    <a:close/>
                  </a:path>
                  <a:path w="428625" h="381000">
                    <a:moveTo>
                      <a:pt x="309562" y="381000"/>
                    </a:moveTo>
                    <a:lnTo>
                      <a:pt x="119062" y="381000"/>
                    </a:lnTo>
                    <a:lnTo>
                      <a:pt x="109785" y="379131"/>
                    </a:lnTo>
                    <a:lnTo>
                      <a:pt x="102217" y="374033"/>
                    </a:lnTo>
                    <a:lnTo>
                      <a:pt x="97118" y="366464"/>
                    </a:lnTo>
                    <a:lnTo>
                      <a:pt x="95250" y="357187"/>
                    </a:lnTo>
                    <a:lnTo>
                      <a:pt x="97118" y="347910"/>
                    </a:lnTo>
                    <a:lnTo>
                      <a:pt x="102217" y="340342"/>
                    </a:lnTo>
                    <a:lnTo>
                      <a:pt x="109785" y="335243"/>
                    </a:lnTo>
                    <a:lnTo>
                      <a:pt x="119062" y="333375"/>
                    </a:lnTo>
                    <a:lnTo>
                      <a:pt x="309562" y="333375"/>
                    </a:lnTo>
                    <a:lnTo>
                      <a:pt x="318839" y="335243"/>
                    </a:lnTo>
                    <a:lnTo>
                      <a:pt x="326408" y="340342"/>
                    </a:lnTo>
                    <a:lnTo>
                      <a:pt x="331506" y="347910"/>
                    </a:lnTo>
                    <a:lnTo>
                      <a:pt x="333375" y="357187"/>
                    </a:lnTo>
                    <a:lnTo>
                      <a:pt x="331506" y="366464"/>
                    </a:lnTo>
                    <a:lnTo>
                      <a:pt x="326408" y="374033"/>
                    </a:lnTo>
                    <a:lnTo>
                      <a:pt x="318839" y="379131"/>
                    </a:lnTo>
                    <a:lnTo>
                      <a:pt x="309562" y="3810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" name="object 7">
              <a:extLst>
                <a:ext uri="{FF2B5EF4-FFF2-40B4-BE49-F238E27FC236}">
                  <a16:creationId xmlns:a16="http://schemas.microsoft.com/office/drawing/2014/main" id="{537F825C-98F5-F38A-C0FC-5AD8A741F7D3}"/>
                </a:ext>
              </a:extLst>
            </p:cNvPr>
            <p:cNvGrpSpPr/>
            <p:nvPr/>
          </p:nvGrpSpPr>
          <p:grpSpPr>
            <a:xfrm>
              <a:off x="10858499" y="2571749"/>
              <a:ext cx="762000" cy="762000"/>
              <a:chOff x="10858499" y="2571749"/>
              <a:chExt cx="762000" cy="762000"/>
            </a:xfrm>
          </p:grpSpPr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D12AA247-D0C5-9111-7566-FE436E11128E}"/>
                  </a:ext>
                </a:extLst>
              </p:cNvPr>
              <p:cNvSpPr/>
              <p:nvPr/>
            </p:nvSpPr>
            <p:spPr>
              <a:xfrm>
                <a:off x="10858499" y="2571749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2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2"/>
                    </a:lnTo>
                    <a:lnTo>
                      <a:pt x="762000" y="88995"/>
                    </a:lnTo>
                    <a:lnTo>
                      <a:pt x="762000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536F0793-4B9D-CA2E-FC92-235414745542}"/>
                  </a:ext>
                </a:extLst>
              </p:cNvPr>
              <p:cNvSpPr/>
              <p:nvPr/>
            </p:nvSpPr>
            <p:spPr>
              <a:xfrm>
                <a:off x="11048999" y="2786062"/>
                <a:ext cx="38100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33375">
                    <a:moveTo>
                      <a:pt x="333375" y="142875"/>
                    </a:moveTo>
                    <a:lnTo>
                      <a:pt x="47625" y="142875"/>
                    </a:lnTo>
                    <a:lnTo>
                      <a:pt x="29101" y="139127"/>
                    </a:lnTo>
                    <a:lnTo>
                      <a:pt x="13961" y="128913"/>
                    </a:lnTo>
                    <a:lnTo>
                      <a:pt x="3747" y="113773"/>
                    </a:lnTo>
                    <a:lnTo>
                      <a:pt x="0" y="95250"/>
                    </a:lnTo>
                    <a:lnTo>
                      <a:pt x="0" y="47625"/>
                    </a:lnTo>
                    <a:lnTo>
                      <a:pt x="3747" y="29101"/>
                    </a:lnTo>
                    <a:lnTo>
                      <a:pt x="13961" y="13961"/>
                    </a:lnTo>
                    <a:lnTo>
                      <a:pt x="29101" y="3747"/>
                    </a:lnTo>
                    <a:lnTo>
                      <a:pt x="47625" y="0"/>
                    </a:lnTo>
                    <a:lnTo>
                      <a:pt x="333375" y="0"/>
                    </a:lnTo>
                    <a:lnTo>
                      <a:pt x="351898" y="3747"/>
                    </a:lnTo>
                    <a:lnTo>
                      <a:pt x="367038" y="13961"/>
                    </a:lnTo>
                    <a:lnTo>
                      <a:pt x="377252" y="29101"/>
                    </a:lnTo>
                    <a:lnTo>
                      <a:pt x="381000" y="47625"/>
                    </a:lnTo>
                    <a:lnTo>
                      <a:pt x="381000" y="53578"/>
                    </a:lnTo>
                    <a:lnTo>
                      <a:pt x="253616" y="53578"/>
                    </a:lnTo>
                    <a:lnTo>
                      <a:pt x="251337" y="54031"/>
                    </a:lnTo>
                    <a:lnTo>
                      <a:pt x="238124" y="69069"/>
                    </a:lnTo>
                    <a:lnTo>
                      <a:pt x="238124" y="73805"/>
                    </a:lnTo>
                    <a:lnTo>
                      <a:pt x="253616" y="89296"/>
                    </a:lnTo>
                    <a:lnTo>
                      <a:pt x="381000" y="89296"/>
                    </a:lnTo>
                    <a:lnTo>
                      <a:pt x="381000" y="95250"/>
                    </a:lnTo>
                    <a:lnTo>
                      <a:pt x="377252" y="113773"/>
                    </a:lnTo>
                    <a:lnTo>
                      <a:pt x="367038" y="128913"/>
                    </a:lnTo>
                    <a:lnTo>
                      <a:pt x="351898" y="139127"/>
                    </a:lnTo>
                    <a:lnTo>
                      <a:pt x="333375" y="142875"/>
                    </a:lnTo>
                    <a:close/>
                  </a:path>
                  <a:path w="381000" h="333375">
                    <a:moveTo>
                      <a:pt x="307194" y="89296"/>
                    </a:moveTo>
                    <a:lnTo>
                      <a:pt x="258352" y="89296"/>
                    </a:lnTo>
                    <a:lnTo>
                      <a:pt x="260630" y="88843"/>
                    </a:lnTo>
                    <a:lnTo>
                      <a:pt x="265006" y="87031"/>
                    </a:lnTo>
                    <a:lnTo>
                      <a:pt x="273843" y="73805"/>
                    </a:lnTo>
                    <a:lnTo>
                      <a:pt x="273843" y="69069"/>
                    </a:lnTo>
                    <a:lnTo>
                      <a:pt x="258352" y="53578"/>
                    </a:lnTo>
                    <a:lnTo>
                      <a:pt x="307194" y="53578"/>
                    </a:lnTo>
                    <a:lnTo>
                      <a:pt x="291703" y="69069"/>
                    </a:lnTo>
                    <a:lnTo>
                      <a:pt x="291703" y="73805"/>
                    </a:lnTo>
                    <a:lnTo>
                      <a:pt x="304916" y="88843"/>
                    </a:lnTo>
                    <a:lnTo>
                      <a:pt x="307194" y="89296"/>
                    </a:lnTo>
                    <a:close/>
                  </a:path>
                  <a:path w="381000" h="333375">
                    <a:moveTo>
                      <a:pt x="381000" y="89296"/>
                    </a:moveTo>
                    <a:lnTo>
                      <a:pt x="311930" y="89296"/>
                    </a:lnTo>
                    <a:lnTo>
                      <a:pt x="314208" y="88843"/>
                    </a:lnTo>
                    <a:lnTo>
                      <a:pt x="318584" y="87031"/>
                    </a:lnTo>
                    <a:lnTo>
                      <a:pt x="327421" y="73805"/>
                    </a:lnTo>
                    <a:lnTo>
                      <a:pt x="327421" y="69069"/>
                    </a:lnTo>
                    <a:lnTo>
                      <a:pt x="311930" y="53578"/>
                    </a:lnTo>
                    <a:lnTo>
                      <a:pt x="381000" y="53578"/>
                    </a:lnTo>
                    <a:lnTo>
                      <a:pt x="381000" y="89296"/>
                    </a:lnTo>
                    <a:close/>
                  </a:path>
                  <a:path w="381000" h="333375">
                    <a:moveTo>
                      <a:pt x="333375" y="333375"/>
                    </a:moveTo>
                    <a:lnTo>
                      <a:pt x="47625" y="333375"/>
                    </a:lnTo>
                    <a:lnTo>
                      <a:pt x="29101" y="329627"/>
                    </a:lnTo>
                    <a:lnTo>
                      <a:pt x="13961" y="319413"/>
                    </a:lnTo>
                    <a:lnTo>
                      <a:pt x="3747" y="304273"/>
                    </a:lnTo>
                    <a:lnTo>
                      <a:pt x="0" y="285750"/>
                    </a:lnTo>
                    <a:lnTo>
                      <a:pt x="0" y="238125"/>
                    </a:lnTo>
                    <a:lnTo>
                      <a:pt x="3747" y="219601"/>
                    </a:lnTo>
                    <a:lnTo>
                      <a:pt x="13961" y="204461"/>
                    </a:lnTo>
                    <a:lnTo>
                      <a:pt x="29101" y="194247"/>
                    </a:lnTo>
                    <a:lnTo>
                      <a:pt x="47625" y="190500"/>
                    </a:lnTo>
                    <a:lnTo>
                      <a:pt x="333375" y="190500"/>
                    </a:lnTo>
                    <a:lnTo>
                      <a:pt x="351898" y="194247"/>
                    </a:lnTo>
                    <a:lnTo>
                      <a:pt x="367038" y="204461"/>
                    </a:lnTo>
                    <a:lnTo>
                      <a:pt x="377252" y="219601"/>
                    </a:lnTo>
                    <a:lnTo>
                      <a:pt x="381000" y="238125"/>
                    </a:lnTo>
                    <a:lnTo>
                      <a:pt x="381000" y="244078"/>
                    </a:lnTo>
                    <a:lnTo>
                      <a:pt x="253616" y="244078"/>
                    </a:lnTo>
                    <a:lnTo>
                      <a:pt x="251337" y="244531"/>
                    </a:lnTo>
                    <a:lnTo>
                      <a:pt x="238124" y="259569"/>
                    </a:lnTo>
                    <a:lnTo>
                      <a:pt x="238124" y="264305"/>
                    </a:lnTo>
                    <a:lnTo>
                      <a:pt x="253616" y="279796"/>
                    </a:lnTo>
                    <a:lnTo>
                      <a:pt x="381000" y="279796"/>
                    </a:lnTo>
                    <a:lnTo>
                      <a:pt x="381000" y="285750"/>
                    </a:lnTo>
                    <a:lnTo>
                      <a:pt x="377252" y="304273"/>
                    </a:lnTo>
                    <a:lnTo>
                      <a:pt x="367038" y="319413"/>
                    </a:lnTo>
                    <a:lnTo>
                      <a:pt x="351898" y="329627"/>
                    </a:lnTo>
                    <a:lnTo>
                      <a:pt x="333375" y="333375"/>
                    </a:lnTo>
                    <a:close/>
                  </a:path>
                  <a:path w="381000" h="333375">
                    <a:moveTo>
                      <a:pt x="313147" y="279796"/>
                    </a:moveTo>
                    <a:lnTo>
                      <a:pt x="258352" y="279796"/>
                    </a:lnTo>
                    <a:lnTo>
                      <a:pt x="260630" y="279343"/>
                    </a:lnTo>
                    <a:lnTo>
                      <a:pt x="265006" y="277531"/>
                    </a:lnTo>
                    <a:lnTo>
                      <a:pt x="273843" y="264305"/>
                    </a:lnTo>
                    <a:lnTo>
                      <a:pt x="273843" y="259569"/>
                    </a:lnTo>
                    <a:lnTo>
                      <a:pt x="258352" y="244078"/>
                    </a:lnTo>
                    <a:lnTo>
                      <a:pt x="313147" y="244078"/>
                    </a:lnTo>
                    <a:lnTo>
                      <a:pt x="297656" y="259569"/>
                    </a:lnTo>
                    <a:lnTo>
                      <a:pt x="297656" y="264305"/>
                    </a:lnTo>
                    <a:lnTo>
                      <a:pt x="310869" y="279343"/>
                    </a:lnTo>
                    <a:lnTo>
                      <a:pt x="313147" y="279796"/>
                    </a:lnTo>
                    <a:close/>
                  </a:path>
                  <a:path w="381000" h="333375">
                    <a:moveTo>
                      <a:pt x="381000" y="279796"/>
                    </a:moveTo>
                    <a:lnTo>
                      <a:pt x="317883" y="279796"/>
                    </a:lnTo>
                    <a:lnTo>
                      <a:pt x="320162" y="279343"/>
                    </a:lnTo>
                    <a:lnTo>
                      <a:pt x="324538" y="277531"/>
                    </a:lnTo>
                    <a:lnTo>
                      <a:pt x="333374" y="264305"/>
                    </a:lnTo>
                    <a:lnTo>
                      <a:pt x="333374" y="259569"/>
                    </a:lnTo>
                    <a:lnTo>
                      <a:pt x="317883" y="244078"/>
                    </a:lnTo>
                    <a:lnTo>
                      <a:pt x="381000" y="244078"/>
                    </a:lnTo>
                    <a:lnTo>
                      <a:pt x="381000" y="27979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0" name="object 10">
              <a:extLst>
                <a:ext uri="{FF2B5EF4-FFF2-40B4-BE49-F238E27FC236}">
                  <a16:creationId xmlns:a16="http://schemas.microsoft.com/office/drawing/2014/main" id="{7011A06D-3319-4534-BB22-CAAB6891B561}"/>
                </a:ext>
              </a:extLst>
            </p:cNvPr>
            <p:cNvGrpSpPr/>
            <p:nvPr/>
          </p:nvGrpSpPr>
          <p:grpSpPr>
            <a:xfrm>
              <a:off x="9905999" y="3524250"/>
              <a:ext cx="762000" cy="762000"/>
              <a:chOff x="9905999" y="3524250"/>
              <a:chExt cx="762000" cy="762000"/>
            </a:xfrm>
          </p:grpSpPr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3EA73DD9-CBB3-3D37-666E-951BDC805BA7}"/>
                  </a:ext>
                </a:extLst>
              </p:cNvPr>
              <p:cNvSpPr/>
              <p:nvPr/>
            </p:nvSpPr>
            <p:spPr>
              <a:xfrm>
                <a:off x="9905999" y="3524250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1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1"/>
                    </a:lnTo>
                    <a:lnTo>
                      <a:pt x="761999" y="88995"/>
                    </a:lnTo>
                    <a:lnTo>
                      <a:pt x="761999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A12529BA-E523-9E4C-892D-235FEB2DEB94}"/>
                  </a:ext>
                </a:extLst>
              </p:cNvPr>
              <p:cNvSpPr/>
              <p:nvPr/>
            </p:nvSpPr>
            <p:spPr>
              <a:xfrm>
                <a:off x="10125074" y="3714750"/>
                <a:ext cx="33337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381000">
                    <a:moveTo>
                      <a:pt x="166687" y="154781"/>
                    </a:moveTo>
                    <a:lnTo>
                      <a:pt x="101808" y="150104"/>
                    </a:lnTo>
                    <a:lnTo>
                      <a:pt x="48824" y="137349"/>
                    </a:lnTo>
                    <a:lnTo>
                      <a:pt x="13100" y="118427"/>
                    </a:lnTo>
                    <a:lnTo>
                      <a:pt x="0" y="95250"/>
                    </a:lnTo>
                    <a:lnTo>
                      <a:pt x="0" y="59531"/>
                    </a:lnTo>
                    <a:lnTo>
                      <a:pt x="13100" y="36353"/>
                    </a:lnTo>
                    <a:lnTo>
                      <a:pt x="48824" y="17431"/>
                    </a:lnTo>
                    <a:lnTo>
                      <a:pt x="101808" y="4676"/>
                    </a:lnTo>
                    <a:lnTo>
                      <a:pt x="166687" y="0"/>
                    </a:lnTo>
                    <a:lnTo>
                      <a:pt x="231566" y="4676"/>
                    </a:lnTo>
                    <a:lnTo>
                      <a:pt x="284550" y="17431"/>
                    </a:lnTo>
                    <a:lnTo>
                      <a:pt x="320274" y="36353"/>
                    </a:lnTo>
                    <a:lnTo>
                      <a:pt x="333375" y="59531"/>
                    </a:lnTo>
                    <a:lnTo>
                      <a:pt x="333375" y="95250"/>
                    </a:lnTo>
                    <a:lnTo>
                      <a:pt x="320274" y="118427"/>
                    </a:lnTo>
                    <a:lnTo>
                      <a:pt x="284550" y="137349"/>
                    </a:lnTo>
                    <a:lnTo>
                      <a:pt x="231566" y="150104"/>
                    </a:lnTo>
                    <a:lnTo>
                      <a:pt x="166687" y="154781"/>
                    </a:lnTo>
                    <a:close/>
                  </a:path>
                  <a:path w="333375" h="381000">
                    <a:moveTo>
                      <a:pt x="166687" y="273843"/>
                    </a:moveTo>
                    <a:lnTo>
                      <a:pt x="101808" y="269167"/>
                    </a:lnTo>
                    <a:lnTo>
                      <a:pt x="48824" y="256412"/>
                    </a:lnTo>
                    <a:lnTo>
                      <a:pt x="13100" y="237490"/>
                    </a:lnTo>
                    <a:lnTo>
                      <a:pt x="0" y="214312"/>
                    </a:lnTo>
                    <a:lnTo>
                      <a:pt x="0" y="138484"/>
                    </a:lnTo>
                    <a:lnTo>
                      <a:pt x="8828" y="144708"/>
                    </a:lnTo>
                    <a:lnTo>
                      <a:pt x="18693" y="150325"/>
                    </a:lnTo>
                    <a:lnTo>
                      <a:pt x="67798" y="167731"/>
                    </a:lnTo>
                    <a:lnTo>
                      <a:pt x="131464" y="177326"/>
                    </a:lnTo>
                    <a:lnTo>
                      <a:pt x="166687" y="178593"/>
                    </a:lnTo>
                    <a:lnTo>
                      <a:pt x="333375" y="178593"/>
                    </a:lnTo>
                    <a:lnTo>
                      <a:pt x="333375" y="214312"/>
                    </a:lnTo>
                    <a:lnTo>
                      <a:pt x="320274" y="237490"/>
                    </a:lnTo>
                    <a:lnTo>
                      <a:pt x="284550" y="256412"/>
                    </a:lnTo>
                    <a:lnTo>
                      <a:pt x="231566" y="269167"/>
                    </a:lnTo>
                    <a:lnTo>
                      <a:pt x="166687" y="273843"/>
                    </a:lnTo>
                    <a:close/>
                  </a:path>
                  <a:path w="333375" h="381000">
                    <a:moveTo>
                      <a:pt x="333375" y="178593"/>
                    </a:moveTo>
                    <a:lnTo>
                      <a:pt x="166687" y="178593"/>
                    </a:lnTo>
                    <a:lnTo>
                      <a:pt x="201910" y="177326"/>
                    </a:lnTo>
                    <a:lnTo>
                      <a:pt x="235111" y="173645"/>
                    </a:lnTo>
                    <a:lnTo>
                      <a:pt x="292596" y="159767"/>
                    </a:lnTo>
                    <a:lnTo>
                      <a:pt x="333375" y="138484"/>
                    </a:lnTo>
                    <a:lnTo>
                      <a:pt x="333375" y="178593"/>
                    </a:lnTo>
                    <a:close/>
                  </a:path>
                  <a:path w="333375" h="381000">
                    <a:moveTo>
                      <a:pt x="166687" y="381000"/>
                    </a:moveTo>
                    <a:lnTo>
                      <a:pt x="101808" y="376323"/>
                    </a:lnTo>
                    <a:lnTo>
                      <a:pt x="48824" y="363568"/>
                    </a:lnTo>
                    <a:lnTo>
                      <a:pt x="13100" y="344646"/>
                    </a:lnTo>
                    <a:lnTo>
                      <a:pt x="0" y="321468"/>
                    </a:lnTo>
                    <a:lnTo>
                      <a:pt x="0" y="257547"/>
                    </a:lnTo>
                    <a:lnTo>
                      <a:pt x="8828" y="263771"/>
                    </a:lnTo>
                    <a:lnTo>
                      <a:pt x="18693" y="269388"/>
                    </a:lnTo>
                    <a:lnTo>
                      <a:pt x="67798" y="286794"/>
                    </a:lnTo>
                    <a:lnTo>
                      <a:pt x="131464" y="296388"/>
                    </a:lnTo>
                    <a:lnTo>
                      <a:pt x="166687" y="297656"/>
                    </a:lnTo>
                    <a:lnTo>
                      <a:pt x="333375" y="297656"/>
                    </a:lnTo>
                    <a:lnTo>
                      <a:pt x="333375" y="321468"/>
                    </a:lnTo>
                    <a:lnTo>
                      <a:pt x="320274" y="344646"/>
                    </a:lnTo>
                    <a:lnTo>
                      <a:pt x="284550" y="363568"/>
                    </a:lnTo>
                    <a:lnTo>
                      <a:pt x="231566" y="376323"/>
                    </a:lnTo>
                    <a:lnTo>
                      <a:pt x="166687" y="381000"/>
                    </a:lnTo>
                    <a:close/>
                  </a:path>
                  <a:path w="333375" h="381000">
                    <a:moveTo>
                      <a:pt x="333375" y="297656"/>
                    </a:moveTo>
                    <a:lnTo>
                      <a:pt x="166687" y="297656"/>
                    </a:lnTo>
                    <a:lnTo>
                      <a:pt x="201910" y="296388"/>
                    </a:lnTo>
                    <a:lnTo>
                      <a:pt x="235111" y="292707"/>
                    </a:lnTo>
                    <a:lnTo>
                      <a:pt x="292596" y="278829"/>
                    </a:lnTo>
                    <a:lnTo>
                      <a:pt x="333375" y="257547"/>
                    </a:lnTo>
                    <a:lnTo>
                      <a:pt x="333375" y="29765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3" name="object 13">
              <a:extLst>
                <a:ext uri="{FF2B5EF4-FFF2-40B4-BE49-F238E27FC236}">
                  <a16:creationId xmlns:a16="http://schemas.microsoft.com/office/drawing/2014/main" id="{AB9C131F-E64B-18D0-A3DA-3AD325F670C5}"/>
                </a:ext>
              </a:extLst>
            </p:cNvPr>
            <p:cNvGrpSpPr/>
            <p:nvPr/>
          </p:nvGrpSpPr>
          <p:grpSpPr>
            <a:xfrm>
              <a:off x="10858499" y="3524250"/>
              <a:ext cx="762000" cy="762000"/>
              <a:chOff x="10858499" y="3524250"/>
              <a:chExt cx="762000" cy="762000"/>
            </a:xfrm>
          </p:grpSpPr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432E21C2-821F-99C2-A048-F7414616D004}"/>
                  </a:ext>
                </a:extLst>
              </p:cNvPr>
              <p:cNvSpPr/>
              <p:nvPr/>
            </p:nvSpPr>
            <p:spPr>
              <a:xfrm>
                <a:off x="10858499" y="3524250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1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1"/>
                    </a:lnTo>
                    <a:lnTo>
                      <a:pt x="762000" y="88995"/>
                    </a:lnTo>
                    <a:lnTo>
                      <a:pt x="762000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B043DE0F-A07F-3EF6-AB81-9AEA581D7C86}"/>
                  </a:ext>
                </a:extLst>
              </p:cNvPr>
              <p:cNvSpPr/>
              <p:nvPr/>
            </p:nvSpPr>
            <p:spPr>
              <a:xfrm>
                <a:off x="11001374" y="371475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297656" y="142875"/>
                    </a:moveTo>
                    <a:lnTo>
                      <a:pt x="178593" y="142875"/>
                    </a:lnTo>
                    <a:lnTo>
                      <a:pt x="164693" y="140067"/>
                    </a:lnTo>
                    <a:lnTo>
                      <a:pt x="153339" y="132410"/>
                    </a:lnTo>
                    <a:lnTo>
                      <a:pt x="145682" y="121056"/>
                    </a:lnTo>
                    <a:lnTo>
                      <a:pt x="142875" y="107156"/>
                    </a:lnTo>
                    <a:lnTo>
                      <a:pt x="142875" y="35718"/>
                    </a:lnTo>
                    <a:lnTo>
                      <a:pt x="145682" y="21818"/>
                    </a:lnTo>
                    <a:lnTo>
                      <a:pt x="153339" y="10464"/>
                    </a:lnTo>
                    <a:lnTo>
                      <a:pt x="164693" y="2807"/>
                    </a:lnTo>
                    <a:lnTo>
                      <a:pt x="178593" y="0"/>
                    </a:lnTo>
                    <a:lnTo>
                      <a:pt x="297656" y="0"/>
                    </a:lnTo>
                    <a:lnTo>
                      <a:pt x="311556" y="2807"/>
                    </a:lnTo>
                    <a:lnTo>
                      <a:pt x="322910" y="10464"/>
                    </a:lnTo>
                    <a:lnTo>
                      <a:pt x="330567" y="21818"/>
                    </a:lnTo>
                    <a:lnTo>
                      <a:pt x="333375" y="35718"/>
                    </a:lnTo>
                    <a:lnTo>
                      <a:pt x="333375" y="47625"/>
                    </a:lnTo>
                    <a:lnTo>
                      <a:pt x="190500" y="47625"/>
                    </a:lnTo>
                    <a:lnTo>
                      <a:pt x="190500" y="95250"/>
                    </a:lnTo>
                    <a:lnTo>
                      <a:pt x="333375" y="95250"/>
                    </a:lnTo>
                    <a:lnTo>
                      <a:pt x="333375" y="107156"/>
                    </a:lnTo>
                    <a:lnTo>
                      <a:pt x="330567" y="121056"/>
                    </a:lnTo>
                    <a:lnTo>
                      <a:pt x="322910" y="132410"/>
                    </a:lnTo>
                    <a:lnTo>
                      <a:pt x="311556" y="140067"/>
                    </a:lnTo>
                    <a:lnTo>
                      <a:pt x="297656" y="142875"/>
                    </a:lnTo>
                    <a:close/>
                  </a:path>
                  <a:path w="476250" h="381000">
                    <a:moveTo>
                      <a:pt x="333375" y="95250"/>
                    </a:moveTo>
                    <a:lnTo>
                      <a:pt x="285750" y="95250"/>
                    </a:lnTo>
                    <a:lnTo>
                      <a:pt x="285750" y="47625"/>
                    </a:lnTo>
                    <a:lnTo>
                      <a:pt x="333375" y="47625"/>
                    </a:lnTo>
                    <a:lnTo>
                      <a:pt x="333375" y="95250"/>
                    </a:lnTo>
                    <a:close/>
                  </a:path>
                  <a:path w="476250" h="381000">
                    <a:moveTo>
                      <a:pt x="261937" y="166687"/>
                    </a:moveTo>
                    <a:lnTo>
                      <a:pt x="214312" y="166687"/>
                    </a:lnTo>
                    <a:lnTo>
                      <a:pt x="214312" y="142875"/>
                    </a:lnTo>
                    <a:lnTo>
                      <a:pt x="261937" y="142875"/>
                    </a:lnTo>
                    <a:lnTo>
                      <a:pt x="261937" y="166687"/>
                    </a:lnTo>
                    <a:close/>
                  </a:path>
                  <a:path w="476250" h="381000">
                    <a:moveTo>
                      <a:pt x="452437" y="214312"/>
                    </a:moveTo>
                    <a:lnTo>
                      <a:pt x="23812" y="214312"/>
                    </a:lnTo>
                    <a:lnTo>
                      <a:pt x="14535" y="212444"/>
                    </a:lnTo>
                    <a:lnTo>
                      <a:pt x="6967" y="207345"/>
                    </a:lnTo>
                    <a:lnTo>
                      <a:pt x="1868" y="199777"/>
                    </a:lnTo>
                    <a:lnTo>
                      <a:pt x="0" y="190500"/>
                    </a:lnTo>
                    <a:lnTo>
                      <a:pt x="1868" y="181222"/>
                    </a:lnTo>
                    <a:lnTo>
                      <a:pt x="6967" y="173654"/>
                    </a:lnTo>
                    <a:lnTo>
                      <a:pt x="14535" y="168555"/>
                    </a:lnTo>
                    <a:lnTo>
                      <a:pt x="23812" y="166687"/>
                    </a:lnTo>
                    <a:lnTo>
                      <a:pt x="452437" y="166687"/>
                    </a:lnTo>
                    <a:lnTo>
                      <a:pt x="461714" y="168555"/>
                    </a:lnTo>
                    <a:lnTo>
                      <a:pt x="469283" y="173654"/>
                    </a:lnTo>
                    <a:lnTo>
                      <a:pt x="474381" y="181222"/>
                    </a:lnTo>
                    <a:lnTo>
                      <a:pt x="476250" y="190500"/>
                    </a:lnTo>
                    <a:lnTo>
                      <a:pt x="474381" y="199777"/>
                    </a:lnTo>
                    <a:lnTo>
                      <a:pt x="469283" y="207345"/>
                    </a:lnTo>
                    <a:lnTo>
                      <a:pt x="461714" y="212444"/>
                    </a:lnTo>
                    <a:lnTo>
                      <a:pt x="452437" y="214312"/>
                    </a:lnTo>
                    <a:close/>
                  </a:path>
                  <a:path w="476250" h="381000">
                    <a:moveTo>
                      <a:pt x="142875" y="238125"/>
                    </a:moveTo>
                    <a:lnTo>
                      <a:pt x="95250" y="238125"/>
                    </a:lnTo>
                    <a:lnTo>
                      <a:pt x="95250" y="214312"/>
                    </a:lnTo>
                    <a:lnTo>
                      <a:pt x="142875" y="214312"/>
                    </a:lnTo>
                    <a:lnTo>
                      <a:pt x="142875" y="238125"/>
                    </a:lnTo>
                    <a:close/>
                  </a:path>
                  <a:path w="476250" h="381000">
                    <a:moveTo>
                      <a:pt x="381000" y="238125"/>
                    </a:moveTo>
                    <a:lnTo>
                      <a:pt x="333375" y="238125"/>
                    </a:lnTo>
                    <a:lnTo>
                      <a:pt x="333375" y="214312"/>
                    </a:lnTo>
                    <a:lnTo>
                      <a:pt x="381000" y="214312"/>
                    </a:lnTo>
                    <a:lnTo>
                      <a:pt x="381000" y="238125"/>
                    </a:lnTo>
                    <a:close/>
                  </a:path>
                  <a:path w="476250" h="381000">
                    <a:moveTo>
                      <a:pt x="178593" y="381000"/>
                    </a:moveTo>
                    <a:lnTo>
                      <a:pt x="59531" y="381000"/>
                    </a:lnTo>
                    <a:lnTo>
                      <a:pt x="45630" y="378192"/>
                    </a:lnTo>
                    <a:lnTo>
                      <a:pt x="34276" y="370535"/>
                    </a:lnTo>
                    <a:lnTo>
                      <a:pt x="26620" y="359181"/>
                    </a:lnTo>
                    <a:lnTo>
                      <a:pt x="23812" y="345281"/>
                    </a:lnTo>
                    <a:lnTo>
                      <a:pt x="23812" y="273843"/>
                    </a:lnTo>
                    <a:lnTo>
                      <a:pt x="26620" y="259943"/>
                    </a:lnTo>
                    <a:lnTo>
                      <a:pt x="34276" y="248589"/>
                    </a:lnTo>
                    <a:lnTo>
                      <a:pt x="45630" y="240932"/>
                    </a:lnTo>
                    <a:lnTo>
                      <a:pt x="59531" y="238125"/>
                    </a:lnTo>
                    <a:lnTo>
                      <a:pt x="178593" y="238125"/>
                    </a:lnTo>
                    <a:lnTo>
                      <a:pt x="192494" y="240932"/>
                    </a:lnTo>
                    <a:lnTo>
                      <a:pt x="203848" y="248589"/>
                    </a:lnTo>
                    <a:lnTo>
                      <a:pt x="211504" y="259943"/>
                    </a:lnTo>
                    <a:lnTo>
                      <a:pt x="214312" y="273843"/>
                    </a:lnTo>
                    <a:lnTo>
                      <a:pt x="214312" y="285750"/>
                    </a:lnTo>
                    <a:lnTo>
                      <a:pt x="71437" y="285750"/>
                    </a:lnTo>
                    <a:lnTo>
                      <a:pt x="71437" y="333375"/>
                    </a:lnTo>
                    <a:lnTo>
                      <a:pt x="214312" y="333375"/>
                    </a:lnTo>
                    <a:lnTo>
                      <a:pt x="214312" y="345281"/>
                    </a:lnTo>
                    <a:lnTo>
                      <a:pt x="211504" y="359181"/>
                    </a:lnTo>
                    <a:lnTo>
                      <a:pt x="203848" y="370535"/>
                    </a:lnTo>
                    <a:lnTo>
                      <a:pt x="192494" y="378192"/>
                    </a:lnTo>
                    <a:lnTo>
                      <a:pt x="178593" y="381000"/>
                    </a:lnTo>
                    <a:close/>
                  </a:path>
                  <a:path w="476250" h="381000">
                    <a:moveTo>
                      <a:pt x="416718" y="381000"/>
                    </a:moveTo>
                    <a:lnTo>
                      <a:pt x="297656" y="381000"/>
                    </a:lnTo>
                    <a:lnTo>
                      <a:pt x="283755" y="378192"/>
                    </a:lnTo>
                    <a:lnTo>
                      <a:pt x="272401" y="370535"/>
                    </a:lnTo>
                    <a:lnTo>
                      <a:pt x="264745" y="359181"/>
                    </a:lnTo>
                    <a:lnTo>
                      <a:pt x="261937" y="345281"/>
                    </a:lnTo>
                    <a:lnTo>
                      <a:pt x="261937" y="273843"/>
                    </a:lnTo>
                    <a:lnTo>
                      <a:pt x="264745" y="259943"/>
                    </a:lnTo>
                    <a:lnTo>
                      <a:pt x="272401" y="248589"/>
                    </a:lnTo>
                    <a:lnTo>
                      <a:pt x="283755" y="240932"/>
                    </a:lnTo>
                    <a:lnTo>
                      <a:pt x="297656" y="238125"/>
                    </a:lnTo>
                    <a:lnTo>
                      <a:pt x="416718" y="238125"/>
                    </a:lnTo>
                    <a:lnTo>
                      <a:pt x="430619" y="240932"/>
                    </a:lnTo>
                    <a:lnTo>
                      <a:pt x="441973" y="248589"/>
                    </a:lnTo>
                    <a:lnTo>
                      <a:pt x="449629" y="259943"/>
                    </a:lnTo>
                    <a:lnTo>
                      <a:pt x="452437" y="273843"/>
                    </a:lnTo>
                    <a:lnTo>
                      <a:pt x="452437" y="285750"/>
                    </a:lnTo>
                    <a:lnTo>
                      <a:pt x="309562" y="285750"/>
                    </a:lnTo>
                    <a:lnTo>
                      <a:pt x="309562" y="333375"/>
                    </a:lnTo>
                    <a:lnTo>
                      <a:pt x="452437" y="333375"/>
                    </a:lnTo>
                    <a:lnTo>
                      <a:pt x="452437" y="345281"/>
                    </a:lnTo>
                    <a:lnTo>
                      <a:pt x="449629" y="359181"/>
                    </a:lnTo>
                    <a:lnTo>
                      <a:pt x="441973" y="370535"/>
                    </a:lnTo>
                    <a:lnTo>
                      <a:pt x="430619" y="378192"/>
                    </a:lnTo>
                    <a:lnTo>
                      <a:pt x="416718" y="381000"/>
                    </a:lnTo>
                    <a:close/>
                  </a:path>
                  <a:path w="476250" h="381000">
                    <a:moveTo>
                      <a:pt x="214312" y="333375"/>
                    </a:moveTo>
                    <a:lnTo>
                      <a:pt x="166687" y="333375"/>
                    </a:lnTo>
                    <a:lnTo>
                      <a:pt x="166687" y="285750"/>
                    </a:lnTo>
                    <a:lnTo>
                      <a:pt x="214312" y="285750"/>
                    </a:lnTo>
                    <a:lnTo>
                      <a:pt x="214312" y="333375"/>
                    </a:lnTo>
                    <a:close/>
                  </a:path>
                  <a:path w="476250" h="381000">
                    <a:moveTo>
                      <a:pt x="452437" y="333375"/>
                    </a:moveTo>
                    <a:lnTo>
                      <a:pt x="404812" y="333375"/>
                    </a:lnTo>
                    <a:lnTo>
                      <a:pt x="404812" y="285750"/>
                    </a:lnTo>
                    <a:lnTo>
                      <a:pt x="452437" y="285750"/>
                    </a:lnTo>
                    <a:lnTo>
                      <a:pt x="452437" y="33337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A0133A-4F93-188B-72BF-DC7B298FF73C}"/>
              </a:ext>
            </a:extLst>
          </p:cNvPr>
          <p:cNvCxnSpPr/>
          <p:nvPr/>
        </p:nvCxnSpPr>
        <p:spPr>
          <a:xfrm>
            <a:off x="685800" y="761206"/>
            <a:ext cx="0" cy="1524000"/>
          </a:xfrm>
          <a:prstGeom prst="line">
            <a:avLst/>
          </a:prstGeom>
          <a:ln w="5080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698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B69F8-C65E-7B29-1FBE-733CE4A65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CC7C3BA-2893-643A-2D78-E19BF3CAF3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9673" y="956058"/>
            <a:ext cx="8489951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lang="en-US" sz="3600" dirty="0">
                <a:latin typeface="Montserrat" panose="00000500000000000000" pitchFamily="2" charset="0"/>
              </a:rPr>
              <a:t>Model Evaluation and Selection</a:t>
            </a:r>
            <a:endParaRPr sz="3600" dirty="0">
              <a:latin typeface="Montserrat"/>
              <a:cs typeface="Montserrat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EAFBB019-BBDA-A71F-4EF6-2F72D7ECF1C5}"/>
              </a:ext>
            </a:extLst>
          </p:cNvPr>
          <p:cNvGrpSpPr/>
          <p:nvPr/>
        </p:nvGrpSpPr>
        <p:grpSpPr>
          <a:xfrm>
            <a:off x="869654" y="1922569"/>
            <a:ext cx="10363200" cy="685800"/>
            <a:chOff x="914399" y="3390899"/>
            <a:chExt cx="10363200" cy="1066800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0D1BA52-32C5-4F7B-51E8-4D275FA9DF35}"/>
                </a:ext>
              </a:extLst>
            </p:cNvPr>
            <p:cNvSpPr/>
            <p:nvPr/>
          </p:nvSpPr>
          <p:spPr>
            <a:xfrm>
              <a:off x="933449" y="3390899"/>
              <a:ext cx="10344150" cy="1066800"/>
            </a:xfrm>
            <a:custGeom>
              <a:avLst/>
              <a:gdLst/>
              <a:ahLst/>
              <a:cxnLst/>
              <a:rect l="l" t="t" r="r" b="b"/>
              <a:pathLst>
                <a:path w="10344150" h="1066800">
                  <a:moveTo>
                    <a:pt x="10272952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10272952" y="0"/>
                  </a:lnTo>
                  <a:lnTo>
                    <a:pt x="10277906" y="488"/>
                  </a:lnTo>
                  <a:lnTo>
                    <a:pt x="10314440" y="15621"/>
                  </a:lnTo>
                  <a:lnTo>
                    <a:pt x="10340262" y="51661"/>
                  </a:lnTo>
                  <a:lnTo>
                    <a:pt x="10344148" y="71196"/>
                  </a:lnTo>
                  <a:lnTo>
                    <a:pt x="10344148" y="995603"/>
                  </a:lnTo>
                  <a:lnTo>
                    <a:pt x="10328525" y="1037094"/>
                  </a:lnTo>
                  <a:lnTo>
                    <a:pt x="10292486" y="1062913"/>
                  </a:lnTo>
                  <a:lnTo>
                    <a:pt x="10272952" y="1066799"/>
                  </a:lnTo>
                  <a:close/>
                </a:path>
              </a:pathLst>
            </a:custGeom>
            <a:solidFill>
              <a:srgbClr val="FF6A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9FC69729-9D71-DF1E-6ED8-907BAF56BFA5}"/>
                </a:ext>
              </a:extLst>
            </p:cNvPr>
            <p:cNvSpPr/>
            <p:nvPr/>
          </p:nvSpPr>
          <p:spPr>
            <a:xfrm>
              <a:off x="914399" y="3390899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099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66799"/>
                  </a:lnTo>
                  <a:close/>
                </a:path>
              </a:pathLst>
            </a:custGeom>
            <a:solidFill>
              <a:srgbClr val="FF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98CD42F6-B807-D6AC-CC7E-F4BC2800B63A}"/>
              </a:ext>
            </a:extLst>
          </p:cNvPr>
          <p:cNvSpPr txBox="1"/>
          <p:nvPr/>
        </p:nvSpPr>
        <p:spPr>
          <a:xfrm>
            <a:off x="10689232" y="67889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2593AA-4E4B-2101-05BC-A2EF8E7A367A}"/>
              </a:ext>
            </a:extLst>
          </p:cNvPr>
          <p:cNvSpPr txBox="1"/>
          <p:nvPr/>
        </p:nvSpPr>
        <p:spPr>
          <a:xfrm>
            <a:off x="1793581" y="2001383"/>
            <a:ext cx="3769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Model requirement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D173A5-086E-1E80-FF5E-E363690C38D9}"/>
              </a:ext>
            </a:extLst>
          </p:cNvPr>
          <p:cNvSpPr txBox="1"/>
          <p:nvPr/>
        </p:nvSpPr>
        <p:spPr>
          <a:xfrm>
            <a:off x="1654277" y="34282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BB45883-1284-411A-8257-8E4A45278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094142"/>
              </p:ext>
            </p:extLst>
          </p:nvPr>
        </p:nvGraphicFramePr>
        <p:xfrm>
          <a:off x="908868" y="2995104"/>
          <a:ext cx="10363200" cy="278796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287890120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1437761896"/>
                    </a:ext>
                  </a:extLst>
                </a:gridCol>
              </a:tblGrid>
              <a:tr h="514538">
                <a:tc>
                  <a:txBody>
                    <a:bodyPr/>
                    <a:lstStyle/>
                    <a:p>
                      <a:r>
                        <a:rPr lang="en-US" sz="20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Needs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812279"/>
                  </a:ext>
                </a:extLst>
              </a:tr>
              <a:tr h="1136713">
                <a:tc>
                  <a:txBody>
                    <a:bodyPr/>
                    <a:lstStyle/>
                    <a:p>
                      <a:r>
                        <a:rPr lang="en-US" dirty="0"/>
                        <a:t>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🔸 Fast response (≤ 100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)</a:t>
                      </a:r>
                      <a:br>
                        <a:rPr lang="en-US" dirty="0"/>
                      </a:br>
                      <a:r>
                        <a:rPr lang="en-US" dirty="0"/>
                        <a:t>🔸 Support for beginner guitar notes</a:t>
                      </a:r>
                      <a:br>
                        <a:rPr lang="en-US" dirty="0"/>
                      </a:br>
                      <a:r>
                        <a:rPr lang="en-US" dirty="0"/>
                        <a:t>🔸 Lightweight for mobile 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188150"/>
                  </a:ext>
                </a:extLst>
              </a:tr>
              <a:tr h="1136713">
                <a:tc>
                  <a:txBody>
                    <a:bodyPr/>
                    <a:lstStyle/>
                    <a:p>
                      <a:r>
                        <a:rPr lang="en-US" dirty="0"/>
                        <a:t>Admin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🔸 Accurate note extraction from full recordings</a:t>
                      </a:r>
                      <a:br>
                        <a:rPr lang="en-US" dirty="0"/>
                      </a:br>
                      <a:r>
                        <a:rPr lang="en-US" dirty="0"/>
                        <a:t>🔸 Polyphonic audio handling</a:t>
                      </a:r>
                      <a:br>
                        <a:rPr lang="en-US" dirty="0"/>
                      </a:br>
                      <a:r>
                        <a:rPr lang="en-US" dirty="0"/>
                        <a:t>🔸 Offline processing is acceptable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99645"/>
                  </a:ext>
                </a:extLst>
              </a:tr>
            </a:tbl>
          </a:graphicData>
        </a:graphic>
      </p:graphicFrame>
      <p:pic>
        <p:nvPicPr>
          <p:cNvPr id="25" name="Graphic 24" descr="Robot outline">
            <a:extLst>
              <a:ext uri="{FF2B5EF4-FFF2-40B4-BE49-F238E27FC236}">
                <a16:creationId xmlns:a16="http://schemas.microsoft.com/office/drawing/2014/main" id="{D7A6C9A4-E58C-4232-DCA0-C3920C9C1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650" y="1922569"/>
            <a:ext cx="685800" cy="685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AB63F2-045E-176B-9C40-76CC22F99E9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8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9673" y="956058"/>
            <a:ext cx="8489951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lang="en-US" sz="3600" dirty="0">
                <a:latin typeface="Montserrat" panose="00000500000000000000" pitchFamily="2" charset="0"/>
              </a:rPr>
              <a:t>Model Evaluation and Selection</a:t>
            </a:r>
            <a:endParaRPr sz="3600" dirty="0">
              <a:latin typeface="Montserrat"/>
              <a:cs typeface="Montserra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29046" y="1883309"/>
            <a:ext cx="10363200" cy="685800"/>
            <a:chOff x="914399" y="4610099"/>
            <a:chExt cx="10363200" cy="1066800"/>
          </a:xfrm>
        </p:grpSpPr>
        <p:sp>
          <p:nvSpPr>
            <p:cNvPr id="12" name="object 12"/>
            <p:cNvSpPr/>
            <p:nvPr/>
          </p:nvSpPr>
          <p:spPr>
            <a:xfrm>
              <a:off x="933449" y="4610099"/>
              <a:ext cx="10344150" cy="1066800"/>
            </a:xfrm>
            <a:custGeom>
              <a:avLst/>
              <a:gdLst/>
              <a:ahLst/>
              <a:cxnLst/>
              <a:rect l="l" t="t" r="r" b="b"/>
              <a:pathLst>
                <a:path w="10344150" h="1066800">
                  <a:moveTo>
                    <a:pt x="10272952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10272952" y="0"/>
                  </a:lnTo>
                  <a:lnTo>
                    <a:pt x="10277906" y="488"/>
                  </a:lnTo>
                  <a:lnTo>
                    <a:pt x="10314440" y="15621"/>
                  </a:lnTo>
                  <a:lnTo>
                    <a:pt x="10340262" y="51661"/>
                  </a:lnTo>
                  <a:lnTo>
                    <a:pt x="10344148" y="71196"/>
                  </a:lnTo>
                  <a:lnTo>
                    <a:pt x="10344148" y="995603"/>
                  </a:lnTo>
                  <a:lnTo>
                    <a:pt x="10328525" y="1037094"/>
                  </a:lnTo>
                  <a:lnTo>
                    <a:pt x="10292486" y="1062913"/>
                  </a:lnTo>
                  <a:lnTo>
                    <a:pt x="10272952" y="1066799"/>
                  </a:lnTo>
                  <a:close/>
                </a:path>
              </a:pathLst>
            </a:custGeom>
            <a:solidFill>
              <a:srgbClr val="FF6A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4399" y="4610099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099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66799"/>
                  </a:lnTo>
                  <a:close/>
                </a:path>
              </a:pathLst>
            </a:custGeom>
            <a:solidFill>
              <a:srgbClr val="FF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0689232" y="67889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2A08BA-4D49-3E1E-F8D1-9BC1C72F2359}"/>
              </a:ext>
            </a:extLst>
          </p:cNvPr>
          <p:cNvSpPr txBox="1"/>
          <p:nvPr/>
        </p:nvSpPr>
        <p:spPr>
          <a:xfrm>
            <a:off x="1790698" y="1978313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Datasets for Model Evaluation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CBE0C05-BD04-9653-0BC9-2E26E796A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066068"/>
              </p:ext>
            </p:extLst>
          </p:nvPr>
        </p:nvGraphicFramePr>
        <p:xfrm>
          <a:off x="914399" y="2840323"/>
          <a:ext cx="10363200" cy="258071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3018455944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186628306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79568440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652812980"/>
                    </a:ext>
                  </a:extLst>
                </a:gridCol>
              </a:tblGrid>
              <a:tr h="587883"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826318"/>
                  </a:ext>
                </a:extLst>
              </a:tr>
              <a:tr h="996418">
                <a:tc>
                  <a:txBody>
                    <a:bodyPr/>
                    <a:lstStyle/>
                    <a:p>
                      <a:r>
                        <a:rPr lang="en-US" dirty="0"/>
                        <a:t>Guitar Notes (Kaggle)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Monophonic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Mobile app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1,452 samples (E2–A5), 44.1 kHz, focus on beginner 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761249"/>
                  </a:ext>
                </a:extLst>
              </a:tr>
              <a:tr h="996418">
                <a:tc>
                  <a:txBody>
                    <a:bodyPr/>
                    <a:lstStyle/>
                    <a:p>
                      <a:r>
                        <a:rPr lang="en-US" dirty="0" err="1"/>
                        <a:t>MusicNet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Polyphonic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classical recordings, 13,589 notes, full MIDI annotations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775893"/>
                  </a:ext>
                </a:extLst>
              </a:tr>
            </a:tbl>
          </a:graphicData>
        </a:graphic>
      </p:graphicFrame>
      <p:pic>
        <p:nvPicPr>
          <p:cNvPr id="26" name="Graphic 25" descr="Headphones outline">
            <a:extLst>
              <a:ext uri="{FF2B5EF4-FFF2-40B4-BE49-F238E27FC236}">
                <a16:creationId xmlns:a16="http://schemas.microsoft.com/office/drawing/2014/main" id="{E2C93F45-10F9-91EA-09CA-55E9448E1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363" y="1923254"/>
            <a:ext cx="685800" cy="685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435AA7-A003-BDC2-3F9D-A528425457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ACA3E-6F9E-624F-9F89-8575D18E0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CF67F3-FBF3-4373-13E8-798764FDD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9673" y="956058"/>
            <a:ext cx="8489951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lang="en-US" sz="3600" dirty="0">
                <a:latin typeface="Montserrat" panose="00000500000000000000" pitchFamily="2" charset="0"/>
              </a:rPr>
              <a:t>Model Evaluation and Selection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01F5B6D0-6496-DD30-2A01-0A4E71B3EF92}"/>
              </a:ext>
            </a:extLst>
          </p:cNvPr>
          <p:cNvSpPr txBox="1"/>
          <p:nvPr/>
        </p:nvSpPr>
        <p:spPr>
          <a:xfrm>
            <a:off x="10689232" y="67889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grpSp>
        <p:nvGrpSpPr>
          <p:cNvPr id="17" name="object 11">
            <a:extLst>
              <a:ext uri="{FF2B5EF4-FFF2-40B4-BE49-F238E27FC236}">
                <a16:creationId xmlns:a16="http://schemas.microsoft.com/office/drawing/2014/main" id="{BA1F000F-3EB2-813F-3CDB-7739056D3BE0}"/>
              </a:ext>
            </a:extLst>
          </p:cNvPr>
          <p:cNvGrpSpPr/>
          <p:nvPr/>
        </p:nvGrpSpPr>
        <p:grpSpPr>
          <a:xfrm>
            <a:off x="914399" y="1904206"/>
            <a:ext cx="10363200" cy="685800"/>
            <a:chOff x="914399" y="4610099"/>
            <a:chExt cx="10363200" cy="1066800"/>
          </a:xfrm>
        </p:grpSpPr>
        <p:sp>
          <p:nvSpPr>
            <p:cNvPr id="18" name="object 12">
              <a:extLst>
                <a:ext uri="{FF2B5EF4-FFF2-40B4-BE49-F238E27FC236}">
                  <a16:creationId xmlns:a16="http://schemas.microsoft.com/office/drawing/2014/main" id="{E60C9EAD-FE43-B309-26C3-9ED8E5716233}"/>
                </a:ext>
              </a:extLst>
            </p:cNvPr>
            <p:cNvSpPr/>
            <p:nvPr/>
          </p:nvSpPr>
          <p:spPr>
            <a:xfrm>
              <a:off x="933449" y="4610099"/>
              <a:ext cx="10344150" cy="1066800"/>
            </a:xfrm>
            <a:custGeom>
              <a:avLst/>
              <a:gdLst/>
              <a:ahLst/>
              <a:cxnLst/>
              <a:rect l="l" t="t" r="r" b="b"/>
              <a:pathLst>
                <a:path w="10344150" h="1066800">
                  <a:moveTo>
                    <a:pt x="10272952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10272952" y="0"/>
                  </a:lnTo>
                  <a:lnTo>
                    <a:pt x="10277906" y="488"/>
                  </a:lnTo>
                  <a:lnTo>
                    <a:pt x="10314440" y="15621"/>
                  </a:lnTo>
                  <a:lnTo>
                    <a:pt x="10340262" y="51661"/>
                  </a:lnTo>
                  <a:lnTo>
                    <a:pt x="10344148" y="71196"/>
                  </a:lnTo>
                  <a:lnTo>
                    <a:pt x="10344148" y="995603"/>
                  </a:lnTo>
                  <a:lnTo>
                    <a:pt x="10328525" y="1037094"/>
                  </a:lnTo>
                  <a:lnTo>
                    <a:pt x="10292486" y="1062913"/>
                  </a:lnTo>
                  <a:lnTo>
                    <a:pt x="10272952" y="1066799"/>
                  </a:lnTo>
                  <a:close/>
                </a:path>
              </a:pathLst>
            </a:custGeom>
            <a:solidFill>
              <a:srgbClr val="FF6A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3">
              <a:extLst>
                <a:ext uri="{FF2B5EF4-FFF2-40B4-BE49-F238E27FC236}">
                  <a16:creationId xmlns:a16="http://schemas.microsoft.com/office/drawing/2014/main" id="{BF6598D5-8733-AB21-0507-DC0B6241B8F8}"/>
                </a:ext>
              </a:extLst>
            </p:cNvPr>
            <p:cNvSpPr/>
            <p:nvPr/>
          </p:nvSpPr>
          <p:spPr>
            <a:xfrm>
              <a:off x="914399" y="4610099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099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66799"/>
                  </a:lnTo>
                  <a:close/>
                </a:path>
              </a:pathLst>
            </a:custGeom>
            <a:solidFill>
              <a:srgbClr val="FF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Graphic 22" descr="Checklist outline">
            <a:extLst>
              <a:ext uri="{FF2B5EF4-FFF2-40B4-BE49-F238E27FC236}">
                <a16:creationId xmlns:a16="http://schemas.microsoft.com/office/drawing/2014/main" id="{FA3A1E64-AAF5-8C3B-A071-1142CAD64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884" y="1927993"/>
            <a:ext cx="691515" cy="6915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68DF4C6-78DD-923B-1379-B4A2E206CB59}"/>
              </a:ext>
            </a:extLst>
          </p:cNvPr>
          <p:cNvSpPr txBox="1"/>
          <p:nvPr/>
        </p:nvSpPr>
        <p:spPr>
          <a:xfrm>
            <a:off x="1727834" y="1985532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Model Evaluation Summary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F7A8D44-FEEC-479F-D3B0-299563A94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125795"/>
              </p:ext>
            </p:extLst>
          </p:nvPr>
        </p:nvGraphicFramePr>
        <p:xfrm>
          <a:off x="914399" y="2817242"/>
          <a:ext cx="10363200" cy="313999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43001">
                  <a:extLst>
                    <a:ext uri="{9D8B030D-6E8A-4147-A177-3AD203B41FA5}">
                      <a16:colId xmlns:a16="http://schemas.microsoft.com/office/drawing/2014/main" val="186521363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28803135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019639845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629415583"/>
                    </a:ext>
                  </a:extLst>
                </a:gridCol>
                <a:gridCol w="2590799">
                  <a:extLst>
                    <a:ext uri="{9D8B030D-6E8A-4147-A177-3AD203B41FA5}">
                      <a16:colId xmlns:a16="http://schemas.microsoft.com/office/drawing/2014/main" val="1031663804"/>
                    </a:ext>
                  </a:extLst>
                </a:gridCol>
              </a:tblGrid>
              <a:tr h="516662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Suitable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828269"/>
                  </a:ext>
                </a:extLst>
              </a:tr>
              <a:tr h="794535">
                <a:tc>
                  <a:txBody>
                    <a:bodyPr/>
                    <a:lstStyle/>
                    <a:p>
                      <a:r>
                        <a:rPr lang="en-US" dirty="0"/>
                        <a:t>CREPE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 </a:t>
                      </a:r>
                      <a:r>
                        <a:rPr lang="en-US" dirty="0" err="1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4–8 </a:t>
                      </a:r>
                      <a:r>
                        <a:rPr lang="en-US" dirty="0" err="1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Mobile app, real time, monophonic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Excellent for high notes (84%), poor for low (5.95%)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932367"/>
                  </a:ext>
                </a:extLst>
              </a:tr>
              <a:tr h="794535">
                <a:tc>
                  <a:txBody>
                    <a:bodyPr/>
                    <a:lstStyle/>
                    <a:p>
                      <a:r>
                        <a:rPr lang="en-US" dirty="0"/>
                        <a:t>Basic Pitch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– 10s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 portal, Short-segment 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Acceptable accuracy, not suitable for real-time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146207"/>
                  </a:ext>
                </a:extLst>
              </a:tr>
              <a:tr h="794535">
                <a:tc>
                  <a:txBody>
                    <a:bodyPr/>
                    <a:lstStyle/>
                    <a:p>
                      <a:r>
                        <a:rPr lang="en-US" dirty="0" err="1"/>
                        <a:t>Omnizart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10s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Admin portal, polyphonic transcription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Highest accuracy, Heavier, not mobile-suitable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0886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058764-1D5F-2E49-0AF0-CC6421EA9E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6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F586C-9ED5-8ADE-1BBE-87EAAFD56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E1C139C-9091-AD48-CE9F-368A9CE81F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9673" y="956058"/>
            <a:ext cx="8489951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lang="en-US" sz="3600" dirty="0">
                <a:latin typeface="Montserrat" panose="00000500000000000000" pitchFamily="2" charset="0"/>
              </a:rPr>
              <a:t>Model Evaluation and Selection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6CE055BC-4244-C03F-5E9E-38D0A82B7A30}"/>
              </a:ext>
            </a:extLst>
          </p:cNvPr>
          <p:cNvSpPr txBox="1"/>
          <p:nvPr/>
        </p:nvSpPr>
        <p:spPr>
          <a:xfrm>
            <a:off x="10689232" y="67889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grpSp>
        <p:nvGrpSpPr>
          <p:cNvPr id="17" name="object 11">
            <a:extLst>
              <a:ext uri="{FF2B5EF4-FFF2-40B4-BE49-F238E27FC236}">
                <a16:creationId xmlns:a16="http://schemas.microsoft.com/office/drawing/2014/main" id="{CC9B5ADD-E954-B6C4-55DD-8DEE6DB3B1B6}"/>
              </a:ext>
            </a:extLst>
          </p:cNvPr>
          <p:cNvGrpSpPr/>
          <p:nvPr/>
        </p:nvGrpSpPr>
        <p:grpSpPr>
          <a:xfrm>
            <a:off x="919315" y="1866970"/>
            <a:ext cx="10363200" cy="685800"/>
            <a:chOff x="914399" y="4610099"/>
            <a:chExt cx="10363200" cy="1066800"/>
          </a:xfrm>
        </p:grpSpPr>
        <p:sp>
          <p:nvSpPr>
            <p:cNvPr id="18" name="object 12">
              <a:extLst>
                <a:ext uri="{FF2B5EF4-FFF2-40B4-BE49-F238E27FC236}">
                  <a16:creationId xmlns:a16="http://schemas.microsoft.com/office/drawing/2014/main" id="{DC172402-5245-0431-9386-BAC8EDF36AFC}"/>
                </a:ext>
              </a:extLst>
            </p:cNvPr>
            <p:cNvSpPr/>
            <p:nvPr/>
          </p:nvSpPr>
          <p:spPr>
            <a:xfrm>
              <a:off x="933449" y="4610099"/>
              <a:ext cx="10344150" cy="1066800"/>
            </a:xfrm>
            <a:custGeom>
              <a:avLst/>
              <a:gdLst/>
              <a:ahLst/>
              <a:cxnLst/>
              <a:rect l="l" t="t" r="r" b="b"/>
              <a:pathLst>
                <a:path w="10344150" h="1066800">
                  <a:moveTo>
                    <a:pt x="10272952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10272952" y="0"/>
                  </a:lnTo>
                  <a:lnTo>
                    <a:pt x="10277906" y="488"/>
                  </a:lnTo>
                  <a:lnTo>
                    <a:pt x="10314440" y="15621"/>
                  </a:lnTo>
                  <a:lnTo>
                    <a:pt x="10340262" y="51661"/>
                  </a:lnTo>
                  <a:lnTo>
                    <a:pt x="10344148" y="71196"/>
                  </a:lnTo>
                  <a:lnTo>
                    <a:pt x="10344148" y="995603"/>
                  </a:lnTo>
                  <a:lnTo>
                    <a:pt x="10328525" y="1037094"/>
                  </a:lnTo>
                  <a:lnTo>
                    <a:pt x="10292486" y="1062913"/>
                  </a:lnTo>
                  <a:lnTo>
                    <a:pt x="10272952" y="1066799"/>
                  </a:lnTo>
                  <a:close/>
                </a:path>
              </a:pathLst>
            </a:custGeom>
            <a:solidFill>
              <a:srgbClr val="FF6A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3">
              <a:extLst>
                <a:ext uri="{FF2B5EF4-FFF2-40B4-BE49-F238E27FC236}">
                  <a16:creationId xmlns:a16="http://schemas.microsoft.com/office/drawing/2014/main" id="{E2BCFA07-7403-3327-73F5-B68067468B0A}"/>
                </a:ext>
              </a:extLst>
            </p:cNvPr>
            <p:cNvSpPr/>
            <p:nvPr/>
          </p:nvSpPr>
          <p:spPr>
            <a:xfrm>
              <a:off x="914399" y="4610099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099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66799"/>
                  </a:lnTo>
                  <a:close/>
                </a:path>
              </a:pathLst>
            </a:custGeom>
            <a:solidFill>
              <a:srgbClr val="FF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1E3D2E9-9F7B-F6EF-0B99-987C06571EC4}"/>
              </a:ext>
            </a:extLst>
          </p:cNvPr>
          <p:cNvSpPr txBox="1"/>
          <p:nvPr/>
        </p:nvSpPr>
        <p:spPr>
          <a:xfrm>
            <a:off x="1727834" y="1985532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Model Selection</a:t>
            </a:r>
          </a:p>
        </p:txBody>
      </p:sp>
      <p:pic>
        <p:nvPicPr>
          <p:cNvPr id="6" name="Graphic 5" descr="Lights On outline">
            <a:extLst>
              <a:ext uri="{FF2B5EF4-FFF2-40B4-BE49-F238E27FC236}">
                <a16:creationId xmlns:a16="http://schemas.microsoft.com/office/drawing/2014/main" id="{6D585B15-4A66-B4B4-07C9-8DD187E71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902" y="1915518"/>
            <a:ext cx="601691" cy="60169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DA87C4-0151-A234-2AC6-672BF9F13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638014"/>
              </p:ext>
            </p:extLst>
          </p:nvPr>
        </p:nvGraphicFramePr>
        <p:xfrm>
          <a:off x="919315" y="2892560"/>
          <a:ext cx="10363200" cy="198344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47685">
                  <a:extLst>
                    <a:ext uri="{9D8B030D-6E8A-4147-A177-3AD203B41FA5}">
                      <a16:colId xmlns:a16="http://schemas.microsoft.com/office/drawing/2014/main" val="760049348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3697363943"/>
                    </a:ext>
                  </a:extLst>
                </a:gridCol>
                <a:gridCol w="4576915">
                  <a:extLst>
                    <a:ext uri="{9D8B030D-6E8A-4147-A177-3AD203B41FA5}">
                      <a16:colId xmlns:a16="http://schemas.microsoft.com/office/drawing/2014/main" val="4170118666"/>
                    </a:ext>
                  </a:extLst>
                </a:gridCol>
              </a:tblGrid>
              <a:tr h="661148">
                <a:tc>
                  <a:txBody>
                    <a:bodyPr/>
                    <a:lstStyle/>
                    <a:p>
                      <a:r>
                        <a:rPr lang="en-US" dirty="0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Selected Model(s)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220051"/>
                  </a:ext>
                </a:extLst>
              </a:tr>
              <a:tr h="661148">
                <a:tc>
                  <a:txBody>
                    <a:bodyPr/>
                    <a:lstStyle/>
                    <a:p>
                      <a:r>
                        <a:rPr lang="en-US" dirty="0"/>
                        <a:t>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Crepe + custom CNN low note 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time, improve low note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205544"/>
                  </a:ext>
                </a:extLst>
              </a:tr>
              <a:tr h="661148">
                <a:tc>
                  <a:txBody>
                    <a:bodyPr/>
                    <a:lstStyle/>
                    <a:p>
                      <a:r>
                        <a:rPr lang="en-US" dirty="0"/>
                        <a:t>Admin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Omnizart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 f1 score, accurate full transcribe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31031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BEAAD2-2F8B-E641-FBC5-AD39829CA9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7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376A60-999D-498E-A9FD-809696F6C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5217E87-F7E2-8D58-6D80-31A61ED035E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38200" y="761206"/>
            <a:ext cx="6735445" cy="16232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6450"/>
              </a:lnSpc>
              <a:spcBef>
                <a:spcPts val="229"/>
              </a:spcBef>
              <a:tabLst>
                <a:tab pos="848994" algn="l"/>
                <a:tab pos="3107690" algn="l"/>
              </a:tabLst>
            </a:pPr>
            <a:r>
              <a:rPr lang="en-US" sz="4400" dirty="0">
                <a:solidFill>
                  <a:schemeClr val="accent6"/>
                </a:solidFill>
                <a:latin typeface="Montserrat" panose="00000500000000000000" pitchFamily="2" charset="0"/>
              </a:rPr>
              <a:t>Implementation of core functions</a:t>
            </a:r>
            <a:endParaRPr sz="4400" dirty="0">
              <a:solidFill>
                <a:schemeClr val="accent6"/>
              </a:solidFill>
              <a:latin typeface="DejaVu Sans"/>
              <a:cs typeface="DejaVu San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AD44413-EE65-9941-D007-1A463EBF0204}"/>
              </a:ext>
            </a:extLst>
          </p:cNvPr>
          <p:cNvSpPr txBox="1"/>
          <p:nvPr/>
        </p:nvSpPr>
        <p:spPr>
          <a:xfrm>
            <a:off x="838200" y="2702662"/>
            <a:ext cx="6196965" cy="301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lang="en-US" dirty="0">
                <a:solidFill>
                  <a:srgbClr val="666666"/>
                </a:solidFill>
                <a:latin typeface="DejaVu Sans"/>
                <a:cs typeface="DejaVu Sans"/>
              </a:rPr>
              <a:t>Mobile and admin web portal (don’t contain CRUD)</a:t>
            </a:r>
            <a:endParaRPr dirty="0">
              <a:latin typeface="DejaVu Sans"/>
              <a:cs typeface="DejaVu San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5ECFAF4-49A3-D45C-AB7E-6CBEF857395C}"/>
              </a:ext>
            </a:extLst>
          </p:cNvPr>
          <p:cNvGrpSpPr/>
          <p:nvPr/>
        </p:nvGrpSpPr>
        <p:grpSpPr>
          <a:xfrm>
            <a:off x="7239000" y="2785685"/>
            <a:ext cx="3861436" cy="3372644"/>
            <a:chOff x="9905999" y="2571749"/>
            <a:chExt cx="1714500" cy="1714501"/>
          </a:xfrm>
        </p:grpSpPr>
        <p:grpSp>
          <p:nvGrpSpPr>
            <p:cNvPr id="4" name="object 4">
              <a:extLst>
                <a:ext uri="{FF2B5EF4-FFF2-40B4-BE49-F238E27FC236}">
                  <a16:creationId xmlns:a16="http://schemas.microsoft.com/office/drawing/2014/main" id="{36132B63-CF8C-2725-4BE5-DE8F9E2764BF}"/>
                </a:ext>
              </a:extLst>
            </p:cNvPr>
            <p:cNvGrpSpPr/>
            <p:nvPr/>
          </p:nvGrpSpPr>
          <p:grpSpPr>
            <a:xfrm>
              <a:off x="9905999" y="2571749"/>
              <a:ext cx="762000" cy="762000"/>
              <a:chOff x="9905999" y="2571749"/>
              <a:chExt cx="762000" cy="762000"/>
            </a:xfrm>
          </p:grpSpPr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1788322F-4120-BB2A-59DE-9EB3FC3C4AEF}"/>
                  </a:ext>
                </a:extLst>
              </p:cNvPr>
              <p:cNvSpPr/>
              <p:nvPr/>
            </p:nvSpPr>
            <p:spPr>
              <a:xfrm>
                <a:off x="9905999" y="2571749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2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2"/>
                    </a:lnTo>
                    <a:lnTo>
                      <a:pt x="761999" y="88995"/>
                    </a:lnTo>
                    <a:lnTo>
                      <a:pt x="761999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3CA4726E-7BA7-3B20-C049-7BD8EE094FA4}"/>
                  </a:ext>
                </a:extLst>
              </p:cNvPr>
              <p:cNvSpPr/>
              <p:nvPr/>
            </p:nvSpPr>
            <p:spPr>
              <a:xfrm>
                <a:off x="10077449" y="2762249"/>
                <a:ext cx="4286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81000">
                    <a:moveTo>
                      <a:pt x="381000" y="309562"/>
                    </a:moveTo>
                    <a:lnTo>
                      <a:pt x="47625" y="309562"/>
                    </a:lnTo>
                    <a:lnTo>
                      <a:pt x="29101" y="305815"/>
                    </a:lnTo>
                    <a:lnTo>
                      <a:pt x="13961" y="295600"/>
                    </a:lnTo>
                    <a:lnTo>
                      <a:pt x="3747" y="280460"/>
                    </a:lnTo>
                    <a:lnTo>
                      <a:pt x="0" y="261937"/>
                    </a:lnTo>
                    <a:lnTo>
                      <a:pt x="0" y="47625"/>
                    </a:lnTo>
                    <a:lnTo>
                      <a:pt x="3747" y="29101"/>
                    </a:lnTo>
                    <a:lnTo>
                      <a:pt x="13961" y="13961"/>
                    </a:lnTo>
                    <a:lnTo>
                      <a:pt x="29101" y="3747"/>
                    </a:lnTo>
                    <a:lnTo>
                      <a:pt x="47625" y="0"/>
                    </a:lnTo>
                    <a:lnTo>
                      <a:pt x="381000" y="0"/>
                    </a:lnTo>
                    <a:lnTo>
                      <a:pt x="399523" y="3747"/>
                    </a:lnTo>
                    <a:lnTo>
                      <a:pt x="414663" y="13961"/>
                    </a:lnTo>
                    <a:lnTo>
                      <a:pt x="424877" y="29101"/>
                    </a:lnTo>
                    <a:lnTo>
                      <a:pt x="428625" y="47625"/>
                    </a:lnTo>
                    <a:lnTo>
                      <a:pt x="47625" y="47625"/>
                    </a:lnTo>
                    <a:lnTo>
                      <a:pt x="47625" y="214312"/>
                    </a:lnTo>
                    <a:lnTo>
                      <a:pt x="428625" y="214312"/>
                    </a:lnTo>
                    <a:lnTo>
                      <a:pt x="428625" y="261937"/>
                    </a:lnTo>
                    <a:lnTo>
                      <a:pt x="424877" y="280460"/>
                    </a:lnTo>
                    <a:lnTo>
                      <a:pt x="414663" y="295600"/>
                    </a:lnTo>
                    <a:lnTo>
                      <a:pt x="399523" y="305815"/>
                    </a:lnTo>
                    <a:lnTo>
                      <a:pt x="381000" y="309562"/>
                    </a:lnTo>
                    <a:close/>
                  </a:path>
                  <a:path w="428625" h="381000">
                    <a:moveTo>
                      <a:pt x="428625" y="214312"/>
                    </a:moveTo>
                    <a:lnTo>
                      <a:pt x="381000" y="214312"/>
                    </a:lnTo>
                    <a:lnTo>
                      <a:pt x="381000" y="47625"/>
                    </a:lnTo>
                    <a:lnTo>
                      <a:pt x="428625" y="47625"/>
                    </a:lnTo>
                    <a:lnTo>
                      <a:pt x="428625" y="214312"/>
                    </a:lnTo>
                    <a:close/>
                  </a:path>
                  <a:path w="428625" h="381000">
                    <a:moveTo>
                      <a:pt x="257993" y="333375"/>
                    </a:moveTo>
                    <a:lnTo>
                      <a:pt x="170631" y="333375"/>
                    </a:lnTo>
                    <a:lnTo>
                      <a:pt x="178593" y="309562"/>
                    </a:lnTo>
                    <a:lnTo>
                      <a:pt x="250031" y="309562"/>
                    </a:lnTo>
                    <a:lnTo>
                      <a:pt x="257993" y="333375"/>
                    </a:lnTo>
                    <a:close/>
                  </a:path>
                  <a:path w="428625" h="381000">
                    <a:moveTo>
                      <a:pt x="309562" y="381000"/>
                    </a:moveTo>
                    <a:lnTo>
                      <a:pt x="119062" y="381000"/>
                    </a:lnTo>
                    <a:lnTo>
                      <a:pt x="109785" y="379131"/>
                    </a:lnTo>
                    <a:lnTo>
                      <a:pt x="102217" y="374033"/>
                    </a:lnTo>
                    <a:lnTo>
                      <a:pt x="97118" y="366464"/>
                    </a:lnTo>
                    <a:lnTo>
                      <a:pt x="95250" y="357187"/>
                    </a:lnTo>
                    <a:lnTo>
                      <a:pt x="97118" y="347910"/>
                    </a:lnTo>
                    <a:lnTo>
                      <a:pt x="102217" y="340342"/>
                    </a:lnTo>
                    <a:lnTo>
                      <a:pt x="109785" y="335243"/>
                    </a:lnTo>
                    <a:lnTo>
                      <a:pt x="119062" y="333375"/>
                    </a:lnTo>
                    <a:lnTo>
                      <a:pt x="309562" y="333375"/>
                    </a:lnTo>
                    <a:lnTo>
                      <a:pt x="318839" y="335243"/>
                    </a:lnTo>
                    <a:lnTo>
                      <a:pt x="326408" y="340342"/>
                    </a:lnTo>
                    <a:lnTo>
                      <a:pt x="331506" y="347910"/>
                    </a:lnTo>
                    <a:lnTo>
                      <a:pt x="333375" y="357187"/>
                    </a:lnTo>
                    <a:lnTo>
                      <a:pt x="331506" y="366464"/>
                    </a:lnTo>
                    <a:lnTo>
                      <a:pt x="326408" y="374033"/>
                    </a:lnTo>
                    <a:lnTo>
                      <a:pt x="318839" y="379131"/>
                    </a:lnTo>
                    <a:lnTo>
                      <a:pt x="309562" y="3810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" name="object 7">
              <a:extLst>
                <a:ext uri="{FF2B5EF4-FFF2-40B4-BE49-F238E27FC236}">
                  <a16:creationId xmlns:a16="http://schemas.microsoft.com/office/drawing/2014/main" id="{6F5B3A3D-6BD5-541B-D0CB-C35A6874072A}"/>
                </a:ext>
              </a:extLst>
            </p:cNvPr>
            <p:cNvGrpSpPr/>
            <p:nvPr/>
          </p:nvGrpSpPr>
          <p:grpSpPr>
            <a:xfrm>
              <a:off x="10858499" y="2571749"/>
              <a:ext cx="762000" cy="762000"/>
              <a:chOff x="10858499" y="2571749"/>
              <a:chExt cx="762000" cy="762000"/>
            </a:xfrm>
          </p:grpSpPr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3D8337E4-DD40-9713-3A9C-89DF82C80899}"/>
                  </a:ext>
                </a:extLst>
              </p:cNvPr>
              <p:cNvSpPr/>
              <p:nvPr/>
            </p:nvSpPr>
            <p:spPr>
              <a:xfrm>
                <a:off x="10858499" y="2571749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2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2"/>
                    </a:lnTo>
                    <a:lnTo>
                      <a:pt x="762000" y="88995"/>
                    </a:lnTo>
                    <a:lnTo>
                      <a:pt x="762000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3A799DA5-5EA2-C6AE-BCDA-CB662B021069}"/>
                  </a:ext>
                </a:extLst>
              </p:cNvPr>
              <p:cNvSpPr/>
              <p:nvPr/>
            </p:nvSpPr>
            <p:spPr>
              <a:xfrm>
                <a:off x="11048999" y="2786062"/>
                <a:ext cx="38100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33375">
                    <a:moveTo>
                      <a:pt x="333375" y="142875"/>
                    </a:moveTo>
                    <a:lnTo>
                      <a:pt x="47625" y="142875"/>
                    </a:lnTo>
                    <a:lnTo>
                      <a:pt x="29101" y="139127"/>
                    </a:lnTo>
                    <a:lnTo>
                      <a:pt x="13961" y="128913"/>
                    </a:lnTo>
                    <a:lnTo>
                      <a:pt x="3747" y="113773"/>
                    </a:lnTo>
                    <a:lnTo>
                      <a:pt x="0" y="95250"/>
                    </a:lnTo>
                    <a:lnTo>
                      <a:pt x="0" y="47625"/>
                    </a:lnTo>
                    <a:lnTo>
                      <a:pt x="3747" y="29101"/>
                    </a:lnTo>
                    <a:lnTo>
                      <a:pt x="13961" y="13961"/>
                    </a:lnTo>
                    <a:lnTo>
                      <a:pt x="29101" y="3747"/>
                    </a:lnTo>
                    <a:lnTo>
                      <a:pt x="47625" y="0"/>
                    </a:lnTo>
                    <a:lnTo>
                      <a:pt x="333375" y="0"/>
                    </a:lnTo>
                    <a:lnTo>
                      <a:pt x="351898" y="3747"/>
                    </a:lnTo>
                    <a:lnTo>
                      <a:pt x="367038" y="13961"/>
                    </a:lnTo>
                    <a:lnTo>
                      <a:pt x="377252" y="29101"/>
                    </a:lnTo>
                    <a:lnTo>
                      <a:pt x="381000" y="47625"/>
                    </a:lnTo>
                    <a:lnTo>
                      <a:pt x="381000" y="53578"/>
                    </a:lnTo>
                    <a:lnTo>
                      <a:pt x="253616" y="53578"/>
                    </a:lnTo>
                    <a:lnTo>
                      <a:pt x="251337" y="54031"/>
                    </a:lnTo>
                    <a:lnTo>
                      <a:pt x="238124" y="69069"/>
                    </a:lnTo>
                    <a:lnTo>
                      <a:pt x="238124" y="73805"/>
                    </a:lnTo>
                    <a:lnTo>
                      <a:pt x="253616" y="89296"/>
                    </a:lnTo>
                    <a:lnTo>
                      <a:pt x="381000" y="89296"/>
                    </a:lnTo>
                    <a:lnTo>
                      <a:pt x="381000" y="95250"/>
                    </a:lnTo>
                    <a:lnTo>
                      <a:pt x="377252" y="113773"/>
                    </a:lnTo>
                    <a:lnTo>
                      <a:pt x="367038" y="128913"/>
                    </a:lnTo>
                    <a:lnTo>
                      <a:pt x="351898" y="139127"/>
                    </a:lnTo>
                    <a:lnTo>
                      <a:pt x="333375" y="142875"/>
                    </a:lnTo>
                    <a:close/>
                  </a:path>
                  <a:path w="381000" h="333375">
                    <a:moveTo>
                      <a:pt x="307194" y="89296"/>
                    </a:moveTo>
                    <a:lnTo>
                      <a:pt x="258352" y="89296"/>
                    </a:lnTo>
                    <a:lnTo>
                      <a:pt x="260630" y="88843"/>
                    </a:lnTo>
                    <a:lnTo>
                      <a:pt x="265006" y="87031"/>
                    </a:lnTo>
                    <a:lnTo>
                      <a:pt x="273843" y="73805"/>
                    </a:lnTo>
                    <a:lnTo>
                      <a:pt x="273843" y="69069"/>
                    </a:lnTo>
                    <a:lnTo>
                      <a:pt x="258352" y="53578"/>
                    </a:lnTo>
                    <a:lnTo>
                      <a:pt x="307194" y="53578"/>
                    </a:lnTo>
                    <a:lnTo>
                      <a:pt x="291703" y="69069"/>
                    </a:lnTo>
                    <a:lnTo>
                      <a:pt x="291703" y="73805"/>
                    </a:lnTo>
                    <a:lnTo>
                      <a:pt x="304916" y="88843"/>
                    </a:lnTo>
                    <a:lnTo>
                      <a:pt x="307194" y="89296"/>
                    </a:lnTo>
                    <a:close/>
                  </a:path>
                  <a:path w="381000" h="333375">
                    <a:moveTo>
                      <a:pt x="381000" y="89296"/>
                    </a:moveTo>
                    <a:lnTo>
                      <a:pt x="311930" y="89296"/>
                    </a:lnTo>
                    <a:lnTo>
                      <a:pt x="314208" y="88843"/>
                    </a:lnTo>
                    <a:lnTo>
                      <a:pt x="318584" y="87031"/>
                    </a:lnTo>
                    <a:lnTo>
                      <a:pt x="327421" y="73805"/>
                    </a:lnTo>
                    <a:lnTo>
                      <a:pt x="327421" y="69069"/>
                    </a:lnTo>
                    <a:lnTo>
                      <a:pt x="311930" y="53578"/>
                    </a:lnTo>
                    <a:lnTo>
                      <a:pt x="381000" y="53578"/>
                    </a:lnTo>
                    <a:lnTo>
                      <a:pt x="381000" y="89296"/>
                    </a:lnTo>
                    <a:close/>
                  </a:path>
                  <a:path w="381000" h="333375">
                    <a:moveTo>
                      <a:pt x="333375" y="333375"/>
                    </a:moveTo>
                    <a:lnTo>
                      <a:pt x="47625" y="333375"/>
                    </a:lnTo>
                    <a:lnTo>
                      <a:pt x="29101" y="329627"/>
                    </a:lnTo>
                    <a:lnTo>
                      <a:pt x="13961" y="319413"/>
                    </a:lnTo>
                    <a:lnTo>
                      <a:pt x="3747" y="304273"/>
                    </a:lnTo>
                    <a:lnTo>
                      <a:pt x="0" y="285750"/>
                    </a:lnTo>
                    <a:lnTo>
                      <a:pt x="0" y="238125"/>
                    </a:lnTo>
                    <a:lnTo>
                      <a:pt x="3747" y="219601"/>
                    </a:lnTo>
                    <a:lnTo>
                      <a:pt x="13961" y="204461"/>
                    </a:lnTo>
                    <a:lnTo>
                      <a:pt x="29101" y="194247"/>
                    </a:lnTo>
                    <a:lnTo>
                      <a:pt x="47625" y="190500"/>
                    </a:lnTo>
                    <a:lnTo>
                      <a:pt x="333375" y="190500"/>
                    </a:lnTo>
                    <a:lnTo>
                      <a:pt x="351898" y="194247"/>
                    </a:lnTo>
                    <a:lnTo>
                      <a:pt x="367038" y="204461"/>
                    </a:lnTo>
                    <a:lnTo>
                      <a:pt x="377252" y="219601"/>
                    </a:lnTo>
                    <a:lnTo>
                      <a:pt x="381000" y="238125"/>
                    </a:lnTo>
                    <a:lnTo>
                      <a:pt x="381000" y="244078"/>
                    </a:lnTo>
                    <a:lnTo>
                      <a:pt x="253616" y="244078"/>
                    </a:lnTo>
                    <a:lnTo>
                      <a:pt x="251337" y="244531"/>
                    </a:lnTo>
                    <a:lnTo>
                      <a:pt x="238124" y="259569"/>
                    </a:lnTo>
                    <a:lnTo>
                      <a:pt x="238124" y="264305"/>
                    </a:lnTo>
                    <a:lnTo>
                      <a:pt x="253616" y="279796"/>
                    </a:lnTo>
                    <a:lnTo>
                      <a:pt x="381000" y="279796"/>
                    </a:lnTo>
                    <a:lnTo>
                      <a:pt x="381000" y="285750"/>
                    </a:lnTo>
                    <a:lnTo>
                      <a:pt x="377252" y="304273"/>
                    </a:lnTo>
                    <a:lnTo>
                      <a:pt x="367038" y="319413"/>
                    </a:lnTo>
                    <a:lnTo>
                      <a:pt x="351898" y="329627"/>
                    </a:lnTo>
                    <a:lnTo>
                      <a:pt x="333375" y="333375"/>
                    </a:lnTo>
                    <a:close/>
                  </a:path>
                  <a:path w="381000" h="333375">
                    <a:moveTo>
                      <a:pt x="313147" y="279796"/>
                    </a:moveTo>
                    <a:lnTo>
                      <a:pt x="258352" y="279796"/>
                    </a:lnTo>
                    <a:lnTo>
                      <a:pt x="260630" y="279343"/>
                    </a:lnTo>
                    <a:lnTo>
                      <a:pt x="265006" y="277531"/>
                    </a:lnTo>
                    <a:lnTo>
                      <a:pt x="273843" y="264305"/>
                    </a:lnTo>
                    <a:lnTo>
                      <a:pt x="273843" y="259569"/>
                    </a:lnTo>
                    <a:lnTo>
                      <a:pt x="258352" y="244078"/>
                    </a:lnTo>
                    <a:lnTo>
                      <a:pt x="313147" y="244078"/>
                    </a:lnTo>
                    <a:lnTo>
                      <a:pt x="297656" y="259569"/>
                    </a:lnTo>
                    <a:lnTo>
                      <a:pt x="297656" y="264305"/>
                    </a:lnTo>
                    <a:lnTo>
                      <a:pt x="310869" y="279343"/>
                    </a:lnTo>
                    <a:lnTo>
                      <a:pt x="313147" y="279796"/>
                    </a:lnTo>
                    <a:close/>
                  </a:path>
                  <a:path w="381000" h="333375">
                    <a:moveTo>
                      <a:pt x="381000" y="279796"/>
                    </a:moveTo>
                    <a:lnTo>
                      <a:pt x="317883" y="279796"/>
                    </a:lnTo>
                    <a:lnTo>
                      <a:pt x="320162" y="279343"/>
                    </a:lnTo>
                    <a:lnTo>
                      <a:pt x="324538" y="277531"/>
                    </a:lnTo>
                    <a:lnTo>
                      <a:pt x="333374" y="264305"/>
                    </a:lnTo>
                    <a:lnTo>
                      <a:pt x="333374" y="259569"/>
                    </a:lnTo>
                    <a:lnTo>
                      <a:pt x="317883" y="244078"/>
                    </a:lnTo>
                    <a:lnTo>
                      <a:pt x="381000" y="244078"/>
                    </a:lnTo>
                    <a:lnTo>
                      <a:pt x="381000" y="27979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0" name="object 10">
              <a:extLst>
                <a:ext uri="{FF2B5EF4-FFF2-40B4-BE49-F238E27FC236}">
                  <a16:creationId xmlns:a16="http://schemas.microsoft.com/office/drawing/2014/main" id="{C548E453-1714-2498-E609-4F7157DD4389}"/>
                </a:ext>
              </a:extLst>
            </p:cNvPr>
            <p:cNvGrpSpPr/>
            <p:nvPr/>
          </p:nvGrpSpPr>
          <p:grpSpPr>
            <a:xfrm>
              <a:off x="9905999" y="3524250"/>
              <a:ext cx="762000" cy="762000"/>
              <a:chOff x="9905999" y="3524250"/>
              <a:chExt cx="762000" cy="762000"/>
            </a:xfrm>
          </p:grpSpPr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2DC605AD-9C90-E3D8-B550-8CA0FA854442}"/>
                  </a:ext>
                </a:extLst>
              </p:cNvPr>
              <p:cNvSpPr/>
              <p:nvPr/>
            </p:nvSpPr>
            <p:spPr>
              <a:xfrm>
                <a:off x="9905999" y="3524250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1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1"/>
                    </a:lnTo>
                    <a:lnTo>
                      <a:pt x="761999" y="88995"/>
                    </a:lnTo>
                    <a:lnTo>
                      <a:pt x="761999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1103F017-2D09-B438-6BCE-F07EF5F86921}"/>
                  </a:ext>
                </a:extLst>
              </p:cNvPr>
              <p:cNvSpPr/>
              <p:nvPr/>
            </p:nvSpPr>
            <p:spPr>
              <a:xfrm>
                <a:off x="10125074" y="3714750"/>
                <a:ext cx="33337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381000">
                    <a:moveTo>
                      <a:pt x="166687" y="154781"/>
                    </a:moveTo>
                    <a:lnTo>
                      <a:pt x="101808" y="150104"/>
                    </a:lnTo>
                    <a:lnTo>
                      <a:pt x="48824" y="137349"/>
                    </a:lnTo>
                    <a:lnTo>
                      <a:pt x="13100" y="118427"/>
                    </a:lnTo>
                    <a:lnTo>
                      <a:pt x="0" y="95250"/>
                    </a:lnTo>
                    <a:lnTo>
                      <a:pt x="0" y="59531"/>
                    </a:lnTo>
                    <a:lnTo>
                      <a:pt x="13100" y="36353"/>
                    </a:lnTo>
                    <a:lnTo>
                      <a:pt x="48824" y="17431"/>
                    </a:lnTo>
                    <a:lnTo>
                      <a:pt x="101808" y="4676"/>
                    </a:lnTo>
                    <a:lnTo>
                      <a:pt x="166687" y="0"/>
                    </a:lnTo>
                    <a:lnTo>
                      <a:pt x="231566" y="4676"/>
                    </a:lnTo>
                    <a:lnTo>
                      <a:pt x="284550" y="17431"/>
                    </a:lnTo>
                    <a:lnTo>
                      <a:pt x="320274" y="36353"/>
                    </a:lnTo>
                    <a:lnTo>
                      <a:pt x="333375" y="59531"/>
                    </a:lnTo>
                    <a:lnTo>
                      <a:pt x="333375" y="95250"/>
                    </a:lnTo>
                    <a:lnTo>
                      <a:pt x="320274" y="118427"/>
                    </a:lnTo>
                    <a:lnTo>
                      <a:pt x="284550" y="137349"/>
                    </a:lnTo>
                    <a:lnTo>
                      <a:pt x="231566" y="150104"/>
                    </a:lnTo>
                    <a:lnTo>
                      <a:pt x="166687" y="154781"/>
                    </a:lnTo>
                    <a:close/>
                  </a:path>
                  <a:path w="333375" h="381000">
                    <a:moveTo>
                      <a:pt x="166687" y="273843"/>
                    </a:moveTo>
                    <a:lnTo>
                      <a:pt x="101808" y="269167"/>
                    </a:lnTo>
                    <a:lnTo>
                      <a:pt x="48824" y="256412"/>
                    </a:lnTo>
                    <a:lnTo>
                      <a:pt x="13100" y="237490"/>
                    </a:lnTo>
                    <a:lnTo>
                      <a:pt x="0" y="214312"/>
                    </a:lnTo>
                    <a:lnTo>
                      <a:pt x="0" y="138484"/>
                    </a:lnTo>
                    <a:lnTo>
                      <a:pt x="8828" y="144708"/>
                    </a:lnTo>
                    <a:lnTo>
                      <a:pt x="18693" y="150325"/>
                    </a:lnTo>
                    <a:lnTo>
                      <a:pt x="67798" y="167731"/>
                    </a:lnTo>
                    <a:lnTo>
                      <a:pt x="131464" y="177326"/>
                    </a:lnTo>
                    <a:lnTo>
                      <a:pt x="166687" y="178593"/>
                    </a:lnTo>
                    <a:lnTo>
                      <a:pt x="333375" y="178593"/>
                    </a:lnTo>
                    <a:lnTo>
                      <a:pt x="333375" y="214312"/>
                    </a:lnTo>
                    <a:lnTo>
                      <a:pt x="320274" y="237490"/>
                    </a:lnTo>
                    <a:lnTo>
                      <a:pt x="284550" y="256412"/>
                    </a:lnTo>
                    <a:lnTo>
                      <a:pt x="231566" y="269167"/>
                    </a:lnTo>
                    <a:lnTo>
                      <a:pt x="166687" y="273843"/>
                    </a:lnTo>
                    <a:close/>
                  </a:path>
                  <a:path w="333375" h="381000">
                    <a:moveTo>
                      <a:pt x="333375" y="178593"/>
                    </a:moveTo>
                    <a:lnTo>
                      <a:pt x="166687" y="178593"/>
                    </a:lnTo>
                    <a:lnTo>
                      <a:pt x="201910" y="177326"/>
                    </a:lnTo>
                    <a:lnTo>
                      <a:pt x="235111" y="173645"/>
                    </a:lnTo>
                    <a:lnTo>
                      <a:pt x="292596" y="159767"/>
                    </a:lnTo>
                    <a:lnTo>
                      <a:pt x="333375" y="138484"/>
                    </a:lnTo>
                    <a:lnTo>
                      <a:pt x="333375" y="178593"/>
                    </a:lnTo>
                    <a:close/>
                  </a:path>
                  <a:path w="333375" h="381000">
                    <a:moveTo>
                      <a:pt x="166687" y="381000"/>
                    </a:moveTo>
                    <a:lnTo>
                      <a:pt x="101808" y="376323"/>
                    </a:lnTo>
                    <a:lnTo>
                      <a:pt x="48824" y="363568"/>
                    </a:lnTo>
                    <a:lnTo>
                      <a:pt x="13100" y="344646"/>
                    </a:lnTo>
                    <a:lnTo>
                      <a:pt x="0" y="321468"/>
                    </a:lnTo>
                    <a:lnTo>
                      <a:pt x="0" y="257547"/>
                    </a:lnTo>
                    <a:lnTo>
                      <a:pt x="8828" y="263771"/>
                    </a:lnTo>
                    <a:lnTo>
                      <a:pt x="18693" y="269388"/>
                    </a:lnTo>
                    <a:lnTo>
                      <a:pt x="67798" y="286794"/>
                    </a:lnTo>
                    <a:lnTo>
                      <a:pt x="131464" y="296388"/>
                    </a:lnTo>
                    <a:lnTo>
                      <a:pt x="166687" y="297656"/>
                    </a:lnTo>
                    <a:lnTo>
                      <a:pt x="333375" y="297656"/>
                    </a:lnTo>
                    <a:lnTo>
                      <a:pt x="333375" y="321468"/>
                    </a:lnTo>
                    <a:lnTo>
                      <a:pt x="320274" y="344646"/>
                    </a:lnTo>
                    <a:lnTo>
                      <a:pt x="284550" y="363568"/>
                    </a:lnTo>
                    <a:lnTo>
                      <a:pt x="231566" y="376323"/>
                    </a:lnTo>
                    <a:lnTo>
                      <a:pt x="166687" y="381000"/>
                    </a:lnTo>
                    <a:close/>
                  </a:path>
                  <a:path w="333375" h="381000">
                    <a:moveTo>
                      <a:pt x="333375" y="297656"/>
                    </a:moveTo>
                    <a:lnTo>
                      <a:pt x="166687" y="297656"/>
                    </a:lnTo>
                    <a:lnTo>
                      <a:pt x="201910" y="296388"/>
                    </a:lnTo>
                    <a:lnTo>
                      <a:pt x="235111" y="292707"/>
                    </a:lnTo>
                    <a:lnTo>
                      <a:pt x="292596" y="278829"/>
                    </a:lnTo>
                    <a:lnTo>
                      <a:pt x="333375" y="257547"/>
                    </a:lnTo>
                    <a:lnTo>
                      <a:pt x="333375" y="29765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3" name="object 13">
              <a:extLst>
                <a:ext uri="{FF2B5EF4-FFF2-40B4-BE49-F238E27FC236}">
                  <a16:creationId xmlns:a16="http://schemas.microsoft.com/office/drawing/2014/main" id="{C468230E-0CC6-F2AF-43E3-645E1B0D720F}"/>
                </a:ext>
              </a:extLst>
            </p:cNvPr>
            <p:cNvGrpSpPr/>
            <p:nvPr/>
          </p:nvGrpSpPr>
          <p:grpSpPr>
            <a:xfrm>
              <a:off x="10858499" y="3524250"/>
              <a:ext cx="762000" cy="762000"/>
              <a:chOff x="10858499" y="3524250"/>
              <a:chExt cx="762000" cy="762000"/>
            </a:xfrm>
          </p:grpSpPr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2F018066-EE62-69D2-44E1-95EE516BB386}"/>
                  </a:ext>
                </a:extLst>
              </p:cNvPr>
              <p:cNvSpPr/>
              <p:nvPr/>
            </p:nvSpPr>
            <p:spPr>
              <a:xfrm>
                <a:off x="10858499" y="3524250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1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1"/>
                    </a:lnTo>
                    <a:lnTo>
                      <a:pt x="762000" y="88995"/>
                    </a:lnTo>
                    <a:lnTo>
                      <a:pt x="762000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25DD97A4-1893-5969-1CA2-CC678674A760}"/>
                  </a:ext>
                </a:extLst>
              </p:cNvPr>
              <p:cNvSpPr/>
              <p:nvPr/>
            </p:nvSpPr>
            <p:spPr>
              <a:xfrm>
                <a:off x="11001374" y="371475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297656" y="142875"/>
                    </a:moveTo>
                    <a:lnTo>
                      <a:pt x="178593" y="142875"/>
                    </a:lnTo>
                    <a:lnTo>
                      <a:pt x="164693" y="140067"/>
                    </a:lnTo>
                    <a:lnTo>
                      <a:pt x="153339" y="132410"/>
                    </a:lnTo>
                    <a:lnTo>
                      <a:pt x="145682" y="121056"/>
                    </a:lnTo>
                    <a:lnTo>
                      <a:pt x="142875" y="107156"/>
                    </a:lnTo>
                    <a:lnTo>
                      <a:pt x="142875" y="35718"/>
                    </a:lnTo>
                    <a:lnTo>
                      <a:pt x="145682" y="21818"/>
                    </a:lnTo>
                    <a:lnTo>
                      <a:pt x="153339" y="10464"/>
                    </a:lnTo>
                    <a:lnTo>
                      <a:pt x="164693" y="2807"/>
                    </a:lnTo>
                    <a:lnTo>
                      <a:pt x="178593" y="0"/>
                    </a:lnTo>
                    <a:lnTo>
                      <a:pt x="297656" y="0"/>
                    </a:lnTo>
                    <a:lnTo>
                      <a:pt x="311556" y="2807"/>
                    </a:lnTo>
                    <a:lnTo>
                      <a:pt x="322910" y="10464"/>
                    </a:lnTo>
                    <a:lnTo>
                      <a:pt x="330567" y="21818"/>
                    </a:lnTo>
                    <a:lnTo>
                      <a:pt x="333375" y="35718"/>
                    </a:lnTo>
                    <a:lnTo>
                      <a:pt x="333375" y="47625"/>
                    </a:lnTo>
                    <a:lnTo>
                      <a:pt x="190500" y="47625"/>
                    </a:lnTo>
                    <a:lnTo>
                      <a:pt x="190500" y="95250"/>
                    </a:lnTo>
                    <a:lnTo>
                      <a:pt x="333375" y="95250"/>
                    </a:lnTo>
                    <a:lnTo>
                      <a:pt x="333375" y="107156"/>
                    </a:lnTo>
                    <a:lnTo>
                      <a:pt x="330567" y="121056"/>
                    </a:lnTo>
                    <a:lnTo>
                      <a:pt x="322910" y="132410"/>
                    </a:lnTo>
                    <a:lnTo>
                      <a:pt x="311556" y="140067"/>
                    </a:lnTo>
                    <a:lnTo>
                      <a:pt x="297656" y="142875"/>
                    </a:lnTo>
                    <a:close/>
                  </a:path>
                  <a:path w="476250" h="381000">
                    <a:moveTo>
                      <a:pt x="333375" y="95250"/>
                    </a:moveTo>
                    <a:lnTo>
                      <a:pt x="285750" y="95250"/>
                    </a:lnTo>
                    <a:lnTo>
                      <a:pt x="285750" y="47625"/>
                    </a:lnTo>
                    <a:lnTo>
                      <a:pt x="333375" y="47625"/>
                    </a:lnTo>
                    <a:lnTo>
                      <a:pt x="333375" y="95250"/>
                    </a:lnTo>
                    <a:close/>
                  </a:path>
                  <a:path w="476250" h="381000">
                    <a:moveTo>
                      <a:pt x="261937" y="166687"/>
                    </a:moveTo>
                    <a:lnTo>
                      <a:pt x="214312" y="166687"/>
                    </a:lnTo>
                    <a:lnTo>
                      <a:pt x="214312" y="142875"/>
                    </a:lnTo>
                    <a:lnTo>
                      <a:pt x="261937" y="142875"/>
                    </a:lnTo>
                    <a:lnTo>
                      <a:pt x="261937" y="166687"/>
                    </a:lnTo>
                    <a:close/>
                  </a:path>
                  <a:path w="476250" h="381000">
                    <a:moveTo>
                      <a:pt x="452437" y="214312"/>
                    </a:moveTo>
                    <a:lnTo>
                      <a:pt x="23812" y="214312"/>
                    </a:lnTo>
                    <a:lnTo>
                      <a:pt x="14535" y="212444"/>
                    </a:lnTo>
                    <a:lnTo>
                      <a:pt x="6967" y="207345"/>
                    </a:lnTo>
                    <a:lnTo>
                      <a:pt x="1868" y="199777"/>
                    </a:lnTo>
                    <a:lnTo>
                      <a:pt x="0" y="190500"/>
                    </a:lnTo>
                    <a:lnTo>
                      <a:pt x="1868" y="181222"/>
                    </a:lnTo>
                    <a:lnTo>
                      <a:pt x="6967" y="173654"/>
                    </a:lnTo>
                    <a:lnTo>
                      <a:pt x="14535" y="168555"/>
                    </a:lnTo>
                    <a:lnTo>
                      <a:pt x="23812" y="166687"/>
                    </a:lnTo>
                    <a:lnTo>
                      <a:pt x="452437" y="166687"/>
                    </a:lnTo>
                    <a:lnTo>
                      <a:pt x="461714" y="168555"/>
                    </a:lnTo>
                    <a:lnTo>
                      <a:pt x="469283" y="173654"/>
                    </a:lnTo>
                    <a:lnTo>
                      <a:pt x="474381" y="181222"/>
                    </a:lnTo>
                    <a:lnTo>
                      <a:pt x="476250" y="190500"/>
                    </a:lnTo>
                    <a:lnTo>
                      <a:pt x="474381" y="199777"/>
                    </a:lnTo>
                    <a:lnTo>
                      <a:pt x="469283" y="207345"/>
                    </a:lnTo>
                    <a:lnTo>
                      <a:pt x="461714" y="212444"/>
                    </a:lnTo>
                    <a:lnTo>
                      <a:pt x="452437" y="214312"/>
                    </a:lnTo>
                    <a:close/>
                  </a:path>
                  <a:path w="476250" h="381000">
                    <a:moveTo>
                      <a:pt x="142875" y="238125"/>
                    </a:moveTo>
                    <a:lnTo>
                      <a:pt x="95250" y="238125"/>
                    </a:lnTo>
                    <a:lnTo>
                      <a:pt x="95250" y="214312"/>
                    </a:lnTo>
                    <a:lnTo>
                      <a:pt x="142875" y="214312"/>
                    </a:lnTo>
                    <a:lnTo>
                      <a:pt x="142875" y="238125"/>
                    </a:lnTo>
                    <a:close/>
                  </a:path>
                  <a:path w="476250" h="381000">
                    <a:moveTo>
                      <a:pt x="381000" y="238125"/>
                    </a:moveTo>
                    <a:lnTo>
                      <a:pt x="333375" y="238125"/>
                    </a:lnTo>
                    <a:lnTo>
                      <a:pt x="333375" y="214312"/>
                    </a:lnTo>
                    <a:lnTo>
                      <a:pt x="381000" y="214312"/>
                    </a:lnTo>
                    <a:lnTo>
                      <a:pt x="381000" y="238125"/>
                    </a:lnTo>
                    <a:close/>
                  </a:path>
                  <a:path w="476250" h="381000">
                    <a:moveTo>
                      <a:pt x="178593" y="381000"/>
                    </a:moveTo>
                    <a:lnTo>
                      <a:pt x="59531" y="381000"/>
                    </a:lnTo>
                    <a:lnTo>
                      <a:pt x="45630" y="378192"/>
                    </a:lnTo>
                    <a:lnTo>
                      <a:pt x="34276" y="370535"/>
                    </a:lnTo>
                    <a:lnTo>
                      <a:pt x="26620" y="359181"/>
                    </a:lnTo>
                    <a:lnTo>
                      <a:pt x="23812" y="345281"/>
                    </a:lnTo>
                    <a:lnTo>
                      <a:pt x="23812" y="273843"/>
                    </a:lnTo>
                    <a:lnTo>
                      <a:pt x="26620" y="259943"/>
                    </a:lnTo>
                    <a:lnTo>
                      <a:pt x="34276" y="248589"/>
                    </a:lnTo>
                    <a:lnTo>
                      <a:pt x="45630" y="240932"/>
                    </a:lnTo>
                    <a:lnTo>
                      <a:pt x="59531" y="238125"/>
                    </a:lnTo>
                    <a:lnTo>
                      <a:pt x="178593" y="238125"/>
                    </a:lnTo>
                    <a:lnTo>
                      <a:pt x="192494" y="240932"/>
                    </a:lnTo>
                    <a:lnTo>
                      <a:pt x="203848" y="248589"/>
                    </a:lnTo>
                    <a:lnTo>
                      <a:pt x="211504" y="259943"/>
                    </a:lnTo>
                    <a:lnTo>
                      <a:pt x="214312" y="273843"/>
                    </a:lnTo>
                    <a:lnTo>
                      <a:pt x="214312" y="285750"/>
                    </a:lnTo>
                    <a:lnTo>
                      <a:pt x="71437" y="285750"/>
                    </a:lnTo>
                    <a:lnTo>
                      <a:pt x="71437" y="333375"/>
                    </a:lnTo>
                    <a:lnTo>
                      <a:pt x="214312" y="333375"/>
                    </a:lnTo>
                    <a:lnTo>
                      <a:pt x="214312" y="345281"/>
                    </a:lnTo>
                    <a:lnTo>
                      <a:pt x="211504" y="359181"/>
                    </a:lnTo>
                    <a:lnTo>
                      <a:pt x="203848" y="370535"/>
                    </a:lnTo>
                    <a:lnTo>
                      <a:pt x="192494" y="378192"/>
                    </a:lnTo>
                    <a:lnTo>
                      <a:pt x="178593" y="381000"/>
                    </a:lnTo>
                    <a:close/>
                  </a:path>
                  <a:path w="476250" h="381000">
                    <a:moveTo>
                      <a:pt x="416718" y="381000"/>
                    </a:moveTo>
                    <a:lnTo>
                      <a:pt x="297656" y="381000"/>
                    </a:lnTo>
                    <a:lnTo>
                      <a:pt x="283755" y="378192"/>
                    </a:lnTo>
                    <a:lnTo>
                      <a:pt x="272401" y="370535"/>
                    </a:lnTo>
                    <a:lnTo>
                      <a:pt x="264745" y="359181"/>
                    </a:lnTo>
                    <a:lnTo>
                      <a:pt x="261937" y="345281"/>
                    </a:lnTo>
                    <a:lnTo>
                      <a:pt x="261937" y="273843"/>
                    </a:lnTo>
                    <a:lnTo>
                      <a:pt x="264745" y="259943"/>
                    </a:lnTo>
                    <a:lnTo>
                      <a:pt x="272401" y="248589"/>
                    </a:lnTo>
                    <a:lnTo>
                      <a:pt x="283755" y="240932"/>
                    </a:lnTo>
                    <a:lnTo>
                      <a:pt x="297656" y="238125"/>
                    </a:lnTo>
                    <a:lnTo>
                      <a:pt x="416718" y="238125"/>
                    </a:lnTo>
                    <a:lnTo>
                      <a:pt x="430619" y="240932"/>
                    </a:lnTo>
                    <a:lnTo>
                      <a:pt x="441973" y="248589"/>
                    </a:lnTo>
                    <a:lnTo>
                      <a:pt x="449629" y="259943"/>
                    </a:lnTo>
                    <a:lnTo>
                      <a:pt x="452437" y="273843"/>
                    </a:lnTo>
                    <a:lnTo>
                      <a:pt x="452437" y="285750"/>
                    </a:lnTo>
                    <a:lnTo>
                      <a:pt x="309562" y="285750"/>
                    </a:lnTo>
                    <a:lnTo>
                      <a:pt x="309562" y="333375"/>
                    </a:lnTo>
                    <a:lnTo>
                      <a:pt x="452437" y="333375"/>
                    </a:lnTo>
                    <a:lnTo>
                      <a:pt x="452437" y="345281"/>
                    </a:lnTo>
                    <a:lnTo>
                      <a:pt x="449629" y="359181"/>
                    </a:lnTo>
                    <a:lnTo>
                      <a:pt x="441973" y="370535"/>
                    </a:lnTo>
                    <a:lnTo>
                      <a:pt x="430619" y="378192"/>
                    </a:lnTo>
                    <a:lnTo>
                      <a:pt x="416718" y="381000"/>
                    </a:lnTo>
                    <a:close/>
                  </a:path>
                  <a:path w="476250" h="381000">
                    <a:moveTo>
                      <a:pt x="214312" y="333375"/>
                    </a:moveTo>
                    <a:lnTo>
                      <a:pt x="166687" y="333375"/>
                    </a:lnTo>
                    <a:lnTo>
                      <a:pt x="166687" y="285750"/>
                    </a:lnTo>
                    <a:lnTo>
                      <a:pt x="214312" y="285750"/>
                    </a:lnTo>
                    <a:lnTo>
                      <a:pt x="214312" y="333375"/>
                    </a:lnTo>
                    <a:close/>
                  </a:path>
                  <a:path w="476250" h="381000">
                    <a:moveTo>
                      <a:pt x="452437" y="333375"/>
                    </a:moveTo>
                    <a:lnTo>
                      <a:pt x="404812" y="333375"/>
                    </a:lnTo>
                    <a:lnTo>
                      <a:pt x="404812" y="285750"/>
                    </a:lnTo>
                    <a:lnTo>
                      <a:pt x="452437" y="285750"/>
                    </a:lnTo>
                    <a:lnTo>
                      <a:pt x="452437" y="33337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D304AF-65F7-170C-209D-5E499F59F23E}"/>
              </a:ext>
            </a:extLst>
          </p:cNvPr>
          <p:cNvCxnSpPr/>
          <p:nvPr/>
        </p:nvCxnSpPr>
        <p:spPr>
          <a:xfrm>
            <a:off x="685800" y="761206"/>
            <a:ext cx="0" cy="1524000"/>
          </a:xfrm>
          <a:prstGeom prst="line">
            <a:avLst/>
          </a:prstGeom>
          <a:ln w="5080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368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7008" y="960120"/>
            <a:ext cx="6859270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sz="3600" spc="-100" dirty="0">
                <a:solidFill>
                  <a:schemeClr val="accent6"/>
                </a:solidFill>
                <a:latin typeface="Montserrat"/>
                <a:cs typeface="Montserrat"/>
              </a:rPr>
              <a:t>Mobile</a:t>
            </a:r>
            <a:r>
              <a:rPr sz="3600" spc="-20" dirty="0">
                <a:solidFill>
                  <a:schemeClr val="accent6"/>
                </a:solidFill>
                <a:latin typeface="Montserrat"/>
                <a:cs typeface="Montserrat"/>
              </a:rPr>
              <a:t> </a:t>
            </a:r>
            <a:r>
              <a:rPr sz="3600" spc="-100" dirty="0">
                <a:solidFill>
                  <a:schemeClr val="accent6"/>
                </a:solidFill>
                <a:latin typeface="Montserrat"/>
                <a:cs typeface="Montserrat"/>
              </a:rPr>
              <a:t>App</a:t>
            </a:r>
            <a:endParaRPr sz="3600" dirty="0">
              <a:solidFill>
                <a:schemeClr val="accent6"/>
              </a:solidFill>
              <a:latin typeface="Montserrat"/>
              <a:cs typeface="Montserra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7419" y="2175821"/>
            <a:ext cx="704850" cy="790099"/>
            <a:chOff x="914399" y="2171699"/>
            <a:chExt cx="381000" cy="381000"/>
          </a:xfrm>
        </p:grpSpPr>
        <p:sp>
          <p:nvSpPr>
            <p:cNvPr id="4" name="object 4"/>
            <p:cNvSpPr/>
            <p:nvPr/>
          </p:nvSpPr>
          <p:spPr>
            <a:xfrm>
              <a:off x="914399" y="21716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F6A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2512" y="2285999"/>
              <a:ext cx="104774" cy="1523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35099" y="2141377"/>
            <a:ext cx="8616950" cy="2939907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b="0" spc="-90" dirty="0">
                <a:solidFill>
                  <a:srgbClr val="333333"/>
                </a:solidFill>
                <a:latin typeface="Montserrat Medium"/>
                <a:cs typeface="Montserrat Medium"/>
              </a:rPr>
              <a:t>Real-</a:t>
            </a:r>
            <a:r>
              <a:rPr b="0" spc="-100" dirty="0">
                <a:solidFill>
                  <a:srgbClr val="333333"/>
                </a:solidFill>
                <a:latin typeface="Montserrat Medium"/>
                <a:cs typeface="Montserrat Medium"/>
              </a:rPr>
              <a:t>time</a:t>
            </a:r>
            <a:r>
              <a:rPr b="0" spc="1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b="0" spc="-105" dirty="0">
                <a:solidFill>
                  <a:srgbClr val="333333"/>
                </a:solidFill>
                <a:latin typeface="Montserrat Medium"/>
                <a:cs typeface="Montserrat Medium"/>
              </a:rPr>
              <a:t>Pitch</a:t>
            </a:r>
            <a:r>
              <a:rPr b="0" spc="15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b="0" spc="-10" dirty="0">
                <a:solidFill>
                  <a:srgbClr val="333333"/>
                </a:solidFill>
                <a:latin typeface="Montserrat Medium"/>
                <a:cs typeface="Montserrat Medium"/>
              </a:rPr>
              <a:t>Detection</a:t>
            </a:r>
            <a:endParaRPr dirty="0">
              <a:latin typeface="Montserrat Medium"/>
              <a:cs typeface="Montserrat Medium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pc="-70" dirty="0">
                <a:solidFill>
                  <a:srgbClr val="333333"/>
                </a:solidFill>
                <a:latin typeface="Montserrat"/>
                <a:cs typeface="Montserrat"/>
              </a:rPr>
              <a:t>Accurately</a:t>
            </a:r>
            <a:r>
              <a:rPr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65" dirty="0">
                <a:solidFill>
                  <a:srgbClr val="333333"/>
                </a:solidFill>
                <a:latin typeface="Montserrat"/>
                <a:cs typeface="Montserrat"/>
              </a:rPr>
              <a:t>analyzes</a:t>
            </a:r>
            <a:r>
              <a:rPr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70" dirty="0">
                <a:solidFill>
                  <a:srgbClr val="333333"/>
                </a:solidFill>
                <a:latin typeface="Montserrat"/>
                <a:cs typeface="Montserrat"/>
              </a:rPr>
              <a:t>guitar</a:t>
            </a:r>
            <a:r>
              <a:rPr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70" dirty="0">
                <a:solidFill>
                  <a:srgbClr val="333333"/>
                </a:solidFill>
                <a:latin typeface="Montserrat"/>
                <a:cs typeface="Montserrat"/>
              </a:rPr>
              <a:t>audio</a:t>
            </a:r>
            <a:r>
              <a:rPr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50" dirty="0">
                <a:solidFill>
                  <a:srgbClr val="333333"/>
                </a:solidFill>
                <a:latin typeface="Montserrat"/>
                <a:cs typeface="Montserrat"/>
              </a:rPr>
              <a:t>in</a:t>
            </a:r>
            <a:r>
              <a:rPr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55" dirty="0">
                <a:solidFill>
                  <a:srgbClr val="333333"/>
                </a:solidFill>
                <a:latin typeface="Montserrat"/>
                <a:cs typeface="Montserrat"/>
              </a:rPr>
              <a:t>real-</a:t>
            </a:r>
            <a:r>
              <a:rPr spc="-65" dirty="0">
                <a:solidFill>
                  <a:srgbClr val="333333"/>
                </a:solidFill>
                <a:latin typeface="Montserrat"/>
                <a:cs typeface="Montserrat"/>
              </a:rPr>
              <a:t>time</a:t>
            </a:r>
            <a:r>
              <a:rPr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75" dirty="0">
                <a:solidFill>
                  <a:srgbClr val="333333"/>
                </a:solidFill>
                <a:latin typeface="Montserrat"/>
                <a:cs typeface="Montserrat"/>
              </a:rPr>
              <a:t>to</a:t>
            </a:r>
            <a:r>
              <a:rPr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55" dirty="0">
                <a:solidFill>
                  <a:srgbClr val="333333"/>
                </a:solidFill>
                <a:latin typeface="Montserrat"/>
                <a:cs typeface="Montserrat"/>
              </a:rPr>
              <a:t>identify</a:t>
            </a:r>
            <a:r>
              <a:rPr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70" dirty="0">
                <a:solidFill>
                  <a:srgbClr val="333333"/>
                </a:solidFill>
                <a:latin typeface="Montserrat"/>
                <a:cs typeface="Montserrat"/>
              </a:rPr>
              <a:t>notes</a:t>
            </a:r>
            <a:r>
              <a:rPr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75" dirty="0">
                <a:solidFill>
                  <a:srgbClr val="333333"/>
                </a:solidFill>
                <a:latin typeface="Montserrat"/>
                <a:cs typeface="Montserrat"/>
              </a:rPr>
              <a:t>from</a:t>
            </a:r>
            <a:r>
              <a:rPr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75" dirty="0">
                <a:solidFill>
                  <a:srgbClr val="333333"/>
                </a:solidFill>
                <a:latin typeface="Montserrat"/>
                <a:cs typeface="Montserrat"/>
              </a:rPr>
              <a:t>E2</a:t>
            </a:r>
            <a:r>
              <a:rPr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75" dirty="0">
                <a:solidFill>
                  <a:srgbClr val="333333"/>
                </a:solidFill>
                <a:latin typeface="Montserrat"/>
                <a:cs typeface="Montserrat"/>
              </a:rPr>
              <a:t>to</a:t>
            </a:r>
            <a:r>
              <a:rPr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50" dirty="0">
                <a:solidFill>
                  <a:srgbClr val="333333"/>
                </a:solidFill>
                <a:latin typeface="Montserrat"/>
                <a:cs typeface="Montserrat"/>
              </a:rPr>
              <a:t>A5,</a:t>
            </a:r>
            <a:r>
              <a:rPr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60" dirty="0">
                <a:solidFill>
                  <a:srgbClr val="333333"/>
                </a:solidFill>
                <a:latin typeface="Montserrat"/>
                <a:cs typeface="Montserrat"/>
              </a:rPr>
              <a:t>right</a:t>
            </a:r>
            <a:r>
              <a:rPr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70" dirty="0">
                <a:solidFill>
                  <a:srgbClr val="333333"/>
                </a:solidFill>
                <a:latin typeface="Montserrat"/>
                <a:cs typeface="Montserrat"/>
              </a:rPr>
              <a:t>on</a:t>
            </a:r>
            <a:r>
              <a:rPr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60" dirty="0">
                <a:solidFill>
                  <a:srgbClr val="333333"/>
                </a:solidFill>
                <a:latin typeface="Montserrat"/>
                <a:cs typeface="Montserrat"/>
              </a:rPr>
              <a:t>the</a:t>
            </a:r>
            <a:r>
              <a:rPr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" dirty="0">
                <a:solidFill>
                  <a:srgbClr val="333333"/>
                </a:solidFill>
                <a:latin typeface="Montserrat"/>
                <a:cs typeface="Montserrat"/>
              </a:rPr>
              <a:t>device.</a:t>
            </a:r>
            <a:endParaRPr dirty="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dirty="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</a:pPr>
            <a:r>
              <a:rPr b="0" spc="-90" dirty="0">
                <a:solidFill>
                  <a:srgbClr val="333333"/>
                </a:solidFill>
                <a:latin typeface="Montserrat Medium"/>
                <a:cs typeface="Montserrat Medium"/>
              </a:rPr>
              <a:t>Interactive</a:t>
            </a:r>
            <a:r>
              <a:rPr b="0" spc="-25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b="0" spc="-10" dirty="0">
                <a:solidFill>
                  <a:srgbClr val="333333"/>
                </a:solidFill>
                <a:latin typeface="Montserrat Medium"/>
                <a:cs typeface="Montserrat Medium"/>
              </a:rPr>
              <a:t>Lessons</a:t>
            </a:r>
            <a:endParaRPr dirty="0">
              <a:latin typeface="Montserrat Medium"/>
              <a:cs typeface="Montserrat Medium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pc="-70" dirty="0">
                <a:solidFill>
                  <a:srgbClr val="333333"/>
                </a:solidFill>
                <a:latin typeface="Montserrat"/>
                <a:cs typeface="Montserrat"/>
              </a:rPr>
              <a:t>Engaging</a:t>
            </a:r>
            <a:r>
              <a:rPr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55" dirty="0">
                <a:solidFill>
                  <a:srgbClr val="333333"/>
                </a:solidFill>
                <a:latin typeface="Montserrat"/>
                <a:cs typeface="Montserrat"/>
              </a:rPr>
              <a:t>lessons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70" dirty="0">
                <a:solidFill>
                  <a:srgbClr val="333333"/>
                </a:solidFill>
                <a:latin typeface="Montserrat"/>
                <a:cs typeface="Montserrat"/>
              </a:rPr>
              <a:t>with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80" dirty="0">
                <a:solidFill>
                  <a:srgbClr val="333333"/>
                </a:solidFill>
                <a:latin typeface="Montserrat"/>
                <a:cs typeface="Montserrat"/>
              </a:rPr>
              <a:t>moving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65" dirty="0">
                <a:solidFill>
                  <a:srgbClr val="333333"/>
                </a:solidFill>
                <a:latin typeface="Montserrat"/>
                <a:cs typeface="Montserrat"/>
              </a:rPr>
              <a:t>notes,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60" dirty="0">
                <a:solidFill>
                  <a:srgbClr val="333333"/>
                </a:solidFill>
                <a:latin typeface="Montserrat"/>
                <a:cs typeface="Montserrat"/>
              </a:rPr>
              <a:t>visual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65" dirty="0">
                <a:solidFill>
                  <a:srgbClr val="333333"/>
                </a:solidFill>
                <a:latin typeface="Montserrat"/>
                <a:cs typeface="Montserrat"/>
              </a:rPr>
              <a:t>guidance,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75" dirty="0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65" dirty="0">
                <a:solidFill>
                  <a:srgbClr val="333333"/>
                </a:solidFill>
                <a:latin typeface="Montserrat"/>
                <a:cs typeface="Montserrat"/>
              </a:rPr>
              <a:t>progress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65" dirty="0">
                <a:solidFill>
                  <a:srgbClr val="333333"/>
                </a:solidFill>
                <a:latin typeface="Montserrat"/>
                <a:cs typeface="Montserrat"/>
              </a:rPr>
              <a:t>tracking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75" dirty="0">
                <a:solidFill>
                  <a:srgbClr val="333333"/>
                </a:solidFill>
                <a:latin typeface="Montserrat"/>
                <a:cs typeface="Montserrat"/>
              </a:rPr>
              <a:t>to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80" dirty="0">
                <a:solidFill>
                  <a:srgbClr val="333333"/>
                </a:solidFill>
                <a:latin typeface="Montserrat"/>
                <a:cs typeface="Montserrat"/>
              </a:rPr>
              <a:t>keep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70" dirty="0">
                <a:solidFill>
                  <a:srgbClr val="333333"/>
                </a:solidFill>
                <a:latin typeface="Montserrat"/>
                <a:cs typeface="Montserrat"/>
              </a:rPr>
              <a:t>beginners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" dirty="0">
                <a:solidFill>
                  <a:srgbClr val="333333"/>
                </a:solidFill>
                <a:latin typeface="Montserrat"/>
                <a:cs typeface="Montserrat"/>
              </a:rPr>
              <a:t>motivated.</a:t>
            </a:r>
            <a:endParaRPr dirty="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dirty="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dirty="0">
              <a:latin typeface="Montserrat"/>
              <a:cs typeface="Montserra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2837" y="3482908"/>
            <a:ext cx="768762" cy="678047"/>
            <a:chOff x="929275" y="3749830"/>
            <a:chExt cx="381000" cy="381000"/>
          </a:xfrm>
        </p:grpSpPr>
        <p:sp>
          <p:nvSpPr>
            <p:cNvPr id="8" name="object 8"/>
            <p:cNvSpPr/>
            <p:nvPr/>
          </p:nvSpPr>
          <p:spPr>
            <a:xfrm>
              <a:off x="929275" y="374983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F6A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99" y="3884745"/>
              <a:ext cx="152399" cy="152876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914399" y="5486677"/>
            <a:ext cx="70485" cy="1104900"/>
          </a:xfrm>
          <a:custGeom>
            <a:avLst/>
            <a:gdLst/>
            <a:ahLst/>
            <a:cxnLst/>
            <a:rect l="l" t="t" r="r" b="b"/>
            <a:pathLst>
              <a:path w="70484" h="1104900">
                <a:moveTo>
                  <a:pt x="70450" y="1104344"/>
                </a:moveTo>
                <a:lnTo>
                  <a:pt x="33857" y="1091791"/>
                </a:lnTo>
                <a:lnTo>
                  <a:pt x="5800" y="1057582"/>
                </a:lnTo>
                <a:lnTo>
                  <a:pt x="0" y="1028422"/>
                </a:lnTo>
                <a:lnTo>
                  <a:pt x="0" y="75922"/>
                </a:lnTo>
                <a:lnTo>
                  <a:pt x="12830" y="33579"/>
                </a:lnTo>
                <a:lnTo>
                  <a:pt x="47039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2" y="9389"/>
                </a:lnTo>
                <a:lnTo>
                  <a:pt x="41000" y="46760"/>
                </a:lnTo>
                <a:lnTo>
                  <a:pt x="38100" y="75922"/>
                </a:lnTo>
                <a:lnTo>
                  <a:pt x="38100" y="1028422"/>
                </a:lnTo>
                <a:lnTo>
                  <a:pt x="44515" y="1070763"/>
                </a:lnTo>
                <a:lnTo>
                  <a:pt x="66287" y="1102688"/>
                </a:lnTo>
                <a:lnTo>
                  <a:pt x="70450" y="1104344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" y="5676899"/>
            <a:ext cx="228599" cy="22859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511299" y="5589999"/>
            <a:ext cx="9314180" cy="79057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350" b="0" spc="-95" dirty="0">
                <a:solidFill>
                  <a:srgbClr val="333333"/>
                </a:solidFill>
                <a:latin typeface="Montserrat Medium"/>
                <a:cs typeface="Montserrat Medium"/>
              </a:rPr>
              <a:t>Technical</a:t>
            </a:r>
            <a:r>
              <a:rPr sz="1350" b="0" spc="-25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sz="1350" b="0" spc="-20" dirty="0">
                <a:solidFill>
                  <a:srgbClr val="333333"/>
                </a:solidFill>
                <a:latin typeface="Montserrat Medium"/>
                <a:cs typeface="Montserrat Medium"/>
              </a:rPr>
              <a:t>Achievement:</a:t>
            </a:r>
            <a:endParaRPr sz="1350">
              <a:latin typeface="Montserrat Medium"/>
              <a:cs typeface="Montserrat Medium"/>
            </a:endParaRPr>
          </a:p>
          <a:p>
            <a:pPr marL="12700" marR="5080">
              <a:lnSpc>
                <a:spcPct val="115399"/>
              </a:lnSpc>
              <a:spcBef>
                <a:spcPts val="290"/>
              </a:spcBef>
            </a:pPr>
            <a:r>
              <a:rPr sz="1300" spc="-75" dirty="0">
                <a:solidFill>
                  <a:srgbClr val="333333"/>
                </a:solidFill>
                <a:latin typeface="Montserrat"/>
                <a:cs typeface="Montserrat"/>
              </a:rPr>
              <a:t>Complete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Montserrat"/>
                <a:cs typeface="Montserrat"/>
              </a:rPr>
              <a:t>on-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device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inference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with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Montserrat"/>
                <a:cs typeface="Montserrat"/>
              </a:rPr>
              <a:t>total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latency</a:t>
            </a:r>
            <a:r>
              <a:rPr sz="1300" spc="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under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50ms,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Montserrat"/>
                <a:cs typeface="Montserrat"/>
              </a:rPr>
              <a:t>providing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responsive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feedback</a:t>
            </a:r>
            <a:r>
              <a:rPr sz="1300" spc="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without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50" dirty="0">
                <a:solidFill>
                  <a:srgbClr val="333333"/>
                </a:solidFill>
                <a:latin typeface="Montserrat"/>
                <a:cs typeface="Montserrat"/>
              </a:rPr>
              <a:t>servers,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80" dirty="0">
                <a:solidFill>
                  <a:srgbClr val="333333"/>
                </a:solidFill>
                <a:latin typeface="Montserrat"/>
                <a:cs typeface="Montserrat"/>
              </a:rPr>
              <a:t>even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for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20" dirty="0">
                <a:solidFill>
                  <a:srgbClr val="333333"/>
                </a:solidFill>
                <a:latin typeface="Montserrat"/>
                <a:cs typeface="Montserrat"/>
              </a:rPr>
              <a:t>low- </a:t>
            </a:r>
            <a:r>
              <a:rPr sz="1300" spc="-65" dirty="0">
                <a:solidFill>
                  <a:srgbClr val="333333"/>
                </a:solidFill>
                <a:latin typeface="Montserrat"/>
                <a:cs typeface="Montserrat"/>
              </a:rPr>
              <a:t>frequency</a:t>
            </a:r>
            <a:r>
              <a:rPr sz="1300"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notes.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689232" y="67889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5E0F7BF-5169-E8FD-2E8B-3B8F485B62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DD653-B988-4712-4395-A00734CC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7F24EE0-8011-D7EB-F7E8-22E9DC9A13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3902" y="674637"/>
            <a:ext cx="8489951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lang="en-US" sz="3600" spc="-100" dirty="0">
                <a:solidFill>
                  <a:schemeClr val="accent6"/>
                </a:solidFill>
              </a:rPr>
              <a:t>Mobile</a:t>
            </a:r>
            <a:r>
              <a:rPr lang="en-US" sz="3600" spc="-20" dirty="0">
                <a:solidFill>
                  <a:schemeClr val="accent6"/>
                </a:solidFill>
              </a:rPr>
              <a:t> </a:t>
            </a:r>
            <a:r>
              <a:rPr lang="en-US" sz="3600" spc="-100" dirty="0">
                <a:solidFill>
                  <a:schemeClr val="accent6"/>
                </a:solidFill>
              </a:rPr>
              <a:t>App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808C471F-AD48-D88F-1915-8C77476E30BD}"/>
              </a:ext>
            </a:extLst>
          </p:cNvPr>
          <p:cNvSpPr txBox="1"/>
          <p:nvPr/>
        </p:nvSpPr>
        <p:spPr>
          <a:xfrm>
            <a:off x="10689232" y="67889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3A1476-3906-E807-FF67-2585996B45AB}"/>
              </a:ext>
            </a:extLst>
          </p:cNvPr>
          <p:cNvSpPr txBox="1"/>
          <p:nvPr/>
        </p:nvSpPr>
        <p:spPr>
          <a:xfrm>
            <a:off x="1063902" y="1028494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spc="-90" dirty="0">
                <a:solidFill>
                  <a:srgbClr val="333333"/>
                </a:solidFill>
                <a:latin typeface="Montserrat Medium"/>
                <a:cs typeface="Montserrat Medium"/>
              </a:rPr>
              <a:t>Real-</a:t>
            </a:r>
            <a:r>
              <a:rPr lang="en-US" b="0" spc="-100" dirty="0">
                <a:solidFill>
                  <a:srgbClr val="333333"/>
                </a:solidFill>
                <a:latin typeface="Montserrat Medium"/>
                <a:cs typeface="Montserrat Medium"/>
              </a:rPr>
              <a:t>time</a:t>
            </a:r>
            <a:r>
              <a:rPr lang="en-US" b="0" spc="1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lang="en-US" b="0" spc="-105" dirty="0">
                <a:solidFill>
                  <a:srgbClr val="333333"/>
                </a:solidFill>
                <a:latin typeface="Montserrat Medium"/>
                <a:cs typeface="Montserrat Medium"/>
              </a:rPr>
              <a:t>Pitch</a:t>
            </a:r>
            <a:r>
              <a:rPr lang="en-US" b="0" spc="15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lang="en-US" b="0" spc="-10" dirty="0">
                <a:solidFill>
                  <a:srgbClr val="333333"/>
                </a:solidFill>
                <a:latin typeface="Montserrat Medium"/>
                <a:cs typeface="Montserrat Medium"/>
              </a:rPr>
              <a:t>Detection System</a:t>
            </a:r>
            <a:endParaRPr lang="en-US" dirty="0">
              <a:latin typeface="Montserrat Medium"/>
              <a:cs typeface="Montserrat Medium"/>
            </a:endParaRPr>
          </a:p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442B384-DA81-9B02-415D-681F5E256087}"/>
              </a:ext>
            </a:extLst>
          </p:cNvPr>
          <p:cNvGrpSpPr/>
          <p:nvPr/>
        </p:nvGrpSpPr>
        <p:grpSpPr>
          <a:xfrm>
            <a:off x="923434" y="2026315"/>
            <a:ext cx="10743175" cy="4360554"/>
            <a:chOff x="923434" y="2026315"/>
            <a:chExt cx="10743175" cy="4360554"/>
          </a:xfrm>
        </p:grpSpPr>
        <p:grpSp>
          <p:nvGrpSpPr>
            <p:cNvPr id="4" name="object 4">
              <a:extLst>
                <a:ext uri="{FF2B5EF4-FFF2-40B4-BE49-F238E27FC236}">
                  <a16:creationId xmlns:a16="http://schemas.microsoft.com/office/drawing/2014/main" id="{E4136A28-977D-E6C1-A6F6-BD3C74547655}"/>
                </a:ext>
              </a:extLst>
            </p:cNvPr>
            <p:cNvGrpSpPr/>
            <p:nvPr/>
          </p:nvGrpSpPr>
          <p:grpSpPr>
            <a:xfrm>
              <a:off x="923434" y="2062442"/>
              <a:ext cx="4876800" cy="1295678"/>
              <a:chOff x="380999" y="2619374"/>
              <a:chExt cx="5562600" cy="1295678"/>
            </a:xfrm>
          </p:grpSpPr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A5A67AD4-EC74-DF4F-9927-DFF4D65FDBAB}"/>
                  </a:ext>
                </a:extLst>
              </p:cNvPr>
              <p:cNvSpPr/>
              <p:nvPr/>
            </p:nvSpPr>
            <p:spPr>
              <a:xfrm>
                <a:off x="400049" y="2619374"/>
                <a:ext cx="5543550" cy="1295400"/>
              </a:xfrm>
              <a:custGeom>
                <a:avLst/>
                <a:gdLst/>
                <a:ahLst/>
                <a:cxnLst/>
                <a:rect l="l" t="t" r="r" b="b"/>
                <a:pathLst>
                  <a:path w="5543550" h="1295400">
                    <a:moveTo>
                      <a:pt x="5472352" y="1295399"/>
                    </a:moveTo>
                    <a:lnTo>
                      <a:pt x="53397" y="1295399"/>
                    </a:lnTo>
                    <a:lnTo>
                      <a:pt x="49681" y="1294911"/>
                    </a:lnTo>
                    <a:lnTo>
                      <a:pt x="14085" y="1269543"/>
                    </a:lnTo>
                    <a:lnTo>
                      <a:pt x="366" y="1229158"/>
                    </a:lnTo>
                    <a:lnTo>
                      <a:pt x="0" y="1224203"/>
                    </a:lnTo>
                    <a:lnTo>
                      <a:pt x="0" y="1219199"/>
                    </a:lnTo>
                    <a:lnTo>
                      <a:pt x="0" y="71196"/>
                    </a:lnTo>
                    <a:lnTo>
                      <a:pt x="11716" y="29704"/>
                    </a:lnTo>
                    <a:lnTo>
                      <a:pt x="42320" y="2439"/>
                    </a:lnTo>
                    <a:lnTo>
                      <a:pt x="53397" y="0"/>
                    </a:lnTo>
                    <a:lnTo>
                      <a:pt x="5472352" y="0"/>
                    </a:lnTo>
                    <a:lnTo>
                      <a:pt x="5513843" y="15621"/>
                    </a:lnTo>
                    <a:lnTo>
                      <a:pt x="5539663" y="51661"/>
                    </a:lnTo>
                    <a:lnTo>
                      <a:pt x="5543549" y="71196"/>
                    </a:lnTo>
                    <a:lnTo>
                      <a:pt x="5543549" y="1224203"/>
                    </a:lnTo>
                    <a:lnTo>
                      <a:pt x="5527927" y="1265693"/>
                    </a:lnTo>
                    <a:lnTo>
                      <a:pt x="5491887" y="1291513"/>
                    </a:lnTo>
                    <a:lnTo>
                      <a:pt x="5477307" y="1294911"/>
                    </a:lnTo>
                    <a:lnTo>
                      <a:pt x="5472352" y="1295399"/>
                    </a:lnTo>
                    <a:close/>
                  </a:path>
                </a:pathLst>
              </a:custGeom>
              <a:solidFill>
                <a:srgbClr val="FFF5EB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70F325C7-5ECD-2FBC-844A-6BD839330C69}"/>
                  </a:ext>
                </a:extLst>
              </p:cNvPr>
              <p:cNvSpPr/>
              <p:nvPr/>
            </p:nvSpPr>
            <p:spPr>
              <a:xfrm>
                <a:off x="380999" y="2619652"/>
                <a:ext cx="70485" cy="1295400"/>
              </a:xfrm>
              <a:custGeom>
                <a:avLst/>
                <a:gdLst/>
                <a:ahLst/>
                <a:cxnLst/>
                <a:rect l="l" t="t" r="r" b="b"/>
                <a:pathLst>
                  <a:path w="70484" h="1295400">
                    <a:moveTo>
                      <a:pt x="70450" y="1294844"/>
                    </a:moveTo>
                    <a:lnTo>
                      <a:pt x="33857" y="1282291"/>
                    </a:lnTo>
                    <a:lnTo>
                      <a:pt x="5800" y="1248082"/>
                    </a:lnTo>
                    <a:lnTo>
                      <a:pt x="0" y="1218922"/>
                    </a:lnTo>
                    <a:lnTo>
                      <a:pt x="0" y="75922"/>
                    </a:lnTo>
                    <a:lnTo>
                      <a:pt x="12830" y="33579"/>
                    </a:lnTo>
                    <a:lnTo>
                      <a:pt x="47039" y="5522"/>
                    </a:lnTo>
                    <a:lnTo>
                      <a:pt x="70449" y="0"/>
                    </a:lnTo>
                    <a:lnTo>
                      <a:pt x="66287" y="1655"/>
                    </a:lnTo>
                    <a:lnTo>
                      <a:pt x="56951" y="9389"/>
                    </a:lnTo>
                    <a:lnTo>
                      <a:pt x="41000" y="46761"/>
                    </a:lnTo>
                    <a:lnTo>
                      <a:pt x="38100" y="75922"/>
                    </a:lnTo>
                    <a:lnTo>
                      <a:pt x="38100" y="1218922"/>
                    </a:lnTo>
                    <a:lnTo>
                      <a:pt x="44514" y="1261264"/>
                    </a:lnTo>
                    <a:lnTo>
                      <a:pt x="66287" y="1293188"/>
                    </a:lnTo>
                    <a:lnTo>
                      <a:pt x="70450" y="1294844"/>
                    </a:lnTo>
                    <a:close/>
                  </a:path>
                </a:pathLst>
              </a:custGeom>
              <a:solidFill>
                <a:srgbClr val="FF6A00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112C72-C05D-F459-9409-A38F8D97936F}"/>
                </a:ext>
              </a:extLst>
            </p:cNvPr>
            <p:cNvSpPr txBox="1"/>
            <p:nvPr/>
          </p:nvSpPr>
          <p:spPr>
            <a:xfrm>
              <a:off x="1188270" y="2233728"/>
              <a:ext cx="4932945" cy="6610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0165">
                <a:lnSpc>
                  <a:spcPct val="100000"/>
                </a:lnSpc>
                <a:spcBef>
                  <a:spcPts val="100"/>
                </a:spcBef>
              </a:pPr>
              <a:r>
                <a:rPr lang="en-US" sz="1400" b="1" dirty="0">
                  <a:solidFill>
                    <a:srgbClr val="333333"/>
                  </a:solidFill>
                  <a:latin typeface="Segoe UI"/>
                  <a:cs typeface="Segoe UI"/>
                </a:rPr>
                <a:t>Onset</a:t>
              </a:r>
              <a:r>
                <a:rPr lang="en-US" sz="1400" b="1" spc="-50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b="1" dirty="0">
                  <a:solidFill>
                    <a:srgbClr val="333333"/>
                  </a:solidFill>
                  <a:latin typeface="Segoe UI"/>
                  <a:cs typeface="Segoe UI"/>
                </a:rPr>
                <a:t>Detection</a:t>
              </a:r>
              <a:r>
                <a:rPr lang="en-US" sz="1400" b="1" spc="-4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b="1" spc="-10" dirty="0">
                  <a:solidFill>
                    <a:srgbClr val="333333"/>
                  </a:solidFill>
                  <a:latin typeface="Segoe UI"/>
                  <a:cs typeface="Segoe UI"/>
                </a:rPr>
                <a:t>System</a:t>
              </a:r>
              <a:endParaRPr lang="en-US" sz="1400" dirty="0">
                <a:latin typeface="Segoe UI"/>
                <a:cs typeface="Segoe UI"/>
              </a:endParaRPr>
            </a:p>
            <a:p>
              <a:pPr marL="12700" marR="5080">
                <a:lnSpc>
                  <a:spcPct val="129600"/>
                </a:lnSpc>
                <a:spcBef>
                  <a:spcPts val="795"/>
                </a:spcBef>
              </a:pPr>
              <a:r>
                <a:rPr lang="en-US" sz="1400" dirty="0">
                  <a:solidFill>
                    <a:srgbClr val="333333"/>
                  </a:solidFill>
                  <a:latin typeface="Segoe UI"/>
                  <a:cs typeface="Segoe UI"/>
                </a:rPr>
                <a:t>Detect when a note is played</a:t>
              </a:r>
              <a:endParaRPr lang="en-US" sz="1400" dirty="0">
                <a:latin typeface="Segoe UI"/>
                <a:cs typeface="Segoe UI"/>
              </a:endParaRPr>
            </a:p>
          </p:txBody>
        </p:sp>
        <p:pic>
          <p:nvPicPr>
            <p:cNvPr id="14" name="object 7">
              <a:extLst>
                <a:ext uri="{FF2B5EF4-FFF2-40B4-BE49-F238E27FC236}">
                  <a16:creationId xmlns:a16="http://schemas.microsoft.com/office/drawing/2014/main" id="{1A78ED42-6804-8FB8-EF6F-4546E10B35A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5759" y="2306638"/>
              <a:ext cx="192546" cy="167431"/>
            </a:xfrm>
            <a:prstGeom prst="rect">
              <a:avLst/>
            </a:prstGeom>
          </p:spPr>
        </p:pic>
        <p:grpSp>
          <p:nvGrpSpPr>
            <p:cNvPr id="15" name="object 11">
              <a:extLst>
                <a:ext uri="{FF2B5EF4-FFF2-40B4-BE49-F238E27FC236}">
                  <a16:creationId xmlns:a16="http://schemas.microsoft.com/office/drawing/2014/main" id="{92837588-F334-28F7-7FA1-1107D961A9F4}"/>
                </a:ext>
              </a:extLst>
            </p:cNvPr>
            <p:cNvGrpSpPr/>
            <p:nvPr/>
          </p:nvGrpSpPr>
          <p:grpSpPr>
            <a:xfrm>
              <a:off x="6104009" y="2026315"/>
              <a:ext cx="5562600" cy="1295678"/>
              <a:chOff x="6248399" y="2619374"/>
              <a:chExt cx="5562600" cy="1295678"/>
            </a:xfrm>
          </p:grpSpPr>
          <p:sp>
            <p:nvSpPr>
              <p:cNvPr id="16" name="object 12">
                <a:extLst>
                  <a:ext uri="{FF2B5EF4-FFF2-40B4-BE49-F238E27FC236}">
                    <a16:creationId xmlns:a16="http://schemas.microsoft.com/office/drawing/2014/main" id="{8B93E94A-26BD-C419-AF8F-605FF1DCFA1B}"/>
                  </a:ext>
                </a:extLst>
              </p:cNvPr>
              <p:cNvSpPr/>
              <p:nvPr/>
            </p:nvSpPr>
            <p:spPr>
              <a:xfrm>
                <a:off x="6267449" y="2619374"/>
                <a:ext cx="5543550" cy="1295400"/>
              </a:xfrm>
              <a:custGeom>
                <a:avLst/>
                <a:gdLst/>
                <a:ahLst/>
                <a:cxnLst/>
                <a:rect l="l" t="t" r="r" b="b"/>
                <a:pathLst>
                  <a:path w="5543550" h="1295400">
                    <a:moveTo>
                      <a:pt x="5472352" y="1295399"/>
                    </a:moveTo>
                    <a:lnTo>
                      <a:pt x="53397" y="1295399"/>
                    </a:lnTo>
                    <a:lnTo>
                      <a:pt x="49680" y="1294911"/>
                    </a:lnTo>
                    <a:lnTo>
                      <a:pt x="14084" y="1269543"/>
                    </a:lnTo>
                    <a:lnTo>
                      <a:pt x="365" y="1229158"/>
                    </a:lnTo>
                    <a:lnTo>
                      <a:pt x="0" y="1224203"/>
                    </a:lnTo>
                    <a:lnTo>
                      <a:pt x="0" y="1219199"/>
                    </a:lnTo>
                    <a:lnTo>
                      <a:pt x="0" y="71196"/>
                    </a:lnTo>
                    <a:lnTo>
                      <a:pt x="11715" y="29704"/>
                    </a:lnTo>
                    <a:lnTo>
                      <a:pt x="42320" y="2439"/>
                    </a:lnTo>
                    <a:lnTo>
                      <a:pt x="53397" y="0"/>
                    </a:lnTo>
                    <a:lnTo>
                      <a:pt x="5472352" y="0"/>
                    </a:lnTo>
                    <a:lnTo>
                      <a:pt x="5513844" y="15621"/>
                    </a:lnTo>
                    <a:lnTo>
                      <a:pt x="5539663" y="51661"/>
                    </a:lnTo>
                    <a:lnTo>
                      <a:pt x="5543549" y="71196"/>
                    </a:lnTo>
                    <a:lnTo>
                      <a:pt x="5543549" y="1224203"/>
                    </a:lnTo>
                    <a:lnTo>
                      <a:pt x="5527927" y="1265693"/>
                    </a:lnTo>
                    <a:lnTo>
                      <a:pt x="5491887" y="1291513"/>
                    </a:lnTo>
                    <a:lnTo>
                      <a:pt x="5477308" y="1294911"/>
                    </a:lnTo>
                    <a:lnTo>
                      <a:pt x="5472352" y="1295399"/>
                    </a:lnTo>
                    <a:close/>
                  </a:path>
                </a:pathLst>
              </a:custGeom>
              <a:solidFill>
                <a:srgbClr val="FFF5EB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 dirty="0"/>
              </a:p>
            </p:txBody>
          </p:sp>
          <p:sp>
            <p:nvSpPr>
              <p:cNvPr id="20" name="object 13">
                <a:extLst>
                  <a:ext uri="{FF2B5EF4-FFF2-40B4-BE49-F238E27FC236}">
                    <a16:creationId xmlns:a16="http://schemas.microsoft.com/office/drawing/2014/main" id="{0F105F10-58C2-FBCF-CB48-029200106D65}"/>
                  </a:ext>
                </a:extLst>
              </p:cNvPr>
              <p:cNvSpPr/>
              <p:nvPr/>
            </p:nvSpPr>
            <p:spPr>
              <a:xfrm>
                <a:off x="6248399" y="2619652"/>
                <a:ext cx="70485" cy="1295400"/>
              </a:xfrm>
              <a:custGeom>
                <a:avLst/>
                <a:gdLst/>
                <a:ahLst/>
                <a:cxnLst/>
                <a:rect l="l" t="t" r="r" b="b"/>
                <a:pathLst>
                  <a:path w="70485" h="1295400">
                    <a:moveTo>
                      <a:pt x="70450" y="1294844"/>
                    </a:moveTo>
                    <a:lnTo>
                      <a:pt x="33857" y="1282291"/>
                    </a:lnTo>
                    <a:lnTo>
                      <a:pt x="5800" y="1248082"/>
                    </a:lnTo>
                    <a:lnTo>
                      <a:pt x="0" y="1218922"/>
                    </a:lnTo>
                    <a:lnTo>
                      <a:pt x="0" y="75922"/>
                    </a:lnTo>
                    <a:lnTo>
                      <a:pt x="12829" y="33579"/>
                    </a:lnTo>
                    <a:lnTo>
                      <a:pt x="47038" y="5522"/>
                    </a:lnTo>
                    <a:lnTo>
                      <a:pt x="70449" y="0"/>
                    </a:lnTo>
                    <a:lnTo>
                      <a:pt x="66287" y="1655"/>
                    </a:lnTo>
                    <a:lnTo>
                      <a:pt x="56951" y="9389"/>
                    </a:lnTo>
                    <a:lnTo>
                      <a:pt x="40999" y="46761"/>
                    </a:lnTo>
                    <a:lnTo>
                      <a:pt x="38100" y="75922"/>
                    </a:lnTo>
                    <a:lnTo>
                      <a:pt x="38100" y="1218922"/>
                    </a:lnTo>
                    <a:lnTo>
                      <a:pt x="44515" y="1261264"/>
                    </a:lnTo>
                    <a:lnTo>
                      <a:pt x="66287" y="1293188"/>
                    </a:lnTo>
                    <a:lnTo>
                      <a:pt x="70450" y="1294844"/>
                    </a:lnTo>
                    <a:close/>
                  </a:path>
                </a:pathLst>
              </a:custGeom>
              <a:solidFill>
                <a:srgbClr val="FF6A00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pic>
            <p:nvPicPr>
              <p:cNvPr id="22" name="object 14">
                <a:extLst>
                  <a:ext uri="{FF2B5EF4-FFF2-40B4-BE49-F238E27FC236}">
                    <a16:creationId xmlns:a16="http://schemas.microsoft.com/office/drawing/2014/main" id="{C3399AE1-05A3-7787-13A9-8046CE1D871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476999" y="2857499"/>
                <a:ext cx="190499" cy="190499"/>
              </a:xfrm>
              <a:prstGeom prst="rect">
                <a:avLst/>
              </a:prstGeom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5D11173-3298-A8C4-D227-AB006BF7DCB9}"/>
                </a:ext>
              </a:extLst>
            </p:cNvPr>
            <p:cNvSpPr txBox="1"/>
            <p:nvPr/>
          </p:nvSpPr>
          <p:spPr>
            <a:xfrm>
              <a:off x="6478269" y="2189267"/>
              <a:ext cx="4822191" cy="9694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0165">
                <a:lnSpc>
                  <a:spcPct val="100000"/>
                </a:lnSpc>
                <a:spcBef>
                  <a:spcPts val="100"/>
                </a:spcBef>
              </a:pPr>
              <a:r>
                <a:rPr lang="en-US" sz="1400" b="1" spc="-10" dirty="0">
                  <a:solidFill>
                    <a:srgbClr val="333333"/>
                  </a:solidFill>
                  <a:latin typeface="Segoe UI"/>
                  <a:cs typeface="Segoe UI"/>
                </a:rPr>
                <a:t>Dual-</a:t>
              </a:r>
              <a:r>
                <a:rPr lang="en-US" sz="1400" b="1" dirty="0">
                  <a:solidFill>
                    <a:srgbClr val="333333"/>
                  </a:solidFill>
                  <a:latin typeface="Segoe UI"/>
                  <a:cs typeface="Segoe UI"/>
                </a:rPr>
                <a:t>Model</a:t>
              </a:r>
              <a:r>
                <a:rPr lang="en-US" sz="1400" b="1" spc="-40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b="1" dirty="0">
                  <a:solidFill>
                    <a:srgbClr val="333333"/>
                  </a:solidFill>
                  <a:latin typeface="Segoe UI"/>
                  <a:cs typeface="Segoe UI"/>
                </a:rPr>
                <a:t>Pitch</a:t>
              </a:r>
              <a:r>
                <a:rPr lang="en-US" sz="1400" b="1" spc="-40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b="1" spc="-10" dirty="0">
                  <a:solidFill>
                    <a:srgbClr val="333333"/>
                  </a:solidFill>
                  <a:latin typeface="Segoe UI"/>
                  <a:cs typeface="Segoe UI"/>
                </a:rPr>
                <a:t>Estimator</a:t>
              </a:r>
              <a:endParaRPr lang="en-US" sz="1400" dirty="0">
                <a:latin typeface="Segoe UI"/>
                <a:cs typeface="Segoe UI"/>
              </a:endParaRPr>
            </a:p>
            <a:p>
              <a:pPr marL="12700">
                <a:lnSpc>
                  <a:spcPct val="100000"/>
                </a:lnSpc>
                <a:spcBef>
                  <a:spcPts val="1275"/>
                </a:spcBef>
              </a:pPr>
              <a:r>
                <a:rPr lang="en-US" sz="1400" b="1" dirty="0">
                  <a:solidFill>
                    <a:srgbClr val="333333"/>
                  </a:solidFill>
                  <a:latin typeface="Segoe UI"/>
                  <a:cs typeface="Segoe UI"/>
                </a:rPr>
                <a:t>CREPE</a:t>
              </a:r>
              <a:r>
                <a:rPr lang="en-US" sz="1400" b="1" spc="-2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b="1" dirty="0">
                  <a:solidFill>
                    <a:srgbClr val="333333"/>
                  </a:solidFill>
                  <a:latin typeface="Segoe UI"/>
                  <a:cs typeface="Segoe UI"/>
                </a:rPr>
                <a:t>Model:</a:t>
              </a:r>
              <a:r>
                <a:rPr lang="en-US" sz="1400" b="1" spc="-2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dirty="0">
                  <a:solidFill>
                    <a:srgbClr val="333333"/>
                  </a:solidFill>
                  <a:latin typeface="Segoe UI"/>
                  <a:cs typeface="Segoe UI"/>
                </a:rPr>
                <a:t>Accurate</a:t>
              </a:r>
              <a:r>
                <a:rPr lang="en-US" sz="1400" spc="-20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dirty="0">
                  <a:solidFill>
                    <a:srgbClr val="333333"/>
                  </a:solidFill>
                  <a:latin typeface="Segoe UI"/>
                  <a:cs typeface="Segoe UI"/>
                </a:rPr>
                <a:t>for</a:t>
              </a:r>
              <a:r>
                <a:rPr lang="en-US" sz="1400" spc="-20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dirty="0">
                  <a:solidFill>
                    <a:srgbClr val="333333"/>
                  </a:solidFill>
                  <a:latin typeface="Segoe UI"/>
                  <a:cs typeface="Segoe UI"/>
                </a:rPr>
                <a:t>mid/high</a:t>
              </a:r>
              <a:r>
                <a:rPr lang="en-US" sz="1400" spc="-20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dirty="0">
                  <a:solidFill>
                    <a:srgbClr val="333333"/>
                  </a:solidFill>
                  <a:latin typeface="Segoe UI"/>
                  <a:cs typeface="Segoe UI"/>
                </a:rPr>
                <a:t>notes</a:t>
              </a:r>
              <a:r>
                <a:rPr lang="en-US" sz="1400" spc="-20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spc="-10" dirty="0">
                  <a:solidFill>
                    <a:srgbClr val="333333"/>
                  </a:solidFill>
                  <a:latin typeface="Segoe UI"/>
                  <a:cs typeface="Segoe UI"/>
                </a:rPr>
                <a:t>(A3–A5)</a:t>
              </a:r>
              <a:endParaRPr lang="en-US" sz="1400" dirty="0">
                <a:latin typeface="Segoe UI"/>
                <a:cs typeface="Segoe UI"/>
              </a:endParaRPr>
            </a:p>
            <a:p>
              <a:pPr marL="12700">
                <a:lnSpc>
                  <a:spcPct val="100000"/>
                </a:lnSpc>
                <a:spcBef>
                  <a:spcPts val="480"/>
                </a:spcBef>
              </a:pPr>
              <a:r>
                <a:rPr lang="en-US" sz="1400" b="1" dirty="0">
                  <a:solidFill>
                    <a:srgbClr val="333333"/>
                  </a:solidFill>
                  <a:latin typeface="Segoe UI"/>
                  <a:cs typeface="Segoe UI"/>
                </a:rPr>
                <a:t>Low</a:t>
              </a:r>
              <a:r>
                <a:rPr lang="en-US" sz="1400" b="1" spc="-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b="1" dirty="0">
                  <a:solidFill>
                    <a:srgbClr val="333333"/>
                  </a:solidFill>
                  <a:latin typeface="Segoe UI"/>
                  <a:cs typeface="Segoe UI"/>
                </a:rPr>
                <a:t>Note</a:t>
              </a:r>
              <a:r>
                <a:rPr lang="en-US" sz="1400" b="1" spc="-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b="1" dirty="0">
                  <a:solidFill>
                    <a:srgbClr val="333333"/>
                  </a:solidFill>
                  <a:latin typeface="Segoe UI"/>
                  <a:cs typeface="Segoe UI"/>
                </a:rPr>
                <a:t>CNN</a:t>
              </a:r>
              <a:r>
                <a:rPr lang="en-US" sz="1400" b="1" spc="-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b="1" dirty="0">
                  <a:solidFill>
                    <a:srgbClr val="333333"/>
                  </a:solidFill>
                  <a:latin typeface="Segoe UI"/>
                  <a:cs typeface="Segoe UI"/>
                </a:rPr>
                <a:t>Model:</a:t>
              </a:r>
              <a:r>
                <a:rPr lang="en-US" sz="1400" b="1" spc="-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dirty="0">
                  <a:solidFill>
                    <a:srgbClr val="333333"/>
                  </a:solidFill>
                  <a:latin typeface="Segoe UI"/>
                  <a:cs typeface="Segoe UI"/>
                </a:rPr>
                <a:t>Specialized</a:t>
              </a:r>
              <a:r>
                <a:rPr lang="en-US" sz="1400" spc="-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dirty="0">
                  <a:solidFill>
                    <a:srgbClr val="333333"/>
                  </a:solidFill>
                  <a:latin typeface="Segoe UI"/>
                  <a:cs typeface="Segoe UI"/>
                </a:rPr>
                <a:t>for</a:t>
              </a:r>
              <a:r>
                <a:rPr lang="en-US" sz="1400" spc="-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dirty="0">
                  <a:solidFill>
                    <a:srgbClr val="333333"/>
                  </a:solidFill>
                  <a:latin typeface="Segoe UI"/>
                  <a:cs typeface="Segoe UI"/>
                </a:rPr>
                <a:t>low notes</a:t>
              </a:r>
              <a:r>
                <a:rPr lang="en-US" sz="1400" spc="-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400" spc="-10" dirty="0">
                  <a:solidFill>
                    <a:srgbClr val="333333"/>
                  </a:solidFill>
                  <a:latin typeface="Segoe UI"/>
                  <a:cs typeface="Segoe UI"/>
                </a:rPr>
                <a:t>(E2–B2)</a:t>
              </a:r>
              <a:endParaRPr lang="en-US" sz="1400" dirty="0">
                <a:latin typeface="Segoe UI"/>
                <a:cs typeface="Segoe UI"/>
              </a:endParaRPr>
            </a:p>
          </p:txBody>
        </p:sp>
        <p:pic>
          <p:nvPicPr>
            <p:cNvPr id="27" name="object 10">
              <a:extLst>
                <a:ext uri="{FF2B5EF4-FFF2-40B4-BE49-F238E27FC236}">
                  <a16:creationId xmlns:a16="http://schemas.microsoft.com/office/drawing/2014/main" id="{744D981F-FDF6-6081-89CE-5F46A96E7F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5350" y="3739942"/>
              <a:ext cx="8572499" cy="952499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B8D379D-B7AB-D5BF-6E60-8E2572298CD3}"/>
                </a:ext>
              </a:extLst>
            </p:cNvPr>
            <p:cNvSpPr txBox="1"/>
            <p:nvPr/>
          </p:nvSpPr>
          <p:spPr>
            <a:xfrm>
              <a:off x="2044151" y="4049089"/>
              <a:ext cx="95918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400" b="1" dirty="0">
                  <a:solidFill>
                    <a:srgbClr val="333333"/>
                  </a:solidFill>
                  <a:latin typeface="Segoe UI Semibold"/>
                  <a:cs typeface="Segoe UI Semibold"/>
                </a:rPr>
                <a:t>Audio </a:t>
              </a:r>
              <a:r>
                <a:rPr lang="en-US" sz="1400" b="1" spc="-25" dirty="0">
                  <a:solidFill>
                    <a:srgbClr val="333333"/>
                  </a:solidFill>
                  <a:latin typeface="Segoe UI Semibold"/>
                  <a:cs typeface="Segoe UI Semibold"/>
                </a:rPr>
                <a:t>In</a:t>
              </a:r>
              <a:endParaRPr lang="en-US" sz="1400" dirty="0">
                <a:latin typeface="Segoe UI Semibold"/>
                <a:cs typeface="Segoe UI Semibold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F33843A-2AE7-3339-E81A-D4EC94D5C620}"/>
                </a:ext>
              </a:extLst>
            </p:cNvPr>
            <p:cNvSpPr txBox="1"/>
            <p:nvPr/>
          </p:nvSpPr>
          <p:spPr>
            <a:xfrm>
              <a:off x="3435032" y="4049088"/>
              <a:ext cx="152685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400" b="1" dirty="0">
                  <a:solidFill>
                    <a:srgbClr val="333333"/>
                  </a:solidFill>
                  <a:latin typeface="Segoe UI Semibold"/>
                  <a:cs typeface="Segoe UI Semibold"/>
                </a:rPr>
                <a:t>Onset</a:t>
              </a:r>
              <a:r>
                <a:rPr lang="en-US" sz="1400" b="1" spc="-35" dirty="0">
                  <a:solidFill>
                    <a:srgbClr val="333333"/>
                  </a:solidFill>
                  <a:latin typeface="Segoe UI Semibold"/>
                  <a:cs typeface="Segoe UI Semibold"/>
                </a:rPr>
                <a:t> </a:t>
              </a:r>
              <a:r>
                <a:rPr lang="en-US" sz="1400" b="1" spc="-10" dirty="0">
                  <a:solidFill>
                    <a:srgbClr val="333333"/>
                  </a:solidFill>
                  <a:latin typeface="Segoe UI Semibold"/>
                  <a:cs typeface="Segoe UI Semibold"/>
                </a:rPr>
                <a:t>Detection</a:t>
              </a:r>
              <a:endParaRPr lang="en-US" sz="1400" dirty="0">
                <a:latin typeface="Segoe UI Semibold"/>
                <a:cs typeface="Segoe UI Semibold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0641C5B-715A-0260-47B8-2931993745A2}"/>
                </a:ext>
              </a:extLst>
            </p:cNvPr>
            <p:cNvSpPr txBox="1"/>
            <p:nvPr/>
          </p:nvSpPr>
          <p:spPr>
            <a:xfrm>
              <a:off x="5626694" y="4091466"/>
              <a:ext cx="229760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baseline="2645" dirty="0">
                  <a:solidFill>
                    <a:srgbClr val="333333"/>
                  </a:solidFill>
                  <a:latin typeface="Segoe UI Semibold"/>
                  <a:cs typeface="Segoe UI Semibold"/>
                </a:rPr>
                <a:t>CREPE</a:t>
              </a:r>
              <a:r>
                <a:rPr lang="en-US" sz="1800" b="1" spc="-15" baseline="2645" dirty="0">
                  <a:solidFill>
                    <a:srgbClr val="333333"/>
                  </a:solidFill>
                  <a:latin typeface="Segoe UI Semibold"/>
                  <a:cs typeface="Segoe UI Semibold"/>
                </a:rPr>
                <a:t> </a:t>
              </a:r>
              <a:r>
                <a:rPr lang="en-US" sz="1800" b="1" baseline="2645" dirty="0">
                  <a:solidFill>
                    <a:srgbClr val="333333"/>
                  </a:solidFill>
                  <a:latin typeface="Segoe UI Semibold"/>
                  <a:cs typeface="Segoe UI Semibold"/>
                </a:rPr>
                <a:t>/</a:t>
              </a:r>
              <a:r>
                <a:rPr lang="en-US" sz="1800" b="1" spc="-22" baseline="2645" dirty="0">
                  <a:solidFill>
                    <a:srgbClr val="333333"/>
                  </a:solidFill>
                  <a:latin typeface="Segoe UI Semibold"/>
                  <a:cs typeface="Segoe UI Semibold"/>
                </a:rPr>
                <a:t> </a:t>
              </a:r>
              <a:r>
                <a:rPr lang="en-US" sz="1800" b="1" baseline="2645" dirty="0">
                  <a:solidFill>
                    <a:srgbClr val="333333"/>
                  </a:solidFill>
                  <a:latin typeface="Segoe UI Semibold"/>
                  <a:cs typeface="Segoe UI Semibold"/>
                </a:rPr>
                <a:t>Low</a:t>
              </a:r>
              <a:r>
                <a:rPr lang="en-US" sz="1800" b="1" spc="-22" baseline="2645" dirty="0">
                  <a:solidFill>
                    <a:srgbClr val="333333"/>
                  </a:solidFill>
                  <a:latin typeface="Segoe UI Semibold"/>
                  <a:cs typeface="Segoe UI Semibold"/>
                </a:rPr>
                <a:t> </a:t>
              </a:r>
              <a:r>
                <a:rPr lang="en-US" b="1" spc="-30" baseline="2645" dirty="0">
                  <a:solidFill>
                    <a:srgbClr val="333333"/>
                  </a:solidFill>
                  <a:latin typeface="Segoe UI Semibold"/>
                  <a:cs typeface="Segoe UI Semibold"/>
                </a:rPr>
                <a:t>Note Model</a:t>
              </a:r>
              <a:endParaRPr lang="en-US" sz="1800" baseline="2645" dirty="0">
                <a:latin typeface="Segoe UI Semibold"/>
                <a:cs typeface="Segoe UI Semibold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0207C10-7C3F-BDE4-5C37-C553F892C99A}"/>
                </a:ext>
              </a:extLst>
            </p:cNvPr>
            <p:cNvSpPr txBox="1"/>
            <p:nvPr/>
          </p:nvSpPr>
          <p:spPr>
            <a:xfrm>
              <a:off x="8525580" y="4049088"/>
              <a:ext cx="12139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400" b="1" dirty="0">
                  <a:solidFill>
                    <a:srgbClr val="333333"/>
                  </a:solidFill>
                  <a:latin typeface="Segoe UI Semibold"/>
                  <a:cs typeface="Segoe UI Semibold"/>
                </a:rPr>
                <a:t>Note</a:t>
              </a:r>
              <a:r>
                <a:rPr lang="en-US" sz="1400" b="1" spc="-35" dirty="0">
                  <a:solidFill>
                    <a:srgbClr val="333333"/>
                  </a:solidFill>
                  <a:latin typeface="Segoe UI Semibold"/>
                  <a:cs typeface="Segoe UI Semibold"/>
                </a:rPr>
                <a:t> </a:t>
              </a:r>
              <a:r>
                <a:rPr lang="en-US" sz="1400" b="1" spc="-10" dirty="0">
                  <a:solidFill>
                    <a:srgbClr val="333333"/>
                  </a:solidFill>
                  <a:latin typeface="Segoe UI Semibold"/>
                  <a:cs typeface="Segoe UI Semibold"/>
                </a:rPr>
                <a:t>Output</a:t>
              </a:r>
              <a:endParaRPr lang="en-US" sz="1400" dirty="0">
                <a:latin typeface="Segoe UI Semibold"/>
                <a:cs typeface="Segoe UI Semibold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C649228-C133-B1B0-6C1B-FAF0859F60AE}"/>
                </a:ext>
              </a:extLst>
            </p:cNvPr>
            <p:cNvSpPr txBox="1"/>
            <p:nvPr/>
          </p:nvSpPr>
          <p:spPr>
            <a:xfrm>
              <a:off x="923434" y="4952142"/>
              <a:ext cx="62877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800" b="1" dirty="0">
                  <a:solidFill>
                    <a:srgbClr val="333333"/>
                  </a:solidFill>
                  <a:latin typeface="Segoe UI"/>
                  <a:cs typeface="Segoe UI"/>
                </a:rPr>
                <a:t>System</a:t>
              </a:r>
              <a:r>
                <a:rPr lang="en-US" sz="1800" b="1" spc="-9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800" b="1" spc="-10" dirty="0">
                  <a:solidFill>
                    <a:srgbClr val="333333"/>
                  </a:solidFill>
                  <a:latin typeface="Segoe UI"/>
                  <a:cs typeface="Segoe UI"/>
                </a:rPr>
                <a:t>Highlights</a:t>
              </a:r>
              <a:endParaRPr lang="en-US" sz="1800" dirty="0">
                <a:latin typeface="Segoe UI"/>
                <a:cs typeface="Segoe UI"/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5B4644D-22A8-0EFF-649B-0E402DA096B4}"/>
                </a:ext>
              </a:extLst>
            </p:cNvPr>
            <p:cNvGrpSpPr/>
            <p:nvPr/>
          </p:nvGrpSpPr>
          <p:grpSpPr>
            <a:xfrm>
              <a:off x="1428413" y="5557519"/>
              <a:ext cx="1473200" cy="824230"/>
              <a:chOff x="1549399" y="6238874"/>
              <a:chExt cx="1473200" cy="824230"/>
            </a:xfrm>
          </p:grpSpPr>
          <p:sp>
            <p:nvSpPr>
              <p:cNvPr id="38" name="object 22">
                <a:extLst>
                  <a:ext uri="{FF2B5EF4-FFF2-40B4-BE49-F238E27FC236}">
                    <a16:creationId xmlns:a16="http://schemas.microsoft.com/office/drawing/2014/main" id="{CA79CDC0-3501-BCA9-7A9A-025840952B2F}"/>
                  </a:ext>
                </a:extLst>
              </p:cNvPr>
              <p:cNvSpPr/>
              <p:nvPr/>
            </p:nvSpPr>
            <p:spPr>
              <a:xfrm>
                <a:off x="2143399" y="6238874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156604" y="284480"/>
                    </a:moveTo>
                    <a:lnTo>
                      <a:pt x="128596" y="284480"/>
                    </a:lnTo>
                    <a:lnTo>
                      <a:pt x="101125" y="279400"/>
                    </a:lnTo>
                    <a:lnTo>
                      <a:pt x="81505" y="271780"/>
                    </a:lnTo>
                    <a:lnTo>
                      <a:pt x="75248" y="267970"/>
                    </a:lnTo>
                    <a:lnTo>
                      <a:pt x="69154" y="264160"/>
                    </a:lnTo>
                    <a:lnTo>
                      <a:pt x="63223" y="261620"/>
                    </a:lnTo>
                    <a:lnTo>
                      <a:pt x="57482" y="256540"/>
                    </a:lnTo>
                    <a:lnTo>
                      <a:pt x="51960" y="252730"/>
                    </a:lnTo>
                    <a:lnTo>
                      <a:pt x="46657" y="247650"/>
                    </a:lnTo>
                    <a:lnTo>
                      <a:pt x="41572" y="243840"/>
                    </a:lnTo>
                    <a:lnTo>
                      <a:pt x="36730" y="238760"/>
                    </a:lnTo>
                    <a:lnTo>
                      <a:pt x="32155" y="232410"/>
                    </a:lnTo>
                    <a:lnTo>
                      <a:pt x="27846" y="227330"/>
                    </a:lnTo>
                    <a:lnTo>
                      <a:pt x="8073" y="190500"/>
                    </a:lnTo>
                    <a:lnTo>
                      <a:pt x="0" y="151130"/>
                    </a:lnTo>
                    <a:lnTo>
                      <a:pt x="0" y="133350"/>
                    </a:lnTo>
                    <a:lnTo>
                      <a:pt x="8073" y="93980"/>
                    </a:lnTo>
                    <a:lnTo>
                      <a:pt x="27846" y="57150"/>
                    </a:lnTo>
                    <a:lnTo>
                      <a:pt x="32155" y="52070"/>
                    </a:lnTo>
                    <a:lnTo>
                      <a:pt x="36730" y="45720"/>
                    </a:lnTo>
                    <a:lnTo>
                      <a:pt x="41572" y="40640"/>
                    </a:lnTo>
                    <a:lnTo>
                      <a:pt x="46657" y="36830"/>
                    </a:lnTo>
                    <a:lnTo>
                      <a:pt x="51960" y="31750"/>
                    </a:lnTo>
                    <a:lnTo>
                      <a:pt x="57482" y="27940"/>
                    </a:lnTo>
                    <a:lnTo>
                      <a:pt x="63223" y="22860"/>
                    </a:lnTo>
                    <a:lnTo>
                      <a:pt x="69154" y="20320"/>
                    </a:lnTo>
                    <a:lnTo>
                      <a:pt x="128596" y="0"/>
                    </a:lnTo>
                    <a:lnTo>
                      <a:pt x="156604" y="0"/>
                    </a:lnTo>
                    <a:lnTo>
                      <a:pt x="197276" y="10160"/>
                    </a:lnTo>
                    <a:lnTo>
                      <a:pt x="216046" y="20320"/>
                    </a:lnTo>
                    <a:lnTo>
                      <a:pt x="221977" y="22860"/>
                    </a:lnTo>
                    <a:lnTo>
                      <a:pt x="227718" y="27940"/>
                    </a:lnTo>
                    <a:lnTo>
                      <a:pt x="233240" y="31750"/>
                    </a:lnTo>
                    <a:lnTo>
                      <a:pt x="237217" y="35560"/>
                    </a:lnTo>
                    <a:lnTo>
                      <a:pt x="137953" y="35560"/>
                    </a:lnTo>
                    <a:lnTo>
                      <a:pt x="133577" y="36830"/>
                    </a:lnTo>
                    <a:lnTo>
                      <a:pt x="124741" y="50800"/>
                    </a:lnTo>
                    <a:lnTo>
                      <a:pt x="124741" y="55880"/>
                    </a:lnTo>
                    <a:lnTo>
                      <a:pt x="127006" y="62230"/>
                    </a:lnTo>
                    <a:lnTo>
                      <a:pt x="75446" y="62230"/>
                    </a:lnTo>
                    <a:lnTo>
                      <a:pt x="62233" y="77470"/>
                    </a:lnTo>
                    <a:lnTo>
                      <a:pt x="62233" y="82550"/>
                    </a:lnTo>
                    <a:lnTo>
                      <a:pt x="64499" y="88900"/>
                    </a:lnTo>
                    <a:lnTo>
                      <a:pt x="65789" y="90170"/>
                    </a:lnTo>
                    <a:lnTo>
                      <a:pt x="69138" y="93980"/>
                    </a:lnTo>
                    <a:lnTo>
                      <a:pt x="71070" y="95250"/>
                    </a:lnTo>
                    <a:lnTo>
                      <a:pt x="75446" y="96520"/>
                    </a:lnTo>
                    <a:lnTo>
                      <a:pt x="77724" y="97790"/>
                    </a:lnTo>
                    <a:lnTo>
                      <a:pt x="171093" y="97790"/>
                    </a:lnTo>
                    <a:lnTo>
                      <a:pt x="159336" y="124460"/>
                    </a:lnTo>
                    <a:lnTo>
                      <a:pt x="48657" y="124460"/>
                    </a:lnTo>
                    <a:lnTo>
                      <a:pt x="44281" y="127000"/>
                    </a:lnTo>
                    <a:lnTo>
                      <a:pt x="35444" y="139700"/>
                    </a:lnTo>
                    <a:lnTo>
                      <a:pt x="35444" y="144780"/>
                    </a:lnTo>
                    <a:lnTo>
                      <a:pt x="48657" y="160020"/>
                    </a:lnTo>
                    <a:lnTo>
                      <a:pt x="142600" y="160020"/>
                    </a:lnTo>
                    <a:lnTo>
                      <a:pt x="128708" y="162560"/>
                    </a:lnTo>
                    <a:lnTo>
                      <a:pt x="117353" y="170180"/>
                    </a:lnTo>
                    <a:lnTo>
                      <a:pt x="109692" y="181610"/>
                    </a:lnTo>
                    <a:lnTo>
                      <a:pt x="106881" y="195580"/>
                    </a:lnTo>
                    <a:lnTo>
                      <a:pt x="109692" y="209550"/>
                    </a:lnTo>
                    <a:lnTo>
                      <a:pt x="117353" y="220980"/>
                    </a:lnTo>
                    <a:lnTo>
                      <a:pt x="128708" y="228600"/>
                    </a:lnTo>
                    <a:lnTo>
                      <a:pt x="142600" y="231140"/>
                    </a:lnTo>
                    <a:lnTo>
                      <a:pt x="254122" y="231140"/>
                    </a:lnTo>
                    <a:lnTo>
                      <a:pt x="253045" y="232410"/>
                    </a:lnTo>
                    <a:lnTo>
                      <a:pt x="248470" y="238760"/>
                    </a:lnTo>
                    <a:lnTo>
                      <a:pt x="243628" y="243840"/>
                    </a:lnTo>
                    <a:lnTo>
                      <a:pt x="238543" y="247650"/>
                    </a:lnTo>
                    <a:lnTo>
                      <a:pt x="233240" y="252730"/>
                    </a:lnTo>
                    <a:lnTo>
                      <a:pt x="227718" y="256540"/>
                    </a:lnTo>
                    <a:lnTo>
                      <a:pt x="221977" y="261620"/>
                    </a:lnTo>
                    <a:lnTo>
                      <a:pt x="216046" y="264160"/>
                    </a:lnTo>
                    <a:lnTo>
                      <a:pt x="209952" y="267970"/>
                    </a:lnTo>
                    <a:lnTo>
                      <a:pt x="203695" y="271780"/>
                    </a:lnTo>
                    <a:lnTo>
                      <a:pt x="184075" y="279400"/>
                    </a:lnTo>
                    <a:lnTo>
                      <a:pt x="156604" y="284480"/>
                    </a:lnTo>
                    <a:close/>
                  </a:path>
                  <a:path w="285750" h="285750">
                    <a:moveTo>
                      <a:pt x="185090" y="71120"/>
                    </a:moveTo>
                    <a:lnTo>
                      <a:pt x="144968" y="71120"/>
                    </a:lnTo>
                    <a:lnTo>
                      <a:pt x="147246" y="69850"/>
                    </a:lnTo>
                    <a:lnTo>
                      <a:pt x="151622" y="68580"/>
                    </a:lnTo>
                    <a:lnTo>
                      <a:pt x="153554" y="67310"/>
                    </a:lnTo>
                    <a:lnTo>
                      <a:pt x="156903" y="63500"/>
                    </a:lnTo>
                    <a:lnTo>
                      <a:pt x="158194" y="62230"/>
                    </a:lnTo>
                    <a:lnTo>
                      <a:pt x="160459" y="55880"/>
                    </a:lnTo>
                    <a:lnTo>
                      <a:pt x="160459" y="50800"/>
                    </a:lnTo>
                    <a:lnTo>
                      <a:pt x="160006" y="48260"/>
                    </a:lnTo>
                    <a:lnTo>
                      <a:pt x="147246" y="35560"/>
                    </a:lnTo>
                    <a:lnTo>
                      <a:pt x="237217" y="35560"/>
                    </a:lnTo>
                    <a:lnTo>
                      <a:pt x="238543" y="36830"/>
                    </a:lnTo>
                    <a:lnTo>
                      <a:pt x="243628" y="40640"/>
                    </a:lnTo>
                    <a:lnTo>
                      <a:pt x="248470" y="45720"/>
                    </a:lnTo>
                    <a:lnTo>
                      <a:pt x="253045" y="52070"/>
                    </a:lnTo>
                    <a:lnTo>
                      <a:pt x="257354" y="57150"/>
                    </a:lnTo>
                    <a:lnTo>
                      <a:pt x="261396" y="62230"/>
                    </a:lnTo>
                    <a:lnTo>
                      <a:pt x="265153" y="68580"/>
                    </a:lnTo>
                    <a:lnTo>
                      <a:pt x="190374" y="68580"/>
                    </a:lnTo>
                    <a:lnTo>
                      <a:pt x="185090" y="71120"/>
                    </a:lnTo>
                    <a:close/>
                  </a:path>
                  <a:path w="285750" h="285750">
                    <a:moveTo>
                      <a:pt x="171093" y="97790"/>
                    </a:moveTo>
                    <a:lnTo>
                      <a:pt x="82460" y="97790"/>
                    </a:lnTo>
                    <a:lnTo>
                      <a:pt x="84739" y="96520"/>
                    </a:lnTo>
                    <a:lnTo>
                      <a:pt x="89115" y="95250"/>
                    </a:lnTo>
                    <a:lnTo>
                      <a:pt x="91046" y="93980"/>
                    </a:lnTo>
                    <a:lnTo>
                      <a:pt x="94395" y="90170"/>
                    </a:lnTo>
                    <a:lnTo>
                      <a:pt x="95686" y="88900"/>
                    </a:lnTo>
                    <a:lnTo>
                      <a:pt x="97952" y="82550"/>
                    </a:lnTo>
                    <a:lnTo>
                      <a:pt x="97952" y="77470"/>
                    </a:lnTo>
                    <a:lnTo>
                      <a:pt x="97498" y="74930"/>
                    </a:lnTo>
                    <a:lnTo>
                      <a:pt x="84739" y="62230"/>
                    </a:lnTo>
                    <a:lnTo>
                      <a:pt x="127006" y="62230"/>
                    </a:lnTo>
                    <a:lnTo>
                      <a:pt x="128297" y="63500"/>
                    </a:lnTo>
                    <a:lnTo>
                      <a:pt x="131646" y="67310"/>
                    </a:lnTo>
                    <a:lnTo>
                      <a:pt x="133577" y="68580"/>
                    </a:lnTo>
                    <a:lnTo>
                      <a:pt x="137953" y="69850"/>
                    </a:lnTo>
                    <a:lnTo>
                      <a:pt x="140232" y="71120"/>
                    </a:lnTo>
                    <a:lnTo>
                      <a:pt x="185090" y="71120"/>
                    </a:lnTo>
                    <a:lnTo>
                      <a:pt x="182449" y="72390"/>
                    </a:lnTo>
                    <a:lnTo>
                      <a:pt x="179491" y="78740"/>
                    </a:lnTo>
                    <a:lnTo>
                      <a:pt x="171093" y="97790"/>
                    </a:lnTo>
                    <a:close/>
                  </a:path>
                  <a:path w="285750" h="285750">
                    <a:moveTo>
                      <a:pt x="254122" y="231140"/>
                    </a:moveTo>
                    <a:lnTo>
                      <a:pt x="142600" y="231140"/>
                    </a:lnTo>
                    <a:lnTo>
                      <a:pt x="156492" y="228600"/>
                    </a:lnTo>
                    <a:lnTo>
                      <a:pt x="167847" y="220980"/>
                    </a:lnTo>
                    <a:lnTo>
                      <a:pt x="175508" y="209550"/>
                    </a:lnTo>
                    <a:lnTo>
                      <a:pt x="178319" y="195580"/>
                    </a:lnTo>
                    <a:lnTo>
                      <a:pt x="177619" y="189230"/>
                    </a:lnTo>
                    <a:lnTo>
                      <a:pt x="175612" y="181610"/>
                    </a:lnTo>
                    <a:lnTo>
                      <a:pt x="172432" y="176530"/>
                    </a:lnTo>
                    <a:lnTo>
                      <a:pt x="168217" y="171450"/>
                    </a:lnTo>
                    <a:lnTo>
                      <a:pt x="206950" y="82550"/>
                    </a:lnTo>
                    <a:lnTo>
                      <a:pt x="203880" y="74930"/>
                    </a:lnTo>
                    <a:lnTo>
                      <a:pt x="190374" y="68580"/>
                    </a:lnTo>
                    <a:lnTo>
                      <a:pt x="265153" y="68580"/>
                    </a:lnTo>
                    <a:lnTo>
                      <a:pt x="282730" y="114300"/>
                    </a:lnTo>
                    <a:lnTo>
                      <a:pt x="284360" y="124460"/>
                    </a:lnTo>
                    <a:lnTo>
                      <a:pt x="227250" y="124460"/>
                    </a:lnTo>
                    <a:lnTo>
                      <a:pt x="222874" y="127000"/>
                    </a:lnTo>
                    <a:lnTo>
                      <a:pt x="214037" y="139700"/>
                    </a:lnTo>
                    <a:lnTo>
                      <a:pt x="214037" y="144780"/>
                    </a:lnTo>
                    <a:lnTo>
                      <a:pt x="227250" y="160020"/>
                    </a:lnTo>
                    <a:lnTo>
                      <a:pt x="284360" y="160020"/>
                    </a:lnTo>
                    <a:lnTo>
                      <a:pt x="283931" y="163830"/>
                    </a:lnTo>
                    <a:lnTo>
                      <a:pt x="271755" y="203200"/>
                    </a:lnTo>
                    <a:lnTo>
                      <a:pt x="257354" y="227330"/>
                    </a:lnTo>
                    <a:lnTo>
                      <a:pt x="254122" y="231140"/>
                    </a:lnTo>
                    <a:close/>
                  </a:path>
                  <a:path w="285750" h="285750">
                    <a:moveTo>
                      <a:pt x="143660" y="160020"/>
                    </a:moveTo>
                    <a:lnTo>
                      <a:pt x="57950" y="160020"/>
                    </a:lnTo>
                    <a:lnTo>
                      <a:pt x="62326" y="157480"/>
                    </a:lnTo>
                    <a:lnTo>
                      <a:pt x="64257" y="156210"/>
                    </a:lnTo>
                    <a:lnTo>
                      <a:pt x="67606" y="153670"/>
                    </a:lnTo>
                    <a:lnTo>
                      <a:pt x="68897" y="151130"/>
                    </a:lnTo>
                    <a:lnTo>
                      <a:pt x="70709" y="147320"/>
                    </a:lnTo>
                    <a:lnTo>
                      <a:pt x="71162" y="144780"/>
                    </a:lnTo>
                    <a:lnTo>
                      <a:pt x="71162" y="139700"/>
                    </a:lnTo>
                    <a:lnTo>
                      <a:pt x="57950" y="124460"/>
                    </a:lnTo>
                    <a:lnTo>
                      <a:pt x="159336" y="124460"/>
                    </a:lnTo>
                    <a:lnTo>
                      <a:pt x="143660" y="160020"/>
                    </a:lnTo>
                    <a:close/>
                  </a:path>
                  <a:path w="285750" h="285750">
                    <a:moveTo>
                      <a:pt x="284360" y="160020"/>
                    </a:moveTo>
                    <a:lnTo>
                      <a:pt x="236543" y="160020"/>
                    </a:lnTo>
                    <a:lnTo>
                      <a:pt x="240919" y="157480"/>
                    </a:lnTo>
                    <a:lnTo>
                      <a:pt x="242851" y="156210"/>
                    </a:lnTo>
                    <a:lnTo>
                      <a:pt x="246200" y="153670"/>
                    </a:lnTo>
                    <a:lnTo>
                      <a:pt x="247490" y="151130"/>
                    </a:lnTo>
                    <a:lnTo>
                      <a:pt x="249303" y="147320"/>
                    </a:lnTo>
                    <a:lnTo>
                      <a:pt x="249756" y="144780"/>
                    </a:lnTo>
                    <a:lnTo>
                      <a:pt x="249756" y="139700"/>
                    </a:lnTo>
                    <a:lnTo>
                      <a:pt x="236543" y="124460"/>
                    </a:lnTo>
                    <a:lnTo>
                      <a:pt x="284360" y="124460"/>
                    </a:lnTo>
                    <a:lnTo>
                      <a:pt x="284789" y="128270"/>
                    </a:lnTo>
                    <a:lnTo>
                      <a:pt x="285200" y="133350"/>
                    </a:lnTo>
                    <a:lnTo>
                      <a:pt x="285200" y="151130"/>
                    </a:lnTo>
                    <a:lnTo>
                      <a:pt x="284789" y="156210"/>
                    </a:lnTo>
                    <a:lnTo>
                      <a:pt x="284360" y="160020"/>
                    </a:lnTo>
                    <a:close/>
                  </a:path>
                  <a:path w="285750" h="285750">
                    <a:moveTo>
                      <a:pt x="142600" y="285750"/>
                    </a:moveTo>
                    <a:lnTo>
                      <a:pt x="135581" y="284480"/>
                    </a:lnTo>
                    <a:lnTo>
                      <a:pt x="149619" y="284480"/>
                    </a:lnTo>
                    <a:lnTo>
                      <a:pt x="142600" y="285750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23">
                <a:extLst>
                  <a:ext uri="{FF2B5EF4-FFF2-40B4-BE49-F238E27FC236}">
                    <a16:creationId xmlns:a16="http://schemas.microsoft.com/office/drawing/2014/main" id="{8F1FFA44-AED7-890E-BF87-16FCC2609432}"/>
                  </a:ext>
                </a:extLst>
              </p:cNvPr>
              <p:cNvSpPr txBox="1"/>
              <p:nvPr/>
            </p:nvSpPr>
            <p:spPr>
              <a:xfrm>
                <a:off x="1549399" y="6580504"/>
                <a:ext cx="1473200" cy="482600"/>
              </a:xfrm>
              <a:prstGeom prst="rect">
                <a:avLst/>
              </a:prstGeom>
            </p:spPr>
            <p:txBody>
              <a:bodyPr vert="horz" wrap="square" lIns="0" tIns="58419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459"/>
                  </a:spcBef>
                </a:pPr>
                <a:r>
                  <a:rPr sz="1200" b="1" spc="-2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Real-</a:t>
                </a:r>
                <a:r>
                  <a:rPr sz="1200" b="1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time</a:t>
                </a:r>
                <a:r>
                  <a:rPr sz="1200" b="1" spc="1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 </a:t>
                </a:r>
                <a:r>
                  <a:rPr sz="1200" b="1" spc="-1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processing</a:t>
                </a:r>
                <a:endParaRPr sz="1200" dirty="0">
                  <a:latin typeface="Segoe UI Semibold"/>
                  <a:cs typeface="Segoe UI Semibold"/>
                </a:endParaRPr>
              </a:p>
              <a:p>
                <a:pPr algn="ctr">
                  <a:lnSpc>
                    <a:spcPct val="100000"/>
                  </a:lnSpc>
                  <a:spcBef>
                    <a:spcPts val="360"/>
                  </a:spcBef>
                </a:pPr>
                <a:r>
                  <a:rPr sz="1200" dirty="0">
                    <a:solidFill>
                      <a:srgbClr val="374050"/>
                    </a:solidFill>
                    <a:latin typeface="Segoe UI"/>
                    <a:cs typeface="Segoe UI"/>
                  </a:rPr>
                  <a:t>64</a:t>
                </a:r>
                <a:r>
                  <a:rPr sz="1200" spc="-15" dirty="0">
                    <a:solidFill>
                      <a:srgbClr val="374050"/>
                    </a:solidFill>
                    <a:latin typeface="Segoe UI"/>
                    <a:cs typeface="Segoe UI"/>
                  </a:rPr>
                  <a:t> </a:t>
                </a:r>
                <a:r>
                  <a:rPr sz="1200" dirty="0" err="1">
                    <a:solidFill>
                      <a:srgbClr val="374050"/>
                    </a:solidFill>
                    <a:latin typeface="Segoe UI"/>
                    <a:cs typeface="Segoe UI"/>
                  </a:rPr>
                  <a:t>ms</a:t>
                </a:r>
                <a:r>
                  <a:rPr sz="1200" spc="-15" dirty="0">
                    <a:solidFill>
                      <a:srgbClr val="374050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200" spc="-10" dirty="0">
                    <a:solidFill>
                      <a:srgbClr val="374050"/>
                    </a:solidFill>
                    <a:latin typeface="Segoe UI"/>
                    <a:cs typeface="Segoe UI"/>
                  </a:rPr>
                  <a:t>segment</a:t>
                </a:r>
                <a:endParaRPr sz="1200" dirty="0">
                  <a:latin typeface="Segoe UI"/>
                  <a:cs typeface="Segoe UI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8B08D2B-1490-5A33-E1D1-8FE51A86AE51}"/>
                </a:ext>
              </a:extLst>
            </p:cNvPr>
            <p:cNvGrpSpPr/>
            <p:nvPr/>
          </p:nvGrpSpPr>
          <p:grpSpPr>
            <a:xfrm>
              <a:off x="4911869" y="5557519"/>
              <a:ext cx="1776730" cy="824230"/>
              <a:chOff x="5207594" y="6238874"/>
              <a:chExt cx="1776730" cy="824230"/>
            </a:xfrm>
          </p:grpSpPr>
          <p:sp>
            <p:nvSpPr>
              <p:cNvPr id="40" name="object 24">
                <a:extLst>
                  <a:ext uri="{FF2B5EF4-FFF2-40B4-BE49-F238E27FC236}">
                    <a16:creationId xmlns:a16="http://schemas.microsoft.com/office/drawing/2014/main" id="{20B60CDA-AADD-FCB3-1BAE-29C27F770F15}"/>
                  </a:ext>
                </a:extLst>
              </p:cNvPr>
              <p:cNvSpPr/>
              <p:nvPr/>
            </p:nvSpPr>
            <p:spPr>
              <a:xfrm>
                <a:off x="6000154" y="6238874"/>
                <a:ext cx="1968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96850" h="285750">
                    <a:moveTo>
                      <a:pt x="160734" y="285750"/>
                    </a:moveTo>
                    <a:lnTo>
                      <a:pt x="35718" y="285750"/>
                    </a:lnTo>
                    <a:lnTo>
                      <a:pt x="21826" y="282939"/>
                    </a:lnTo>
                    <a:lnTo>
                      <a:pt x="10471" y="275278"/>
                    </a:lnTo>
                    <a:lnTo>
                      <a:pt x="2810" y="263923"/>
                    </a:lnTo>
                    <a:lnTo>
                      <a:pt x="0" y="250031"/>
                    </a:lnTo>
                    <a:lnTo>
                      <a:pt x="0" y="35718"/>
                    </a:lnTo>
                    <a:lnTo>
                      <a:pt x="2810" y="21826"/>
                    </a:lnTo>
                    <a:lnTo>
                      <a:pt x="10471" y="10471"/>
                    </a:lnTo>
                    <a:lnTo>
                      <a:pt x="21826" y="2810"/>
                    </a:lnTo>
                    <a:lnTo>
                      <a:pt x="35718" y="0"/>
                    </a:lnTo>
                    <a:lnTo>
                      <a:pt x="160734" y="0"/>
                    </a:lnTo>
                    <a:lnTo>
                      <a:pt x="174626" y="2810"/>
                    </a:lnTo>
                    <a:lnTo>
                      <a:pt x="185981" y="10471"/>
                    </a:lnTo>
                    <a:lnTo>
                      <a:pt x="193642" y="21826"/>
                    </a:lnTo>
                    <a:lnTo>
                      <a:pt x="196453" y="35718"/>
                    </a:lnTo>
                    <a:lnTo>
                      <a:pt x="35718" y="35718"/>
                    </a:lnTo>
                    <a:lnTo>
                      <a:pt x="35718" y="214312"/>
                    </a:lnTo>
                    <a:lnTo>
                      <a:pt x="196453" y="214312"/>
                    </a:lnTo>
                    <a:lnTo>
                      <a:pt x="196453" y="232171"/>
                    </a:lnTo>
                    <a:lnTo>
                      <a:pt x="95858" y="232171"/>
                    </a:lnTo>
                    <a:lnTo>
                      <a:pt x="93580" y="232625"/>
                    </a:lnTo>
                    <a:lnTo>
                      <a:pt x="80367" y="247662"/>
                    </a:lnTo>
                    <a:lnTo>
                      <a:pt x="80367" y="252399"/>
                    </a:lnTo>
                    <a:lnTo>
                      <a:pt x="95858" y="267890"/>
                    </a:lnTo>
                    <a:lnTo>
                      <a:pt x="190966" y="267890"/>
                    </a:lnTo>
                    <a:lnTo>
                      <a:pt x="185981" y="275278"/>
                    </a:lnTo>
                    <a:lnTo>
                      <a:pt x="174626" y="282939"/>
                    </a:lnTo>
                    <a:lnTo>
                      <a:pt x="160734" y="285750"/>
                    </a:lnTo>
                    <a:close/>
                  </a:path>
                  <a:path w="196850" h="285750">
                    <a:moveTo>
                      <a:pt x="196453" y="214312"/>
                    </a:moveTo>
                    <a:lnTo>
                      <a:pt x="160734" y="214312"/>
                    </a:lnTo>
                    <a:lnTo>
                      <a:pt x="160734" y="35718"/>
                    </a:lnTo>
                    <a:lnTo>
                      <a:pt x="196453" y="35718"/>
                    </a:lnTo>
                    <a:lnTo>
                      <a:pt x="196453" y="214312"/>
                    </a:lnTo>
                    <a:close/>
                  </a:path>
                  <a:path w="196850" h="285750">
                    <a:moveTo>
                      <a:pt x="190966" y="267890"/>
                    </a:moveTo>
                    <a:lnTo>
                      <a:pt x="100594" y="267890"/>
                    </a:lnTo>
                    <a:lnTo>
                      <a:pt x="102873" y="267437"/>
                    </a:lnTo>
                    <a:lnTo>
                      <a:pt x="107249" y="265624"/>
                    </a:lnTo>
                    <a:lnTo>
                      <a:pt x="116085" y="252399"/>
                    </a:lnTo>
                    <a:lnTo>
                      <a:pt x="116085" y="247662"/>
                    </a:lnTo>
                    <a:lnTo>
                      <a:pt x="100594" y="232171"/>
                    </a:lnTo>
                    <a:lnTo>
                      <a:pt x="196453" y="232171"/>
                    </a:lnTo>
                    <a:lnTo>
                      <a:pt x="196453" y="250031"/>
                    </a:lnTo>
                    <a:lnTo>
                      <a:pt x="193642" y="263923"/>
                    </a:lnTo>
                    <a:lnTo>
                      <a:pt x="190966" y="267890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25">
                <a:extLst>
                  <a:ext uri="{FF2B5EF4-FFF2-40B4-BE49-F238E27FC236}">
                    <a16:creationId xmlns:a16="http://schemas.microsoft.com/office/drawing/2014/main" id="{E89136E6-51E8-41F5-FEC4-DB815D7CD5B0}"/>
                  </a:ext>
                </a:extLst>
              </p:cNvPr>
              <p:cNvSpPr txBox="1"/>
              <p:nvPr/>
            </p:nvSpPr>
            <p:spPr>
              <a:xfrm>
                <a:off x="5207594" y="6580504"/>
                <a:ext cx="1776730" cy="482600"/>
              </a:xfrm>
              <a:prstGeom prst="rect">
                <a:avLst/>
              </a:prstGeom>
            </p:spPr>
            <p:txBody>
              <a:bodyPr vert="horz" wrap="square" lIns="0" tIns="58419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459"/>
                  </a:spcBef>
                </a:pPr>
                <a:r>
                  <a:rPr sz="1200" b="1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Integrated</a:t>
                </a:r>
                <a:r>
                  <a:rPr sz="1200" b="1" spc="-5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 </a:t>
                </a:r>
                <a:r>
                  <a:rPr sz="1200" b="1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with</a:t>
                </a:r>
                <a:r>
                  <a:rPr sz="1200" b="1" spc="-5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 </a:t>
                </a:r>
                <a:r>
                  <a:rPr sz="1200" b="1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Flutter</a:t>
                </a:r>
                <a:r>
                  <a:rPr sz="1200" b="1" spc="-5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 </a:t>
                </a:r>
                <a:r>
                  <a:rPr sz="1200" b="1" spc="-25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UI</a:t>
                </a:r>
                <a:endParaRPr sz="1200">
                  <a:latin typeface="Segoe UI Semibold"/>
                  <a:cs typeface="Segoe UI Semibold"/>
                </a:endParaRPr>
              </a:p>
              <a:p>
                <a:pPr algn="ctr">
                  <a:lnSpc>
                    <a:spcPct val="100000"/>
                  </a:lnSpc>
                  <a:spcBef>
                    <a:spcPts val="360"/>
                  </a:spcBef>
                </a:pPr>
                <a:r>
                  <a:rPr sz="1200" dirty="0">
                    <a:solidFill>
                      <a:srgbClr val="374050"/>
                    </a:solidFill>
                    <a:latin typeface="Segoe UI"/>
                    <a:cs typeface="Segoe UI"/>
                  </a:rPr>
                  <a:t>via </a:t>
                </a:r>
                <a:r>
                  <a:rPr sz="1200" spc="-10" dirty="0">
                    <a:solidFill>
                      <a:srgbClr val="374050"/>
                    </a:solidFill>
                    <a:latin typeface="Segoe UI"/>
                    <a:cs typeface="Segoe UI"/>
                  </a:rPr>
                  <a:t>MethodChannel</a:t>
                </a:r>
                <a:endParaRPr sz="1200">
                  <a:latin typeface="Segoe UI"/>
                  <a:cs typeface="Segoe UI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5F0E3E9-FDBC-C6B1-38A3-98C2D386FF34}"/>
                </a:ext>
              </a:extLst>
            </p:cNvPr>
            <p:cNvGrpSpPr/>
            <p:nvPr/>
          </p:nvGrpSpPr>
          <p:grpSpPr>
            <a:xfrm>
              <a:off x="8804161" y="5562739"/>
              <a:ext cx="1934845" cy="824130"/>
              <a:chOff x="8938716" y="6238974"/>
              <a:chExt cx="1934845" cy="824130"/>
            </a:xfrm>
          </p:grpSpPr>
          <p:sp>
            <p:nvSpPr>
              <p:cNvPr id="42" name="object 26">
                <a:extLst>
                  <a:ext uri="{FF2B5EF4-FFF2-40B4-BE49-F238E27FC236}">
                    <a16:creationId xmlns:a16="http://schemas.microsoft.com/office/drawing/2014/main" id="{A6E7351C-93C1-479B-C6FD-0C102C815E46}"/>
                  </a:ext>
                </a:extLst>
              </p:cNvPr>
              <p:cNvSpPr/>
              <p:nvPr/>
            </p:nvSpPr>
            <p:spPr>
              <a:xfrm>
                <a:off x="9725038" y="6238974"/>
                <a:ext cx="35750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57504" h="285750">
                    <a:moveTo>
                      <a:pt x="145021" y="285549"/>
                    </a:moveTo>
                    <a:lnTo>
                      <a:pt x="137949" y="284980"/>
                    </a:lnTo>
                    <a:lnTo>
                      <a:pt x="131644" y="281707"/>
                    </a:lnTo>
                    <a:lnTo>
                      <a:pt x="127227" y="276461"/>
                    </a:lnTo>
                    <a:lnTo>
                      <a:pt x="125101" y="269950"/>
                    </a:lnTo>
                    <a:lnTo>
                      <a:pt x="125671" y="262879"/>
                    </a:lnTo>
                    <a:lnTo>
                      <a:pt x="197108" y="12847"/>
                    </a:lnTo>
                    <a:lnTo>
                      <a:pt x="200381" y="6542"/>
                    </a:lnTo>
                    <a:lnTo>
                      <a:pt x="205626" y="2125"/>
                    </a:lnTo>
                    <a:lnTo>
                      <a:pt x="212138" y="0"/>
                    </a:lnTo>
                    <a:lnTo>
                      <a:pt x="219209" y="569"/>
                    </a:lnTo>
                    <a:lnTo>
                      <a:pt x="225515" y="3842"/>
                    </a:lnTo>
                    <a:lnTo>
                      <a:pt x="229932" y="9087"/>
                    </a:lnTo>
                    <a:lnTo>
                      <a:pt x="232057" y="15599"/>
                    </a:lnTo>
                    <a:lnTo>
                      <a:pt x="231488" y="22670"/>
                    </a:lnTo>
                    <a:lnTo>
                      <a:pt x="160050" y="272701"/>
                    </a:lnTo>
                    <a:lnTo>
                      <a:pt x="156777" y="279007"/>
                    </a:lnTo>
                    <a:lnTo>
                      <a:pt x="151532" y="283424"/>
                    </a:lnTo>
                    <a:lnTo>
                      <a:pt x="145021" y="285549"/>
                    </a:lnTo>
                    <a:close/>
                  </a:path>
                  <a:path w="357504" h="285750">
                    <a:moveTo>
                      <a:pt x="276778" y="223183"/>
                    </a:moveTo>
                    <a:lnTo>
                      <a:pt x="270049" y="221875"/>
                    </a:lnTo>
                    <a:lnTo>
                      <a:pt x="264137" y="217951"/>
                    </a:lnTo>
                    <a:lnTo>
                      <a:pt x="260213" y="212039"/>
                    </a:lnTo>
                    <a:lnTo>
                      <a:pt x="258905" y="205310"/>
                    </a:lnTo>
                    <a:lnTo>
                      <a:pt x="260213" y="198581"/>
                    </a:lnTo>
                    <a:lnTo>
                      <a:pt x="264137" y="192669"/>
                    </a:lnTo>
                    <a:lnTo>
                      <a:pt x="314032" y="142774"/>
                    </a:lnTo>
                    <a:lnTo>
                      <a:pt x="264193" y="92880"/>
                    </a:lnTo>
                    <a:lnTo>
                      <a:pt x="260269" y="86967"/>
                    </a:lnTo>
                    <a:lnTo>
                      <a:pt x="258960" y="80238"/>
                    </a:lnTo>
                    <a:lnTo>
                      <a:pt x="260269" y="73510"/>
                    </a:lnTo>
                    <a:lnTo>
                      <a:pt x="264221" y="67597"/>
                    </a:lnTo>
                    <a:lnTo>
                      <a:pt x="270049" y="63729"/>
                    </a:lnTo>
                    <a:lnTo>
                      <a:pt x="276778" y="62421"/>
                    </a:lnTo>
                    <a:lnTo>
                      <a:pt x="283507" y="63729"/>
                    </a:lnTo>
                    <a:lnTo>
                      <a:pt x="289335" y="67597"/>
                    </a:lnTo>
                    <a:lnTo>
                      <a:pt x="351927" y="130161"/>
                    </a:lnTo>
                    <a:lnTo>
                      <a:pt x="355851" y="136073"/>
                    </a:lnTo>
                    <a:lnTo>
                      <a:pt x="357154" y="142774"/>
                    </a:lnTo>
                    <a:lnTo>
                      <a:pt x="355851" y="149531"/>
                    </a:lnTo>
                    <a:lnTo>
                      <a:pt x="351927" y="155443"/>
                    </a:lnTo>
                    <a:lnTo>
                      <a:pt x="289419" y="217951"/>
                    </a:lnTo>
                    <a:lnTo>
                      <a:pt x="283507" y="221875"/>
                    </a:lnTo>
                    <a:lnTo>
                      <a:pt x="276778" y="223183"/>
                    </a:lnTo>
                    <a:close/>
                  </a:path>
                  <a:path w="357504" h="285750">
                    <a:moveTo>
                      <a:pt x="80381" y="223127"/>
                    </a:moveTo>
                    <a:lnTo>
                      <a:pt x="5232" y="155387"/>
                    </a:lnTo>
                    <a:lnTo>
                      <a:pt x="0" y="142746"/>
                    </a:lnTo>
                    <a:lnTo>
                      <a:pt x="1308" y="136018"/>
                    </a:lnTo>
                    <a:lnTo>
                      <a:pt x="5232" y="130105"/>
                    </a:lnTo>
                    <a:lnTo>
                      <a:pt x="67740" y="67597"/>
                    </a:lnTo>
                    <a:lnTo>
                      <a:pt x="73652" y="63673"/>
                    </a:lnTo>
                    <a:lnTo>
                      <a:pt x="80381" y="62365"/>
                    </a:lnTo>
                    <a:lnTo>
                      <a:pt x="87109" y="63673"/>
                    </a:lnTo>
                    <a:lnTo>
                      <a:pt x="93022" y="67597"/>
                    </a:lnTo>
                    <a:lnTo>
                      <a:pt x="96946" y="73510"/>
                    </a:lnTo>
                    <a:lnTo>
                      <a:pt x="98254" y="80239"/>
                    </a:lnTo>
                    <a:lnTo>
                      <a:pt x="96946" y="86967"/>
                    </a:lnTo>
                    <a:lnTo>
                      <a:pt x="93022" y="92880"/>
                    </a:lnTo>
                    <a:lnTo>
                      <a:pt x="43155" y="142746"/>
                    </a:lnTo>
                    <a:lnTo>
                      <a:pt x="93022" y="192613"/>
                    </a:lnTo>
                    <a:lnTo>
                      <a:pt x="96946" y="198525"/>
                    </a:lnTo>
                    <a:lnTo>
                      <a:pt x="98254" y="205254"/>
                    </a:lnTo>
                    <a:lnTo>
                      <a:pt x="96946" y="211983"/>
                    </a:lnTo>
                    <a:lnTo>
                      <a:pt x="93022" y="217895"/>
                    </a:lnTo>
                    <a:lnTo>
                      <a:pt x="87109" y="221819"/>
                    </a:lnTo>
                    <a:lnTo>
                      <a:pt x="80381" y="223127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27">
                <a:extLst>
                  <a:ext uri="{FF2B5EF4-FFF2-40B4-BE49-F238E27FC236}">
                    <a16:creationId xmlns:a16="http://schemas.microsoft.com/office/drawing/2014/main" id="{E62CA1E0-F0A4-E079-CF9F-E90D13215FD1}"/>
                  </a:ext>
                </a:extLst>
              </p:cNvPr>
              <p:cNvSpPr txBox="1"/>
              <p:nvPr/>
            </p:nvSpPr>
            <p:spPr>
              <a:xfrm>
                <a:off x="8938716" y="6580504"/>
                <a:ext cx="1934845" cy="482600"/>
              </a:xfrm>
              <a:prstGeom prst="rect">
                <a:avLst/>
              </a:prstGeom>
            </p:spPr>
            <p:txBody>
              <a:bodyPr vert="horz" wrap="square" lIns="0" tIns="58419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459"/>
                  </a:spcBef>
                </a:pPr>
                <a:r>
                  <a:rPr sz="1200" b="1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Full mobile </a:t>
                </a:r>
                <a:r>
                  <a:rPr sz="1200" b="1" spc="-1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implementation</a:t>
                </a:r>
                <a:endParaRPr sz="1200">
                  <a:latin typeface="Segoe UI Semibold"/>
                  <a:cs typeface="Segoe UI Semibold"/>
                </a:endParaRPr>
              </a:p>
              <a:p>
                <a:pPr algn="ctr">
                  <a:lnSpc>
                    <a:spcPct val="100000"/>
                  </a:lnSpc>
                  <a:spcBef>
                    <a:spcPts val="360"/>
                  </a:spcBef>
                </a:pPr>
                <a:r>
                  <a:rPr sz="1200" dirty="0">
                    <a:solidFill>
                      <a:srgbClr val="374050"/>
                    </a:solidFill>
                    <a:latin typeface="Segoe UI"/>
                    <a:cs typeface="Segoe UI"/>
                  </a:rPr>
                  <a:t>Java</a:t>
                </a:r>
                <a:r>
                  <a:rPr sz="1200" spc="-20" dirty="0">
                    <a:solidFill>
                      <a:srgbClr val="374050"/>
                    </a:solidFill>
                    <a:latin typeface="Segoe UI"/>
                    <a:cs typeface="Segoe UI"/>
                  </a:rPr>
                  <a:t> </a:t>
                </a:r>
                <a:r>
                  <a:rPr sz="1200" dirty="0">
                    <a:solidFill>
                      <a:srgbClr val="374050"/>
                    </a:solidFill>
                    <a:latin typeface="Segoe UI"/>
                    <a:cs typeface="Segoe UI"/>
                  </a:rPr>
                  <a:t>+</a:t>
                </a:r>
                <a:r>
                  <a:rPr sz="1200" spc="-15" dirty="0">
                    <a:solidFill>
                      <a:srgbClr val="374050"/>
                    </a:solidFill>
                    <a:latin typeface="Segoe UI"/>
                    <a:cs typeface="Segoe UI"/>
                  </a:rPr>
                  <a:t> </a:t>
                </a:r>
                <a:r>
                  <a:rPr sz="1200" spc="-20" dirty="0">
                    <a:solidFill>
                      <a:srgbClr val="374050"/>
                    </a:solidFill>
                    <a:latin typeface="Segoe UI"/>
                    <a:cs typeface="Segoe UI"/>
                  </a:rPr>
                  <a:t>Dart</a:t>
                </a:r>
                <a:endParaRPr sz="1200">
                  <a:latin typeface="Segoe UI"/>
                  <a:cs typeface="Segoe UI"/>
                </a:endParaRPr>
              </a:p>
            </p:txBody>
          </p:sp>
        </p:grp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05505-7DF4-F678-EC72-2E3A94844B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FDAB3-7EEC-C9A4-B80F-937EC86A3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EF0BABC-CA35-0C5F-3032-344F430DFC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1108" y="685006"/>
            <a:ext cx="8489951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lang="en-US" sz="3600" spc="-100" dirty="0">
                <a:solidFill>
                  <a:schemeClr val="accent6"/>
                </a:solidFill>
              </a:rPr>
              <a:t>Mobile</a:t>
            </a:r>
            <a:r>
              <a:rPr lang="en-US" sz="3600" spc="-20" dirty="0">
                <a:solidFill>
                  <a:schemeClr val="accent6"/>
                </a:solidFill>
              </a:rPr>
              <a:t> </a:t>
            </a:r>
            <a:r>
              <a:rPr lang="en-US" sz="3600" spc="-100" dirty="0">
                <a:solidFill>
                  <a:schemeClr val="accent6"/>
                </a:solidFill>
              </a:rPr>
              <a:t>App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1F76CA5-B1B7-918C-BD5F-723D49871224}"/>
              </a:ext>
            </a:extLst>
          </p:cNvPr>
          <p:cNvSpPr txBox="1"/>
          <p:nvPr/>
        </p:nvSpPr>
        <p:spPr>
          <a:xfrm>
            <a:off x="10689232" y="67889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grpSp>
        <p:nvGrpSpPr>
          <p:cNvPr id="17" name="object 11">
            <a:extLst>
              <a:ext uri="{FF2B5EF4-FFF2-40B4-BE49-F238E27FC236}">
                <a16:creationId xmlns:a16="http://schemas.microsoft.com/office/drawing/2014/main" id="{B569C914-F480-78D0-C352-E57CD0A696FE}"/>
              </a:ext>
            </a:extLst>
          </p:cNvPr>
          <p:cNvGrpSpPr/>
          <p:nvPr/>
        </p:nvGrpSpPr>
        <p:grpSpPr>
          <a:xfrm>
            <a:off x="909381" y="1915518"/>
            <a:ext cx="10363200" cy="685800"/>
            <a:chOff x="914399" y="4610099"/>
            <a:chExt cx="10363200" cy="1066800"/>
          </a:xfrm>
        </p:grpSpPr>
        <p:sp>
          <p:nvSpPr>
            <p:cNvPr id="18" name="object 12">
              <a:extLst>
                <a:ext uri="{FF2B5EF4-FFF2-40B4-BE49-F238E27FC236}">
                  <a16:creationId xmlns:a16="http://schemas.microsoft.com/office/drawing/2014/main" id="{F7D6F6B2-E910-B697-4CAB-4D2EC2BF6870}"/>
                </a:ext>
              </a:extLst>
            </p:cNvPr>
            <p:cNvSpPr/>
            <p:nvPr/>
          </p:nvSpPr>
          <p:spPr>
            <a:xfrm>
              <a:off x="933449" y="4610099"/>
              <a:ext cx="10344150" cy="1066800"/>
            </a:xfrm>
            <a:custGeom>
              <a:avLst/>
              <a:gdLst/>
              <a:ahLst/>
              <a:cxnLst/>
              <a:rect l="l" t="t" r="r" b="b"/>
              <a:pathLst>
                <a:path w="10344150" h="1066800">
                  <a:moveTo>
                    <a:pt x="10272952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10272952" y="0"/>
                  </a:lnTo>
                  <a:lnTo>
                    <a:pt x="10277906" y="488"/>
                  </a:lnTo>
                  <a:lnTo>
                    <a:pt x="10314440" y="15621"/>
                  </a:lnTo>
                  <a:lnTo>
                    <a:pt x="10340262" y="51661"/>
                  </a:lnTo>
                  <a:lnTo>
                    <a:pt x="10344148" y="71196"/>
                  </a:lnTo>
                  <a:lnTo>
                    <a:pt x="10344148" y="995603"/>
                  </a:lnTo>
                  <a:lnTo>
                    <a:pt x="10328525" y="1037094"/>
                  </a:lnTo>
                  <a:lnTo>
                    <a:pt x="10292486" y="1062913"/>
                  </a:lnTo>
                  <a:lnTo>
                    <a:pt x="10272952" y="1066799"/>
                  </a:lnTo>
                  <a:close/>
                </a:path>
              </a:pathLst>
            </a:custGeom>
            <a:solidFill>
              <a:srgbClr val="FF6A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3">
              <a:extLst>
                <a:ext uri="{FF2B5EF4-FFF2-40B4-BE49-F238E27FC236}">
                  <a16:creationId xmlns:a16="http://schemas.microsoft.com/office/drawing/2014/main" id="{5D7EDC34-F63A-90FA-AE24-A0857361EE7D}"/>
                </a:ext>
              </a:extLst>
            </p:cNvPr>
            <p:cNvSpPr/>
            <p:nvPr/>
          </p:nvSpPr>
          <p:spPr>
            <a:xfrm>
              <a:off x="914399" y="4610099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099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66799"/>
                  </a:lnTo>
                  <a:close/>
                </a:path>
              </a:pathLst>
            </a:custGeom>
            <a:solidFill>
              <a:srgbClr val="FF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03127AB-B43C-08F4-B590-C9066159A85C}"/>
              </a:ext>
            </a:extLst>
          </p:cNvPr>
          <p:cNvSpPr txBox="1"/>
          <p:nvPr/>
        </p:nvSpPr>
        <p:spPr>
          <a:xfrm>
            <a:off x="1727834" y="1985532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Onset detection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07ADB7-A2D6-91FF-0D28-9A447778C77D}"/>
              </a:ext>
            </a:extLst>
          </p:cNvPr>
          <p:cNvSpPr txBox="1"/>
          <p:nvPr/>
        </p:nvSpPr>
        <p:spPr>
          <a:xfrm>
            <a:off x="1143000" y="1026061"/>
            <a:ext cx="4762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spc="-90" dirty="0">
                <a:solidFill>
                  <a:srgbClr val="333333"/>
                </a:solidFill>
                <a:latin typeface="Montserrat Medium"/>
                <a:cs typeface="Montserrat Medium"/>
              </a:rPr>
              <a:t>Real-</a:t>
            </a:r>
            <a:r>
              <a:rPr lang="en-US" b="0" spc="-100" dirty="0">
                <a:solidFill>
                  <a:srgbClr val="333333"/>
                </a:solidFill>
                <a:latin typeface="Montserrat Medium"/>
                <a:cs typeface="Montserrat Medium"/>
              </a:rPr>
              <a:t>time</a:t>
            </a:r>
            <a:r>
              <a:rPr lang="en-US" b="0" spc="1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lang="en-US" b="0" spc="-105" dirty="0">
                <a:solidFill>
                  <a:srgbClr val="333333"/>
                </a:solidFill>
                <a:latin typeface="Montserrat Medium"/>
                <a:cs typeface="Montserrat Medium"/>
              </a:rPr>
              <a:t>Pitch</a:t>
            </a:r>
            <a:r>
              <a:rPr lang="en-US" b="0" spc="15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lang="en-US" b="0" spc="-10" dirty="0">
                <a:solidFill>
                  <a:srgbClr val="333333"/>
                </a:solidFill>
                <a:latin typeface="Montserrat Medium"/>
                <a:cs typeface="Montserrat Medium"/>
              </a:rPr>
              <a:t>Detection System</a:t>
            </a:r>
            <a:endParaRPr lang="en-US" dirty="0">
              <a:latin typeface="Montserrat Medium"/>
              <a:cs typeface="Montserrat Medium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Graphic 4" descr="Radio microphone outline">
            <a:extLst>
              <a:ext uri="{FF2B5EF4-FFF2-40B4-BE49-F238E27FC236}">
                <a16:creationId xmlns:a16="http://schemas.microsoft.com/office/drawing/2014/main" id="{25C1932F-7C94-1D2D-9D54-13F5614FE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925" y="1892556"/>
            <a:ext cx="666708" cy="66670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4187297-A76B-1C64-50CE-BBA3407FBC7A}"/>
              </a:ext>
            </a:extLst>
          </p:cNvPr>
          <p:cNvGrpSpPr/>
          <p:nvPr/>
        </p:nvGrpSpPr>
        <p:grpSpPr>
          <a:xfrm>
            <a:off x="954855" y="2707409"/>
            <a:ext cx="10446573" cy="3232149"/>
            <a:chOff x="954855" y="2707409"/>
            <a:chExt cx="10446573" cy="323214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09D9837-3FCF-69BA-9552-592F742EDF95}"/>
                </a:ext>
              </a:extLst>
            </p:cNvPr>
            <p:cNvGrpSpPr/>
            <p:nvPr/>
          </p:nvGrpSpPr>
          <p:grpSpPr>
            <a:xfrm>
              <a:off x="954855" y="2870009"/>
              <a:ext cx="3236144" cy="1397819"/>
              <a:chOff x="533399" y="1196975"/>
              <a:chExt cx="3236144" cy="1397819"/>
            </a:xfrm>
          </p:grpSpPr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1512456B-8E01-CA13-7472-C00017D79F3F}"/>
                  </a:ext>
                </a:extLst>
              </p:cNvPr>
              <p:cNvSpPr/>
              <p:nvPr/>
            </p:nvSpPr>
            <p:spPr>
              <a:xfrm>
                <a:off x="533399" y="1571624"/>
                <a:ext cx="190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457200">
                    <a:moveTo>
                      <a:pt x="19049" y="457199"/>
                    </a:moveTo>
                    <a:lnTo>
                      <a:pt x="0" y="457199"/>
                    </a:lnTo>
                    <a:lnTo>
                      <a:pt x="0" y="0"/>
                    </a:lnTo>
                    <a:lnTo>
                      <a:pt x="19049" y="0"/>
                    </a:lnTo>
                    <a:lnTo>
                      <a:pt x="19049" y="457199"/>
                    </a:lnTo>
                    <a:close/>
                  </a:path>
                </a:pathLst>
              </a:custGeom>
              <a:solidFill>
                <a:srgbClr val="E4E7E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" name="object 4">
                <a:extLst>
                  <a:ext uri="{FF2B5EF4-FFF2-40B4-BE49-F238E27FC236}">
                    <a16:creationId xmlns:a16="http://schemas.microsoft.com/office/drawing/2014/main" id="{DD22D4FF-21BA-C2B7-FC30-602CE40723CC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39353" y="1238249"/>
                <a:ext cx="130968" cy="190499"/>
              </a:xfrm>
              <a:prstGeom prst="rect">
                <a:avLst/>
              </a:prstGeom>
            </p:spPr>
          </p:pic>
          <p:sp>
            <p:nvSpPr>
              <p:cNvPr id="11" name="object 5">
                <a:extLst>
                  <a:ext uri="{FF2B5EF4-FFF2-40B4-BE49-F238E27FC236}">
                    <a16:creationId xmlns:a16="http://schemas.microsoft.com/office/drawing/2014/main" id="{546B5047-7299-B804-F532-0A40F069AF1D}"/>
                  </a:ext>
                </a:extLst>
              </p:cNvPr>
              <p:cNvSpPr txBox="1"/>
              <p:nvPr/>
            </p:nvSpPr>
            <p:spPr>
              <a:xfrm>
                <a:off x="692148" y="1196975"/>
                <a:ext cx="3077395" cy="139781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12395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b="1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Audio</a:t>
                </a:r>
                <a:r>
                  <a:rPr sz="1400" b="1" spc="-45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 </a:t>
                </a:r>
                <a:r>
                  <a:rPr sz="1400" b="1" spc="-1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Capture</a:t>
                </a:r>
                <a:endParaRPr sz="1400" dirty="0">
                  <a:latin typeface="Segoe UI Semibold"/>
                  <a:cs typeface="Segoe UI Semibold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600"/>
                  </a:spcBef>
                </a:pPr>
                <a:r>
                  <a:rPr sz="1400" b="1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Sample</a:t>
                </a:r>
                <a:r>
                  <a:rPr sz="1400" b="1" spc="-2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 </a:t>
                </a:r>
                <a:r>
                  <a:rPr sz="1400" b="1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Rate:</a:t>
                </a:r>
                <a:r>
                  <a:rPr sz="1400" b="1" spc="-2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 </a:t>
                </a:r>
                <a:r>
                  <a:rPr sz="14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16kHz</a:t>
                </a:r>
                <a:r>
                  <a:rPr sz="1400" spc="-1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4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mono</a:t>
                </a:r>
                <a:r>
                  <a:rPr sz="1400" spc="-1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400" spc="-2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PCM</a:t>
                </a:r>
                <a:endParaRPr lang="en-US" sz="1400" spc="-25" dirty="0">
                  <a:solidFill>
                    <a:srgbClr val="333333"/>
                  </a:solidFill>
                  <a:latin typeface="Segoe UI"/>
                  <a:cs typeface="Segoe UI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1400" b="1" spc="-2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Frame size: </a:t>
                </a:r>
                <a:r>
                  <a:rPr lang="en-US" sz="1400" spc="-2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1024 sample</a:t>
                </a:r>
              </a:p>
              <a:p>
                <a:pPr marL="12700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1400" b="1" spc="-2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Duration per frame</a:t>
                </a:r>
                <a:r>
                  <a:rPr lang="en-US" sz="1400" spc="-2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: 64ms</a:t>
                </a:r>
                <a:endParaRPr sz="1400" dirty="0">
                  <a:latin typeface="Segoe UI"/>
                  <a:cs typeface="Segoe UI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600"/>
                  </a:spcBef>
                </a:pPr>
                <a:r>
                  <a:rPr sz="1400" b="1" spc="-1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Normalization:</a:t>
                </a:r>
                <a:r>
                  <a:rPr sz="1400" b="1" spc="15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 </a:t>
                </a:r>
                <a:r>
                  <a:rPr sz="14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x</a:t>
                </a:r>
                <a:r>
                  <a:rPr sz="1400" spc="2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4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/</a:t>
                </a:r>
                <a:r>
                  <a:rPr sz="1400" spc="2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400" spc="-1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32768</a:t>
                </a:r>
                <a:endParaRPr sz="1400" dirty="0">
                  <a:latin typeface="Segoe UI"/>
                  <a:cs typeface="Segoe UI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20D24C3-91D5-A7B3-0740-F7E7736ECC98}"/>
                </a:ext>
              </a:extLst>
            </p:cNvPr>
            <p:cNvGrpSpPr/>
            <p:nvPr/>
          </p:nvGrpSpPr>
          <p:grpSpPr>
            <a:xfrm>
              <a:off x="4600578" y="2707409"/>
              <a:ext cx="6800850" cy="3232149"/>
              <a:chOff x="5010149" y="1044575"/>
              <a:chExt cx="6800850" cy="3232149"/>
            </a:xfrm>
          </p:grpSpPr>
          <p:grpSp>
            <p:nvGrpSpPr>
              <p:cNvPr id="13" name="object 11">
                <a:extLst>
                  <a:ext uri="{FF2B5EF4-FFF2-40B4-BE49-F238E27FC236}">
                    <a16:creationId xmlns:a16="http://schemas.microsoft.com/office/drawing/2014/main" id="{E1BCC5D7-A995-E197-7A30-B6FC83295120}"/>
                  </a:ext>
                </a:extLst>
              </p:cNvPr>
              <p:cNvGrpSpPr/>
              <p:nvPr/>
            </p:nvGrpSpPr>
            <p:grpSpPr>
              <a:xfrm>
                <a:off x="5010149" y="1419224"/>
                <a:ext cx="6800850" cy="609600"/>
                <a:chOff x="5010149" y="1419224"/>
                <a:chExt cx="6800850" cy="609600"/>
              </a:xfrm>
            </p:grpSpPr>
            <p:sp>
              <p:nvSpPr>
                <p:cNvPr id="38" name="object 12">
                  <a:extLst>
                    <a:ext uri="{FF2B5EF4-FFF2-40B4-BE49-F238E27FC236}">
                      <a16:creationId xmlns:a16="http://schemas.microsoft.com/office/drawing/2014/main" id="{BBF1A962-9028-B543-1FA4-CFFC43BD441C}"/>
                    </a:ext>
                  </a:extLst>
                </p:cNvPr>
                <p:cNvSpPr/>
                <p:nvPr/>
              </p:nvSpPr>
              <p:spPr>
                <a:xfrm>
                  <a:off x="5029199" y="1419224"/>
                  <a:ext cx="67818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609600">
                      <a:moveTo>
                        <a:pt x="6710602" y="609599"/>
                      </a:moveTo>
                      <a:lnTo>
                        <a:pt x="0" y="609599"/>
                      </a:lnTo>
                      <a:lnTo>
                        <a:pt x="0" y="0"/>
                      </a:lnTo>
                      <a:lnTo>
                        <a:pt x="6710602" y="0"/>
                      </a:lnTo>
                      <a:lnTo>
                        <a:pt x="6715558" y="488"/>
                      </a:lnTo>
                      <a:lnTo>
                        <a:pt x="6752094" y="15621"/>
                      </a:lnTo>
                      <a:lnTo>
                        <a:pt x="6777913" y="51661"/>
                      </a:lnTo>
                      <a:lnTo>
                        <a:pt x="6781799" y="71196"/>
                      </a:lnTo>
                      <a:lnTo>
                        <a:pt x="6781799" y="538403"/>
                      </a:lnTo>
                      <a:lnTo>
                        <a:pt x="6766177" y="579894"/>
                      </a:lnTo>
                      <a:lnTo>
                        <a:pt x="6730137" y="605714"/>
                      </a:lnTo>
                      <a:lnTo>
                        <a:pt x="6710602" y="609599"/>
                      </a:lnTo>
                      <a:close/>
                    </a:path>
                  </a:pathLst>
                </a:custGeom>
                <a:solidFill>
                  <a:srgbClr val="FFF5E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9" name="object 13">
                  <a:extLst>
                    <a:ext uri="{FF2B5EF4-FFF2-40B4-BE49-F238E27FC236}">
                      <a16:creationId xmlns:a16="http://schemas.microsoft.com/office/drawing/2014/main" id="{7743313A-AFB3-E6B9-6FE6-06FECC5DFE62}"/>
                    </a:ext>
                  </a:extLst>
                </p:cNvPr>
                <p:cNvSpPr/>
                <p:nvPr/>
              </p:nvSpPr>
              <p:spPr>
                <a:xfrm>
                  <a:off x="5010149" y="1419224"/>
                  <a:ext cx="381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09600">
                      <a:moveTo>
                        <a:pt x="38099" y="609599"/>
                      </a:moveTo>
                      <a:lnTo>
                        <a:pt x="0" y="609599"/>
                      </a:lnTo>
                      <a:lnTo>
                        <a:pt x="0" y="0"/>
                      </a:lnTo>
                      <a:lnTo>
                        <a:pt x="38099" y="0"/>
                      </a:lnTo>
                      <a:lnTo>
                        <a:pt x="38099" y="609599"/>
                      </a:lnTo>
                      <a:close/>
                    </a:path>
                  </a:pathLst>
                </a:custGeom>
                <a:solidFill>
                  <a:srgbClr val="FF6A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14" name="object 14">
                <a:extLst>
                  <a:ext uri="{FF2B5EF4-FFF2-40B4-BE49-F238E27FC236}">
                    <a16:creationId xmlns:a16="http://schemas.microsoft.com/office/drawing/2014/main" id="{5B996E34-952F-022F-CA0C-A62544008FD8}"/>
                  </a:ext>
                </a:extLst>
              </p:cNvPr>
              <p:cNvGrpSpPr/>
              <p:nvPr/>
            </p:nvGrpSpPr>
            <p:grpSpPr>
              <a:xfrm>
                <a:off x="5010149" y="2124074"/>
                <a:ext cx="6800850" cy="609600"/>
                <a:chOff x="5010149" y="2124074"/>
                <a:chExt cx="6800850" cy="609600"/>
              </a:xfrm>
            </p:grpSpPr>
            <p:sp>
              <p:nvSpPr>
                <p:cNvPr id="36" name="object 15">
                  <a:extLst>
                    <a:ext uri="{FF2B5EF4-FFF2-40B4-BE49-F238E27FC236}">
                      <a16:creationId xmlns:a16="http://schemas.microsoft.com/office/drawing/2014/main" id="{ADD04089-0133-F0A2-DBD7-D18597290846}"/>
                    </a:ext>
                  </a:extLst>
                </p:cNvPr>
                <p:cNvSpPr/>
                <p:nvPr/>
              </p:nvSpPr>
              <p:spPr>
                <a:xfrm>
                  <a:off x="5029199" y="2124074"/>
                  <a:ext cx="67818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609600">
                      <a:moveTo>
                        <a:pt x="6710602" y="609599"/>
                      </a:moveTo>
                      <a:lnTo>
                        <a:pt x="0" y="609599"/>
                      </a:lnTo>
                      <a:lnTo>
                        <a:pt x="0" y="0"/>
                      </a:lnTo>
                      <a:lnTo>
                        <a:pt x="6710602" y="0"/>
                      </a:lnTo>
                      <a:lnTo>
                        <a:pt x="6715558" y="488"/>
                      </a:lnTo>
                      <a:lnTo>
                        <a:pt x="6752094" y="15621"/>
                      </a:lnTo>
                      <a:lnTo>
                        <a:pt x="6777913" y="51661"/>
                      </a:lnTo>
                      <a:lnTo>
                        <a:pt x="6781799" y="71196"/>
                      </a:lnTo>
                      <a:lnTo>
                        <a:pt x="6781799" y="538403"/>
                      </a:lnTo>
                      <a:lnTo>
                        <a:pt x="6766177" y="579894"/>
                      </a:lnTo>
                      <a:lnTo>
                        <a:pt x="6730137" y="605713"/>
                      </a:lnTo>
                      <a:lnTo>
                        <a:pt x="6710602" y="609599"/>
                      </a:lnTo>
                      <a:close/>
                    </a:path>
                  </a:pathLst>
                </a:custGeom>
                <a:solidFill>
                  <a:srgbClr val="FFF5E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7" name="object 16">
                  <a:extLst>
                    <a:ext uri="{FF2B5EF4-FFF2-40B4-BE49-F238E27FC236}">
                      <a16:creationId xmlns:a16="http://schemas.microsoft.com/office/drawing/2014/main" id="{18FD9DB6-02A5-1F29-FB37-702265E46ADC}"/>
                    </a:ext>
                  </a:extLst>
                </p:cNvPr>
                <p:cNvSpPr/>
                <p:nvPr/>
              </p:nvSpPr>
              <p:spPr>
                <a:xfrm>
                  <a:off x="5010149" y="2124074"/>
                  <a:ext cx="381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09600">
                      <a:moveTo>
                        <a:pt x="38099" y="609599"/>
                      </a:moveTo>
                      <a:lnTo>
                        <a:pt x="0" y="609599"/>
                      </a:lnTo>
                      <a:lnTo>
                        <a:pt x="0" y="0"/>
                      </a:lnTo>
                      <a:lnTo>
                        <a:pt x="38099" y="0"/>
                      </a:lnTo>
                      <a:lnTo>
                        <a:pt x="38099" y="609599"/>
                      </a:lnTo>
                      <a:close/>
                    </a:path>
                  </a:pathLst>
                </a:custGeom>
                <a:solidFill>
                  <a:srgbClr val="FF6A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15" name="object 17">
                <a:extLst>
                  <a:ext uri="{FF2B5EF4-FFF2-40B4-BE49-F238E27FC236}">
                    <a16:creationId xmlns:a16="http://schemas.microsoft.com/office/drawing/2014/main" id="{1B7059FE-BDA6-E330-F171-8CF71FFCF8C0}"/>
                  </a:ext>
                </a:extLst>
              </p:cNvPr>
              <p:cNvGrpSpPr/>
              <p:nvPr/>
            </p:nvGrpSpPr>
            <p:grpSpPr>
              <a:xfrm>
                <a:off x="5010149" y="2828924"/>
                <a:ext cx="6800850" cy="742950"/>
                <a:chOff x="5010149" y="2828924"/>
                <a:chExt cx="6800850" cy="742950"/>
              </a:xfrm>
            </p:grpSpPr>
            <p:sp>
              <p:nvSpPr>
                <p:cNvPr id="34" name="object 18">
                  <a:extLst>
                    <a:ext uri="{FF2B5EF4-FFF2-40B4-BE49-F238E27FC236}">
                      <a16:creationId xmlns:a16="http://schemas.microsoft.com/office/drawing/2014/main" id="{94778BDE-9376-FAFC-17FE-640F577677C0}"/>
                    </a:ext>
                  </a:extLst>
                </p:cNvPr>
                <p:cNvSpPr/>
                <p:nvPr/>
              </p:nvSpPr>
              <p:spPr>
                <a:xfrm>
                  <a:off x="5029199" y="2828924"/>
                  <a:ext cx="6781800" cy="74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742950">
                      <a:moveTo>
                        <a:pt x="6710602" y="742949"/>
                      </a:moveTo>
                      <a:lnTo>
                        <a:pt x="0" y="742949"/>
                      </a:lnTo>
                      <a:lnTo>
                        <a:pt x="0" y="0"/>
                      </a:lnTo>
                      <a:lnTo>
                        <a:pt x="6710602" y="0"/>
                      </a:lnTo>
                      <a:lnTo>
                        <a:pt x="6715558" y="488"/>
                      </a:lnTo>
                      <a:lnTo>
                        <a:pt x="6752094" y="15621"/>
                      </a:lnTo>
                      <a:lnTo>
                        <a:pt x="6777913" y="51661"/>
                      </a:lnTo>
                      <a:lnTo>
                        <a:pt x="6781799" y="71196"/>
                      </a:lnTo>
                      <a:lnTo>
                        <a:pt x="6781799" y="671753"/>
                      </a:lnTo>
                      <a:lnTo>
                        <a:pt x="6766177" y="713244"/>
                      </a:lnTo>
                      <a:lnTo>
                        <a:pt x="6730137" y="739063"/>
                      </a:lnTo>
                      <a:lnTo>
                        <a:pt x="6710602" y="742949"/>
                      </a:lnTo>
                      <a:close/>
                    </a:path>
                  </a:pathLst>
                </a:custGeom>
                <a:solidFill>
                  <a:srgbClr val="FFF5E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5" name="object 19">
                  <a:extLst>
                    <a:ext uri="{FF2B5EF4-FFF2-40B4-BE49-F238E27FC236}">
                      <a16:creationId xmlns:a16="http://schemas.microsoft.com/office/drawing/2014/main" id="{BAD2E6E0-56A9-CD27-194B-A2CBBBE2D5FF}"/>
                    </a:ext>
                  </a:extLst>
                </p:cNvPr>
                <p:cNvSpPr/>
                <p:nvPr/>
              </p:nvSpPr>
              <p:spPr>
                <a:xfrm>
                  <a:off x="5010149" y="2828924"/>
                  <a:ext cx="38100" cy="74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42950">
                      <a:moveTo>
                        <a:pt x="38099" y="742949"/>
                      </a:moveTo>
                      <a:lnTo>
                        <a:pt x="0" y="742949"/>
                      </a:lnTo>
                      <a:lnTo>
                        <a:pt x="0" y="0"/>
                      </a:lnTo>
                      <a:lnTo>
                        <a:pt x="38099" y="0"/>
                      </a:lnTo>
                      <a:lnTo>
                        <a:pt x="38099" y="742949"/>
                      </a:lnTo>
                      <a:close/>
                    </a:path>
                  </a:pathLst>
                </a:custGeom>
                <a:solidFill>
                  <a:srgbClr val="FF6A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16" name="object 20">
                <a:extLst>
                  <a:ext uri="{FF2B5EF4-FFF2-40B4-BE49-F238E27FC236}">
                    <a16:creationId xmlns:a16="http://schemas.microsoft.com/office/drawing/2014/main" id="{ADDF7102-0677-4233-F2D4-77BF60613F68}"/>
                  </a:ext>
                </a:extLst>
              </p:cNvPr>
              <p:cNvGrpSpPr/>
              <p:nvPr/>
            </p:nvGrpSpPr>
            <p:grpSpPr>
              <a:xfrm>
                <a:off x="5010149" y="3667124"/>
                <a:ext cx="6800850" cy="609600"/>
                <a:chOff x="5010149" y="3667124"/>
                <a:chExt cx="6800850" cy="609600"/>
              </a:xfrm>
            </p:grpSpPr>
            <p:sp>
              <p:nvSpPr>
                <p:cNvPr id="32" name="object 21">
                  <a:extLst>
                    <a:ext uri="{FF2B5EF4-FFF2-40B4-BE49-F238E27FC236}">
                      <a16:creationId xmlns:a16="http://schemas.microsoft.com/office/drawing/2014/main" id="{1B59B261-34BE-537E-BC77-F4F3B923CD4E}"/>
                    </a:ext>
                  </a:extLst>
                </p:cNvPr>
                <p:cNvSpPr/>
                <p:nvPr/>
              </p:nvSpPr>
              <p:spPr>
                <a:xfrm>
                  <a:off x="5029199" y="3667124"/>
                  <a:ext cx="67818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609600">
                      <a:moveTo>
                        <a:pt x="6710602" y="609599"/>
                      </a:moveTo>
                      <a:lnTo>
                        <a:pt x="0" y="609599"/>
                      </a:lnTo>
                      <a:lnTo>
                        <a:pt x="0" y="0"/>
                      </a:lnTo>
                      <a:lnTo>
                        <a:pt x="6710602" y="0"/>
                      </a:lnTo>
                      <a:lnTo>
                        <a:pt x="6715558" y="488"/>
                      </a:lnTo>
                      <a:lnTo>
                        <a:pt x="6752094" y="15621"/>
                      </a:lnTo>
                      <a:lnTo>
                        <a:pt x="6777913" y="51661"/>
                      </a:lnTo>
                      <a:lnTo>
                        <a:pt x="6781799" y="71196"/>
                      </a:lnTo>
                      <a:lnTo>
                        <a:pt x="6781799" y="538403"/>
                      </a:lnTo>
                      <a:lnTo>
                        <a:pt x="6766177" y="579894"/>
                      </a:lnTo>
                      <a:lnTo>
                        <a:pt x="6730137" y="605713"/>
                      </a:lnTo>
                      <a:lnTo>
                        <a:pt x="6710602" y="609599"/>
                      </a:lnTo>
                      <a:close/>
                    </a:path>
                  </a:pathLst>
                </a:custGeom>
                <a:solidFill>
                  <a:srgbClr val="FFF5E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3" name="object 22">
                  <a:extLst>
                    <a:ext uri="{FF2B5EF4-FFF2-40B4-BE49-F238E27FC236}">
                      <a16:creationId xmlns:a16="http://schemas.microsoft.com/office/drawing/2014/main" id="{AE560D6C-2A9D-9814-6D28-0050BBF4B401}"/>
                    </a:ext>
                  </a:extLst>
                </p:cNvPr>
                <p:cNvSpPr/>
                <p:nvPr/>
              </p:nvSpPr>
              <p:spPr>
                <a:xfrm>
                  <a:off x="5010149" y="3667124"/>
                  <a:ext cx="381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09600">
                      <a:moveTo>
                        <a:pt x="38099" y="609599"/>
                      </a:moveTo>
                      <a:lnTo>
                        <a:pt x="0" y="609599"/>
                      </a:lnTo>
                      <a:lnTo>
                        <a:pt x="0" y="0"/>
                      </a:lnTo>
                      <a:lnTo>
                        <a:pt x="38099" y="0"/>
                      </a:lnTo>
                      <a:lnTo>
                        <a:pt x="38099" y="609599"/>
                      </a:lnTo>
                      <a:close/>
                    </a:path>
                  </a:pathLst>
                </a:custGeom>
                <a:solidFill>
                  <a:srgbClr val="FF6A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pic>
            <p:nvPicPr>
              <p:cNvPr id="20" name="object 23">
                <a:extLst>
                  <a:ext uri="{FF2B5EF4-FFF2-40B4-BE49-F238E27FC236}">
                    <a16:creationId xmlns:a16="http://schemas.microsoft.com/office/drawing/2014/main" id="{26E5E0BC-B213-7392-39FD-0C2A593BE61D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010149" y="1085850"/>
                <a:ext cx="190499" cy="190499"/>
              </a:xfrm>
              <a:prstGeom prst="rect">
                <a:avLst/>
              </a:prstGeom>
            </p:spPr>
          </p:pic>
          <p:sp>
            <p:nvSpPr>
              <p:cNvPr id="22" name="object 24">
                <a:extLst>
                  <a:ext uri="{FF2B5EF4-FFF2-40B4-BE49-F238E27FC236}">
                    <a16:creationId xmlns:a16="http://schemas.microsoft.com/office/drawing/2014/main" id="{D63D9E5F-DDEB-5746-3C5C-C53E1AD9A2F9}"/>
                  </a:ext>
                </a:extLst>
              </p:cNvPr>
              <p:cNvSpPr txBox="1"/>
              <p:nvPr/>
            </p:nvSpPr>
            <p:spPr>
              <a:xfrm>
                <a:off x="5320239" y="1044575"/>
                <a:ext cx="1379220" cy="2540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500" b="1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Detection</a:t>
                </a:r>
                <a:r>
                  <a:rPr sz="1500" b="1" spc="-1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 Logic</a:t>
                </a:r>
                <a:endParaRPr sz="1500">
                  <a:latin typeface="Segoe UI Semibold"/>
                  <a:cs typeface="Segoe UI Semibold"/>
                </a:endParaRPr>
              </a:p>
            </p:txBody>
          </p:sp>
          <p:sp>
            <p:nvSpPr>
              <p:cNvPr id="23" name="object 25">
                <a:extLst>
                  <a:ext uri="{FF2B5EF4-FFF2-40B4-BE49-F238E27FC236}">
                    <a16:creationId xmlns:a16="http://schemas.microsoft.com/office/drawing/2014/main" id="{4682927D-05FB-06DC-2C6F-2A95281CEEB7}"/>
                  </a:ext>
                </a:extLst>
              </p:cNvPr>
              <p:cNvSpPr txBox="1"/>
              <p:nvPr/>
            </p:nvSpPr>
            <p:spPr>
              <a:xfrm>
                <a:off x="5191670" y="1479459"/>
                <a:ext cx="1958339" cy="446405"/>
              </a:xfrm>
              <a:prstGeom prst="rect">
                <a:avLst/>
              </a:prstGeom>
            </p:spPr>
            <p:txBody>
              <a:bodyPr vert="horz" wrap="square" lIns="0" tIns="5397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425"/>
                  </a:spcBef>
                </a:pPr>
                <a:r>
                  <a:rPr sz="1200" b="1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RMS</a:t>
                </a:r>
                <a:r>
                  <a:rPr sz="1200" b="1" spc="-3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 </a:t>
                </a:r>
                <a:r>
                  <a:rPr sz="1200" b="1" spc="-1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Energy</a:t>
                </a:r>
                <a:endParaRPr sz="1200">
                  <a:latin typeface="Segoe UI Semibold"/>
                  <a:cs typeface="Segoe UI Semibold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285"/>
                  </a:spcBef>
                </a:pPr>
                <a:r>
                  <a:rPr sz="105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Filters out soft background </a:t>
                </a:r>
                <a:r>
                  <a:rPr sz="1050" spc="-1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noise</a:t>
                </a:r>
                <a:endParaRPr sz="1050">
                  <a:latin typeface="Segoe UI"/>
                  <a:cs typeface="Segoe UI"/>
                </a:endParaRPr>
              </a:p>
            </p:txBody>
          </p:sp>
          <p:sp>
            <p:nvSpPr>
              <p:cNvPr id="25" name="object 26">
                <a:extLst>
                  <a:ext uri="{FF2B5EF4-FFF2-40B4-BE49-F238E27FC236}">
                    <a16:creationId xmlns:a16="http://schemas.microsoft.com/office/drawing/2014/main" id="{BDA6D298-D75B-4C92-831D-B716C2A97E5E}"/>
                  </a:ext>
                </a:extLst>
              </p:cNvPr>
              <p:cNvSpPr/>
              <p:nvPr/>
            </p:nvSpPr>
            <p:spPr>
              <a:xfrm>
                <a:off x="9077323" y="1514474"/>
                <a:ext cx="2581275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581275" h="419100">
                    <a:moveTo>
                      <a:pt x="2548226" y="419099"/>
                    </a:moveTo>
                    <a:lnTo>
                      <a:pt x="33047" y="419099"/>
                    </a:lnTo>
                    <a:lnTo>
                      <a:pt x="28187" y="418132"/>
                    </a:lnTo>
                    <a:lnTo>
                      <a:pt x="966" y="390912"/>
                    </a:lnTo>
                    <a:lnTo>
                      <a:pt x="0" y="386052"/>
                    </a:lnTo>
                    <a:lnTo>
                      <a:pt x="0" y="380999"/>
                    </a:lnTo>
                    <a:lnTo>
                      <a:pt x="0" y="33047"/>
                    </a:lnTo>
                    <a:lnTo>
                      <a:pt x="28187" y="966"/>
                    </a:lnTo>
                    <a:lnTo>
                      <a:pt x="33047" y="0"/>
                    </a:lnTo>
                    <a:lnTo>
                      <a:pt x="2548226" y="0"/>
                    </a:lnTo>
                    <a:lnTo>
                      <a:pt x="2580306" y="28187"/>
                    </a:lnTo>
                    <a:lnTo>
                      <a:pt x="2581274" y="33047"/>
                    </a:lnTo>
                    <a:lnTo>
                      <a:pt x="2581274" y="386052"/>
                    </a:lnTo>
                    <a:lnTo>
                      <a:pt x="2553085" y="418132"/>
                    </a:lnTo>
                    <a:lnTo>
                      <a:pt x="2548226" y="419099"/>
                    </a:lnTo>
                    <a:close/>
                  </a:path>
                </a:pathLst>
              </a:custGeom>
              <a:solidFill>
                <a:srgbClr val="FFF5E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7">
                <a:extLst>
                  <a:ext uri="{FF2B5EF4-FFF2-40B4-BE49-F238E27FC236}">
                    <a16:creationId xmlns:a16="http://schemas.microsoft.com/office/drawing/2014/main" id="{13544BC3-4B82-567F-E157-02C1A0E756B2}"/>
                  </a:ext>
                </a:extLst>
              </p:cNvPr>
              <p:cNvSpPr txBox="1"/>
              <p:nvPr/>
            </p:nvSpPr>
            <p:spPr>
              <a:xfrm>
                <a:off x="10318799" y="1558925"/>
                <a:ext cx="1257300" cy="1974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endParaRPr sz="1200" dirty="0">
                  <a:latin typeface="Liberation Serif"/>
                  <a:cs typeface="Liberation Serif"/>
                </a:endParaRPr>
              </a:p>
            </p:txBody>
          </p:sp>
          <p:sp>
            <p:nvSpPr>
              <p:cNvPr id="27" name="object 28">
                <a:extLst>
                  <a:ext uri="{FF2B5EF4-FFF2-40B4-BE49-F238E27FC236}">
                    <a16:creationId xmlns:a16="http://schemas.microsoft.com/office/drawing/2014/main" id="{E1489E34-9C07-A791-FDEF-64058F0B56E6}"/>
                  </a:ext>
                </a:extLst>
              </p:cNvPr>
              <p:cNvSpPr txBox="1"/>
              <p:nvPr/>
            </p:nvSpPr>
            <p:spPr>
              <a:xfrm>
                <a:off x="5191670" y="2184309"/>
                <a:ext cx="2019300" cy="446405"/>
              </a:xfrm>
              <a:prstGeom prst="rect">
                <a:avLst/>
              </a:prstGeom>
            </p:spPr>
            <p:txBody>
              <a:bodyPr vert="horz" wrap="square" lIns="0" tIns="5397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425"/>
                  </a:spcBef>
                </a:pPr>
                <a:r>
                  <a:rPr sz="1200" b="1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Signal</a:t>
                </a:r>
                <a:r>
                  <a:rPr sz="1200" b="1" spc="-3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 </a:t>
                </a:r>
                <a:r>
                  <a:rPr sz="1200" b="1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Energy</a:t>
                </a:r>
                <a:r>
                  <a:rPr sz="1200" b="1" spc="-25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 </a:t>
                </a:r>
                <a:r>
                  <a:rPr sz="1200" b="1" spc="-1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History</a:t>
                </a:r>
                <a:endParaRPr sz="1200">
                  <a:latin typeface="Segoe UI Semibold"/>
                  <a:cs typeface="Segoe UI Semibold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285"/>
                  </a:spcBef>
                </a:pPr>
                <a:r>
                  <a:rPr sz="105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Adapts</a:t>
                </a:r>
                <a:r>
                  <a:rPr sz="1050" spc="-1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to</a:t>
                </a:r>
                <a:r>
                  <a:rPr sz="1050" spc="-1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changing</a:t>
                </a:r>
                <a:r>
                  <a:rPr sz="1050" spc="-1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050" spc="-1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environments</a:t>
                </a:r>
                <a:endParaRPr sz="1050">
                  <a:latin typeface="Segoe UI"/>
                  <a:cs typeface="Segoe UI"/>
                </a:endParaRPr>
              </a:p>
            </p:txBody>
          </p:sp>
          <p:sp>
            <p:nvSpPr>
              <p:cNvPr id="28" name="object 29">
                <a:extLst>
                  <a:ext uri="{FF2B5EF4-FFF2-40B4-BE49-F238E27FC236}">
                    <a16:creationId xmlns:a16="http://schemas.microsoft.com/office/drawing/2014/main" id="{14A35F14-6F56-5DB7-35F3-8B5A91813284}"/>
                  </a:ext>
                </a:extLst>
              </p:cNvPr>
              <p:cNvSpPr txBox="1"/>
              <p:nvPr/>
            </p:nvSpPr>
            <p:spPr>
              <a:xfrm>
                <a:off x="5191670" y="2889159"/>
                <a:ext cx="2207895" cy="446405"/>
              </a:xfrm>
              <a:prstGeom prst="rect">
                <a:avLst/>
              </a:prstGeom>
            </p:spPr>
            <p:txBody>
              <a:bodyPr vert="horz" wrap="square" lIns="0" tIns="5397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425"/>
                  </a:spcBef>
                </a:pPr>
                <a:r>
                  <a:rPr sz="1200" b="1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Spectral</a:t>
                </a:r>
                <a:r>
                  <a:rPr sz="1200" b="1" spc="-45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 </a:t>
                </a:r>
                <a:r>
                  <a:rPr sz="1200" b="1" spc="-2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Flux</a:t>
                </a:r>
                <a:endParaRPr sz="1200">
                  <a:latin typeface="Segoe UI Semibold"/>
                  <a:cs typeface="Segoe UI Semibold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285"/>
                  </a:spcBef>
                </a:pPr>
                <a:r>
                  <a:rPr sz="105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Detects</a:t>
                </a:r>
                <a:r>
                  <a:rPr sz="1050" spc="-2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frequency</a:t>
                </a:r>
                <a:r>
                  <a:rPr sz="1050" spc="-2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spikes</a:t>
                </a:r>
                <a:r>
                  <a:rPr sz="1050" spc="-2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from</a:t>
                </a:r>
                <a:r>
                  <a:rPr sz="1050" spc="-1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050" spc="-1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plucks</a:t>
                </a:r>
                <a:endParaRPr sz="1050">
                  <a:latin typeface="Segoe UI"/>
                  <a:cs typeface="Segoe UI"/>
                </a:endParaRPr>
              </a:p>
            </p:txBody>
          </p:sp>
          <p:sp>
            <p:nvSpPr>
              <p:cNvPr id="29" name="object 30">
                <a:extLst>
                  <a:ext uri="{FF2B5EF4-FFF2-40B4-BE49-F238E27FC236}">
                    <a16:creationId xmlns:a16="http://schemas.microsoft.com/office/drawing/2014/main" id="{5A72374D-3BB6-F7B6-77CE-2C27569C567D}"/>
                  </a:ext>
                </a:extLst>
              </p:cNvPr>
              <p:cNvSpPr/>
              <p:nvPr/>
            </p:nvSpPr>
            <p:spPr>
              <a:xfrm>
                <a:off x="9077323" y="2924174"/>
                <a:ext cx="2581275" cy="552450"/>
              </a:xfrm>
              <a:custGeom>
                <a:avLst/>
                <a:gdLst/>
                <a:ahLst/>
                <a:cxnLst/>
                <a:rect l="l" t="t" r="r" b="b"/>
                <a:pathLst>
                  <a:path w="2581275" h="552450">
                    <a:moveTo>
                      <a:pt x="2548226" y="552449"/>
                    </a:moveTo>
                    <a:lnTo>
                      <a:pt x="33047" y="552449"/>
                    </a:lnTo>
                    <a:lnTo>
                      <a:pt x="28187" y="551483"/>
                    </a:lnTo>
                    <a:lnTo>
                      <a:pt x="966" y="524262"/>
                    </a:lnTo>
                    <a:lnTo>
                      <a:pt x="0" y="519402"/>
                    </a:lnTo>
                    <a:lnTo>
                      <a:pt x="0" y="514349"/>
                    </a:lnTo>
                    <a:lnTo>
                      <a:pt x="0" y="33047"/>
                    </a:lnTo>
                    <a:lnTo>
                      <a:pt x="28187" y="966"/>
                    </a:lnTo>
                    <a:lnTo>
                      <a:pt x="33047" y="0"/>
                    </a:lnTo>
                    <a:lnTo>
                      <a:pt x="2548226" y="0"/>
                    </a:lnTo>
                    <a:lnTo>
                      <a:pt x="2580306" y="28187"/>
                    </a:lnTo>
                    <a:lnTo>
                      <a:pt x="2581274" y="33047"/>
                    </a:lnTo>
                    <a:lnTo>
                      <a:pt x="2581274" y="519402"/>
                    </a:lnTo>
                    <a:lnTo>
                      <a:pt x="2553085" y="551483"/>
                    </a:lnTo>
                    <a:lnTo>
                      <a:pt x="2548226" y="552449"/>
                    </a:lnTo>
                    <a:close/>
                  </a:path>
                </a:pathLst>
              </a:custGeom>
              <a:solidFill>
                <a:srgbClr val="FFF5E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31">
                <a:extLst>
                  <a:ext uri="{FF2B5EF4-FFF2-40B4-BE49-F238E27FC236}">
                    <a16:creationId xmlns:a16="http://schemas.microsoft.com/office/drawing/2014/main" id="{778F298A-EB3E-DDB2-FDCE-4DACB13B3430}"/>
                  </a:ext>
                </a:extLst>
              </p:cNvPr>
              <p:cNvSpPr txBox="1"/>
              <p:nvPr/>
            </p:nvSpPr>
            <p:spPr>
              <a:xfrm>
                <a:off x="9193212" y="2922904"/>
                <a:ext cx="2383155" cy="243655"/>
              </a:xfrm>
              <a:prstGeom prst="rect">
                <a:avLst/>
              </a:prstGeom>
            </p:spPr>
            <p:txBody>
              <a:bodyPr vert="horz" wrap="square" lIns="0" tIns="58419" rIns="0" bIns="0" rtlCol="0">
                <a:spAutoFit/>
              </a:bodyPr>
              <a:lstStyle/>
              <a:p>
                <a:pPr marR="5080" algn="r">
                  <a:lnSpc>
                    <a:spcPct val="100000"/>
                  </a:lnSpc>
                  <a:spcBef>
                    <a:spcPts val="459"/>
                  </a:spcBef>
                </a:pPr>
                <a:endParaRPr sz="1200" dirty="0">
                  <a:latin typeface="Liberation Serif"/>
                  <a:cs typeface="Liberation Serif"/>
                </a:endParaRPr>
              </a:p>
            </p:txBody>
          </p:sp>
          <p:sp>
            <p:nvSpPr>
              <p:cNvPr id="31" name="object 32">
                <a:extLst>
                  <a:ext uri="{FF2B5EF4-FFF2-40B4-BE49-F238E27FC236}">
                    <a16:creationId xmlns:a16="http://schemas.microsoft.com/office/drawing/2014/main" id="{120778AB-B287-0ADC-099F-E2535361FD9D}"/>
                  </a:ext>
                </a:extLst>
              </p:cNvPr>
              <p:cNvSpPr txBox="1"/>
              <p:nvPr/>
            </p:nvSpPr>
            <p:spPr>
              <a:xfrm>
                <a:off x="5191670" y="3727358"/>
                <a:ext cx="2308225" cy="446405"/>
              </a:xfrm>
              <a:prstGeom prst="rect">
                <a:avLst/>
              </a:prstGeom>
            </p:spPr>
            <p:txBody>
              <a:bodyPr vert="horz" wrap="square" lIns="0" tIns="5397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425"/>
                  </a:spcBef>
                </a:pPr>
                <a:r>
                  <a:rPr sz="1200" b="1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200ms</a:t>
                </a:r>
                <a:r>
                  <a:rPr sz="1200" b="1" spc="-3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 </a:t>
                </a:r>
                <a:r>
                  <a:rPr sz="1200" b="1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Refractory</a:t>
                </a:r>
                <a:r>
                  <a:rPr sz="1200" b="1" spc="-3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 </a:t>
                </a:r>
                <a:r>
                  <a:rPr sz="1200" b="1" spc="-10" dirty="0">
                    <a:solidFill>
                      <a:srgbClr val="333333"/>
                    </a:solidFill>
                    <a:latin typeface="Segoe UI Semibold"/>
                    <a:cs typeface="Segoe UI Semibold"/>
                  </a:rPr>
                  <a:t>Period</a:t>
                </a:r>
                <a:endParaRPr sz="1200">
                  <a:latin typeface="Segoe UI Semibold"/>
                  <a:cs typeface="Segoe UI Semibold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285"/>
                  </a:spcBef>
                </a:pPr>
                <a:r>
                  <a:rPr sz="105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Avoids</a:t>
                </a:r>
                <a:r>
                  <a:rPr sz="1050" spc="-1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multiple</a:t>
                </a:r>
                <a:r>
                  <a:rPr sz="1050" spc="-1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triggers</a:t>
                </a:r>
                <a:r>
                  <a:rPr sz="1050" spc="-1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from</a:t>
                </a:r>
                <a:r>
                  <a:rPr sz="1050" spc="-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one</a:t>
                </a:r>
                <a:r>
                  <a:rPr sz="1050" spc="-1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050" spc="-2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note</a:t>
                </a:r>
                <a:endParaRPr sz="1050">
                  <a:latin typeface="Segoe UI"/>
                  <a:cs typeface="Segoe UI"/>
                </a:endParaRPr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84686-A6E0-F3B3-B9B2-F40C760FEE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2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145B2-E1BA-7ACF-3A90-AF94EAFDB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A944F25-FFEC-0A0F-3162-291BB6AEE3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1108" y="685006"/>
            <a:ext cx="8489951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lang="en-US" sz="3600" spc="-100" dirty="0">
                <a:solidFill>
                  <a:schemeClr val="accent6"/>
                </a:solidFill>
              </a:rPr>
              <a:t>Mobile</a:t>
            </a:r>
            <a:r>
              <a:rPr lang="en-US" sz="3600" spc="-20" dirty="0">
                <a:solidFill>
                  <a:schemeClr val="accent6"/>
                </a:solidFill>
              </a:rPr>
              <a:t> </a:t>
            </a:r>
            <a:r>
              <a:rPr lang="en-US" sz="3600" spc="-100" dirty="0">
                <a:solidFill>
                  <a:schemeClr val="accent6"/>
                </a:solidFill>
              </a:rPr>
              <a:t>App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35F9CE46-F868-C144-D7EC-F5F166744FBA}"/>
              </a:ext>
            </a:extLst>
          </p:cNvPr>
          <p:cNvSpPr txBox="1"/>
          <p:nvPr/>
        </p:nvSpPr>
        <p:spPr>
          <a:xfrm>
            <a:off x="10689232" y="67889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grpSp>
        <p:nvGrpSpPr>
          <p:cNvPr id="17" name="object 11">
            <a:extLst>
              <a:ext uri="{FF2B5EF4-FFF2-40B4-BE49-F238E27FC236}">
                <a16:creationId xmlns:a16="http://schemas.microsoft.com/office/drawing/2014/main" id="{9A95C7E0-4F2E-0FB7-DECF-C3BBAE2ED433}"/>
              </a:ext>
            </a:extLst>
          </p:cNvPr>
          <p:cNvGrpSpPr/>
          <p:nvPr/>
        </p:nvGrpSpPr>
        <p:grpSpPr>
          <a:xfrm>
            <a:off x="909381" y="1915518"/>
            <a:ext cx="10363200" cy="685800"/>
            <a:chOff x="914399" y="4610099"/>
            <a:chExt cx="10363200" cy="1066800"/>
          </a:xfrm>
        </p:grpSpPr>
        <p:sp>
          <p:nvSpPr>
            <p:cNvPr id="18" name="object 12">
              <a:extLst>
                <a:ext uri="{FF2B5EF4-FFF2-40B4-BE49-F238E27FC236}">
                  <a16:creationId xmlns:a16="http://schemas.microsoft.com/office/drawing/2014/main" id="{039CA20D-A42D-0490-ED0E-1626A4914182}"/>
                </a:ext>
              </a:extLst>
            </p:cNvPr>
            <p:cNvSpPr/>
            <p:nvPr/>
          </p:nvSpPr>
          <p:spPr>
            <a:xfrm>
              <a:off x="933449" y="4610099"/>
              <a:ext cx="10344150" cy="1066800"/>
            </a:xfrm>
            <a:custGeom>
              <a:avLst/>
              <a:gdLst/>
              <a:ahLst/>
              <a:cxnLst/>
              <a:rect l="l" t="t" r="r" b="b"/>
              <a:pathLst>
                <a:path w="10344150" h="1066800">
                  <a:moveTo>
                    <a:pt x="10272952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10272952" y="0"/>
                  </a:lnTo>
                  <a:lnTo>
                    <a:pt x="10277906" y="488"/>
                  </a:lnTo>
                  <a:lnTo>
                    <a:pt x="10314440" y="15621"/>
                  </a:lnTo>
                  <a:lnTo>
                    <a:pt x="10340262" y="51661"/>
                  </a:lnTo>
                  <a:lnTo>
                    <a:pt x="10344148" y="71196"/>
                  </a:lnTo>
                  <a:lnTo>
                    <a:pt x="10344148" y="995603"/>
                  </a:lnTo>
                  <a:lnTo>
                    <a:pt x="10328525" y="1037094"/>
                  </a:lnTo>
                  <a:lnTo>
                    <a:pt x="10292486" y="1062913"/>
                  </a:lnTo>
                  <a:lnTo>
                    <a:pt x="10272952" y="1066799"/>
                  </a:lnTo>
                  <a:close/>
                </a:path>
              </a:pathLst>
            </a:custGeom>
            <a:solidFill>
              <a:srgbClr val="FF6A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3">
              <a:extLst>
                <a:ext uri="{FF2B5EF4-FFF2-40B4-BE49-F238E27FC236}">
                  <a16:creationId xmlns:a16="http://schemas.microsoft.com/office/drawing/2014/main" id="{ABDAA666-F0E2-0570-F4F1-35A178B005FA}"/>
                </a:ext>
              </a:extLst>
            </p:cNvPr>
            <p:cNvSpPr/>
            <p:nvPr/>
          </p:nvSpPr>
          <p:spPr>
            <a:xfrm>
              <a:off x="914399" y="4610099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099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66799"/>
                  </a:lnTo>
                  <a:close/>
                </a:path>
              </a:pathLst>
            </a:custGeom>
            <a:solidFill>
              <a:srgbClr val="FF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9189196-B6B1-7842-E636-E223AD2589BC}"/>
              </a:ext>
            </a:extLst>
          </p:cNvPr>
          <p:cNvSpPr txBox="1"/>
          <p:nvPr/>
        </p:nvSpPr>
        <p:spPr>
          <a:xfrm>
            <a:off x="1727834" y="1985532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Crepe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9366F2-6550-EABF-CCAA-255F87E060A3}"/>
              </a:ext>
            </a:extLst>
          </p:cNvPr>
          <p:cNvSpPr txBox="1"/>
          <p:nvPr/>
        </p:nvSpPr>
        <p:spPr>
          <a:xfrm>
            <a:off x="1143000" y="1026061"/>
            <a:ext cx="4762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spc="-90" dirty="0">
                <a:solidFill>
                  <a:srgbClr val="333333"/>
                </a:solidFill>
                <a:latin typeface="Montserrat Medium"/>
                <a:cs typeface="Montserrat Medium"/>
              </a:rPr>
              <a:t>Real-</a:t>
            </a:r>
            <a:r>
              <a:rPr lang="en-US" b="0" spc="-100" dirty="0">
                <a:solidFill>
                  <a:srgbClr val="333333"/>
                </a:solidFill>
                <a:latin typeface="Montserrat Medium"/>
                <a:cs typeface="Montserrat Medium"/>
              </a:rPr>
              <a:t>time</a:t>
            </a:r>
            <a:r>
              <a:rPr lang="en-US" b="0" spc="1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lang="en-US" b="0" spc="-105" dirty="0">
                <a:solidFill>
                  <a:srgbClr val="333333"/>
                </a:solidFill>
                <a:latin typeface="Montserrat Medium"/>
                <a:cs typeface="Montserrat Medium"/>
              </a:rPr>
              <a:t>Pitch</a:t>
            </a:r>
            <a:r>
              <a:rPr lang="en-US" b="0" spc="15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lang="en-US" b="0" spc="-10" dirty="0">
                <a:solidFill>
                  <a:srgbClr val="333333"/>
                </a:solidFill>
                <a:latin typeface="Montserrat Medium"/>
                <a:cs typeface="Montserrat Medium"/>
              </a:rPr>
              <a:t>Detection System</a:t>
            </a:r>
            <a:endParaRPr lang="en-US" dirty="0">
              <a:latin typeface="Montserrat Medium"/>
              <a:cs typeface="Montserrat Medium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Graphic 5" descr="Processor outline">
            <a:extLst>
              <a:ext uri="{FF2B5EF4-FFF2-40B4-BE49-F238E27FC236}">
                <a16:creationId xmlns:a16="http://schemas.microsoft.com/office/drawing/2014/main" id="{0D7CA0A7-7C9C-258A-514B-FB6381980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855" y="1883686"/>
            <a:ext cx="749463" cy="749463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D73ACA9-9C9F-4412-5F2B-9CAB0011D9B8}"/>
              </a:ext>
            </a:extLst>
          </p:cNvPr>
          <p:cNvGrpSpPr/>
          <p:nvPr/>
        </p:nvGrpSpPr>
        <p:grpSpPr>
          <a:xfrm>
            <a:off x="894633" y="2799687"/>
            <a:ext cx="7573743" cy="3371720"/>
            <a:chOff x="852097" y="3219171"/>
            <a:chExt cx="7573743" cy="3371720"/>
          </a:xfrm>
        </p:grpSpPr>
        <p:sp>
          <p:nvSpPr>
            <p:cNvPr id="68" name="object 4">
              <a:extLst>
                <a:ext uri="{FF2B5EF4-FFF2-40B4-BE49-F238E27FC236}">
                  <a16:creationId xmlns:a16="http://schemas.microsoft.com/office/drawing/2014/main" id="{BBF089E0-7D0A-5A4F-B194-95C6E90488BB}"/>
                </a:ext>
              </a:extLst>
            </p:cNvPr>
            <p:cNvSpPr/>
            <p:nvPr/>
          </p:nvSpPr>
          <p:spPr>
            <a:xfrm>
              <a:off x="902685" y="5285691"/>
              <a:ext cx="7504261" cy="1010971"/>
            </a:xfrm>
            <a:custGeom>
              <a:avLst/>
              <a:gdLst/>
              <a:ahLst/>
              <a:cxnLst/>
              <a:rect l="l" t="t" r="r" b="b"/>
              <a:pathLst>
                <a:path w="5581650" h="838200">
                  <a:moveTo>
                    <a:pt x="5510452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5510452" y="0"/>
                  </a:lnTo>
                  <a:lnTo>
                    <a:pt x="5515407" y="488"/>
                  </a:lnTo>
                  <a:lnTo>
                    <a:pt x="5551943" y="15621"/>
                  </a:lnTo>
                  <a:lnTo>
                    <a:pt x="5577762" y="51661"/>
                  </a:lnTo>
                  <a:lnTo>
                    <a:pt x="5581648" y="71196"/>
                  </a:lnTo>
                  <a:lnTo>
                    <a:pt x="5581648" y="767003"/>
                  </a:lnTo>
                  <a:lnTo>
                    <a:pt x="5566026" y="808494"/>
                  </a:lnTo>
                  <a:lnTo>
                    <a:pt x="5529987" y="834313"/>
                  </a:lnTo>
                  <a:lnTo>
                    <a:pt x="5510452" y="838199"/>
                  </a:lnTo>
                  <a:close/>
                </a:path>
              </a:pathLst>
            </a:custGeom>
            <a:solidFill>
              <a:srgbClr val="FFF5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D95810E-1806-9F90-7477-93A2EAAA8DC1}"/>
                </a:ext>
              </a:extLst>
            </p:cNvPr>
            <p:cNvGrpSpPr/>
            <p:nvPr/>
          </p:nvGrpSpPr>
          <p:grpSpPr>
            <a:xfrm>
              <a:off x="852097" y="3219171"/>
              <a:ext cx="7573743" cy="2431274"/>
              <a:chOff x="328381" y="1522824"/>
              <a:chExt cx="8493377" cy="2431274"/>
            </a:xfrm>
          </p:grpSpPr>
          <p:grpSp>
            <p:nvGrpSpPr>
              <p:cNvPr id="40" name="object 3">
                <a:extLst>
                  <a:ext uri="{FF2B5EF4-FFF2-40B4-BE49-F238E27FC236}">
                    <a16:creationId xmlns:a16="http://schemas.microsoft.com/office/drawing/2014/main" id="{AE374F18-AEC6-3118-2397-C6F4283BCA56}"/>
                  </a:ext>
                </a:extLst>
              </p:cNvPr>
              <p:cNvGrpSpPr/>
              <p:nvPr/>
            </p:nvGrpSpPr>
            <p:grpSpPr>
              <a:xfrm>
                <a:off x="328381" y="1522824"/>
                <a:ext cx="8493377" cy="848900"/>
                <a:chOff x="328381" y="1522824"/>
                <a:chExt cx="8493377" cy="848900"/>
              </a:xfrm>
            </p:grpSpPr>
            <p:sp>
              <p:nvSpPr>
                <p:cNvPr id="50" name="object 4">
                  <a:extLst>
                    <a:ext uri="{FF2B5EF4-FFF2-40B4-BE49-F238E27FC236}">
                      <a16:creationId xmlns:a16="http://schemas.microsoft.com/office/drawing/2014/main" id="{A98D708C-ADC2-5559-13DF-3B92DA3CFD67}"/>
                    </a:ext>
                  </a:extLst>
                </p:cNvPr>
                <p:cNvSpPr/>
                <p:nvPr/>
              </p:nvSpPr>
              <p:spPr>
                <a:xfrm>
                  <a:off x="328381" y="1522824"/>
                  <a:ext cx="8493377" cy="83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1650" h="838200">
                      <a:moveTo>
                        <a:pt x="5510452" y="838199"/>
                      </a:moveTo>
                      <a:lnTo>
                        <a:pt x="0" y="838199"/>
                      </a:lnTo>
                      <a:lnTo>
                        <a:pt x="0" y="0"/>
                      </a:lnTo>
                      <a:lnTo>
                        <a:pt x="5510452" y="0"/>
                      </a:lnTo>
                      <a:lnTo>
                        <a:pt x="5515407" y="488"/>
                      </a:lnTo>
                      <a:lnTo>
                        <a:pt x="5551943" y="15621"/>
                      </a:lnTo>
                      <a:lnTo>
                        <a:pt x="5577762" y="51661"/>
                      </a:lnTo>
                      <a:lnTo>
                        <a:pt x="5581648" y="71196"/>
                      </a:lnTo>
                      <a:lnTo>
                        <a:pt x="5581648" y="767003"/>
                      </a:lnTo>
                      <a:lnTo>
                        <a:pt x="5566026" y="808494"/>
                      </a:lnTo>
                      <a:lnTo>
                        <a:pt x="5529987" y="834313"/>
                      </a:lnTo>
                      <a:lnTo>
                        <a:pt x="5510452" y="838199"/>
                      </a:lnTo>
                      <a:close/>
                    </a:path>
                  </a:pathLst>
                </a:custGeom>
                <a:solidFill>
                  <a:srgbClr val="FFF5E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1" name="object 5">
                  <a:extLst>
                    <a:ext uri="{FF2B5EF4-FFF2-40B4-BE49-F238E27FC236}">
                      <a16:creationId xmlns:a16="http://schemas.microsoft.com/office/drawing/2014/main" id="{F8500D9F-5EC9-9867-1701-DBAA1106D54C}"/>
                    </a:ext>
                  </a:extLst>
                </p:cNvPr>
                <p:cNvSpPr/>
                <p:nvPr/>
              </p:nvSpPr>
              <p:spPr>
                <a:xfrm>
                  <a:off x="380999" y="1533524"/>
                  <a:ext cx="38100" cy="83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838200">
                      <a:moveTo>
                        <a:pt x="38099" y="838199"/>
                      </a:moveTo>
                      <a:lnTo>
                        <a:pt x="0" y="838199"/>
                      </a:lnTo>
                      <a:lnTo>
                        <a:pt x="0" y="0"/>
                      </a:lnTo>
                      <a:lnTo>
                        <a:pt x="38099" y="0"/>
                      </a:lnTo>
                      <a:lnTo>
                        <a:pt x="38099" y="838199"/>
                      </a:lnTo>
                      <a:close/>
                    </a:path>
                  </a:pathLst>
                </a:custGeom>
                <a:solidFill>
                  <a:srgbClr val="FF6A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52" name="object 6">
                  <a:extLst>
                    <a:ext uri="{FF2B5EF4-FFF2-40B4-BE49-F238E27FC236}">
                      <a16:creationId xmlns:a16="http://schemas.microsoft.com/office/drawing/2014/main" id="{1DBF4A3D-AA1C-F2A2-3BBB-5F4F0AE7A6B1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507027" y="1735874"/>
                  <a:ext cx="328600" cy="361229"/>
                </a:xfrm>
                <a:prstGeom prst="rect">
                  <a:avLst/>
                </a:prstGeom>
              </p:spPr>
            </p:pic>
          </p:grpSp>
          <p:grpSp>
            <p:nvGrpSpPr>
              <p:cNvPr id="41" name="object 7">
                <a:extLst>
                  <a:ext uri="{FF2B5EF4-FFF2-40B4-BE49-F238E27FC236}">
                    <a16:creationId xmlns:a16="http://schemas.microsoft.com/office/drawing/2014/main" id="{D0355BA1-F6AD-2DE4-D30C-CE62530C5087}"/>
                  </a:ext>
                </a:extLst>
              </p:cNvPr>
              <p:cNvGrpSpPr/>
              <p:nvPr/>
            </p:nvGrpSpPr>
            <p:grpSpPr>
              <a:xfrm>
                <a:off x="380999" y="2486024"/>
                <a:ext cx="8440759" cy="1468074"/>
                <a:chOff x="380999" y="2486024"/>
                <a:chExt cx="8440759" cy="1468074"/>
              </a:xfrm>
            </p:grpSpPr>
            <p:sp>
              <p:nvSpPr>
                <p:cNvPr id="46" name="object 8">
                  <a:extLst>
                    <a:ext uri="{FF2B5EF4-FFF2-40B4-BE49-F238E27FC236}">
                      <a16:creationId xmlns:a16="http://schemas.microsoft.com/office/drawing/2014/main" id="{F27FE718-0713-18C1-B64D-E7659BAC251B}"/>
                    </a:ext>
                  </a:extLst>
                </p:cNvPr>
                <p:cNvSpPr/>
                <p:nvPr/>
              </p:nvSpPr>
              <p:spPr>
                <a:xfrm>
                  <a:off x="414008" y="2502724"/>
                  <a:ext cx="8407750" cy="960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1650" h="1028700">
                      <a:moveTo>
                        <a:pt x="5510452" y="1028699"/>
                      </a:moveTo>
                      <a:lnTo>
                        <a:pt x="0" y="1028699"/>
                      </a:lnTo>
                      <a:lnTo>
                        <a:pt x="0" y="0"/>
                      </a:lnTo>
                      <a:lnTo>
                        <a:pt x="5510452" y="0"/>
                      </a:lnTo>
                      <a:lnTo>
                        <a:pt x="5515407" y="488"/>
                      </a:lnTo>
                      <a:lnTo>
                        <a:pt x="5551943" y="15621"/>
                      </a:lnTo>
                      <a:lnTo>
                        <a:pt x="5577762" y="51661"/>
                      </a:lnTo>
                      <a:lnTo>
                        <a:pt x="5581648" y="71196"/>
                      </a:lnTo>
                      <a:lnTo>
                        <a:pt x="5581648" y="957503"/>
                      </a:lnTo>
                      <a:lnTo>
                        <a:pt x="5566026" y="998993"/>
                      </a:lnTo>
                      <a:lnTo>
                        <a:pt x="5529987" y="1024813"/>
                      </a:lnTo>
                      <a:lnTo>
                        <a:pt x="5510452" y="1028699"/>
                      </a:lnTo>
                      <a:close/>
                    </a:path>
                  </a:pathLst>
                </a:custGeom>
                <a:solidFill>
                  <a:srgbClr val="FFF5EB"/>
                </a:solidFill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  <p:sp>
              <p:nvSpPr>
                <p:cNvPr id="47" name="object 9">
                  <a:extLst>
                    <a:ext uri="{FF2B5EF4-FFF2-40B4-BE49-F238E27FC236}">
                      <a16:creationId xmlns:a16="http://schemas.microsoft.com/office/drawing/2014/main" id="{395C1BB0-1E23-3F6B-716C-69684982509C}"/>
                    </a:ext>
                  </a:extLst>
                </p:cNvPr>
                <p:cNvSpPr/>
                <p:nvPr/>
              </p:nvSpPr>
              <p:spPr>
                <a:xfrm>
                  <a:off x="380999" y="2486024"/>
                  <a:ext cx="38100" cy="102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028700">
                      <a:moveTo>
                        <a:pt x="38099" y="1028699"/>
                      </a:moveTo>
                      <a:lnTo>
                        <a:pt x="0" y="1028699"/>
                      </a:lnTo>
                      <a:lnTo>
                        <a:pt x="0" y="0"/>
                      </a:lnTo>
                      <a:lnTo>
                        <a:pt x="38099" y="0"/>
                      </a:lnTo>
                      <a:lnTo>
                        <a:pt x="38099" y="1028699"/>
                      </a:lnTo>
                      <a:close/>
                    </a:path>
                  </a:pathLst>
                </a:custGeom>
                <a:solidFill>
                  <a:srgbClr val="FF6A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48" name="object 10">
                  <a:extLst>
                    <a:ext uri="{FF2B5EF4-FFF2-40B4-BE49-F238E27FC236}">
                      <a16:creationId xmlns:a16="http://schemas.microsoft.com/office/drawing/2014/main" id="{A72A9F8B-5B64-F7DF-C4C0-29A408A57324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507027" y="3637917"/>
                  <a:ext cx="462529" cy="316181"/>
                </a:xfrm>
                <a:prstGeom prst="rect">
                  <a:avLst/>
                </a:prstGeom>
              </p:spPr>
            </p:pic>
          </p:grpSp>
          <p:sp>
            <p:nvSpPr>
              <p:cNvPr id="44" name="object 15">
                <a:extLst>
                  <a:ext uri="{FF2B5EF4-FFF2-40B4-BE49-F238E27FC236}">
                    <a16:creationId xmlns:a16="http://schemas.microsoft.com/office/drawing/2014/main" id="{975819FB-5D13-2200-1F09-1CB48E6D3617}"/>
                  </a:ext>
                </a:extLst>
              </p:cNvPr>
              <p:cNvSpPr txBox="1"/>
              <p:nvPr/>
            </p:nvSpPr>
            <p:spPr>
              <a:xfrm>
                <a:off x="919149" y="1618438"/>
                <a:ext cx="5075646" cy="646972"/>
              </a:xfrm>
              <a:prstGeom prst="rect">
                <a:avLst/>
              </a:prstGeom>
            </p:spPr>
            <p:txBody>
              <a:bodyPr vert="horz" wrap="square" lIns="0" tIns="5397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425"/>
                  </a:spcBef>
                </a:pPr>
                <a:r>
                  <a:rPr lang="en-US" dirty="0">
                    <a:solidFill>
                      <a:srgbClr val="333333"/>
                    </a:solidFill>
                    <a:latin typeface="Segoe UI"/>
                    <a:cs typeface="Segoe UI"/>
                  </a:rPr>
                  <a:t>Preprocessing</a:t>
                </a:r>
                <a:r>
                  <a:rPr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endParaRPr dirty="0">
                  <a:latin typeface="Segoe UI"/>
                  <a:cs typeface="Segoe UI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285"/>
                  </a:spcBef>
                </a:pPr>
                <a:r>
                  <a:rPr dirty="0">
                    <a:solidFill>
                      <a:srgbClr val="333333"/>
                    </a:solidFill>
                    <a:latin typeface="Segoe UI"/>
                    <a:cs typeface="Segoe UI"/>
                  </a:rPr>
                  <a:t>64ms</a:t>
                </a:r>
                <a:r>
                  <a:rPr spc="-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dirty="0">
                    <a:solidFill>
                      <a:srgbClr val="333333"/>
                    </a:solidFill>
                    <a:latin typeface="Segoe UI"/>
                    <a:cs typeface="Segoe UI"/>
                  </a:rPr>
                  <a:t>audio</a:t>
                </a:r>
                <a:r>
                  <a:rPr spc="-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dirty="0">
                    <a:solidFill>
                      <a:srgbClr val="333333"/>
                    </a:solidFill>
                    <a:latin typeface="Segoe UI"/>
                    <a:cs typeface="Segoe UI"/>
                  </a:rPr>
                  <a:t>frames</a:t>
                </a:r>
                <a:r>
                  <a:rPr spc="-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dirty="0">
                    <a:solidFill>
                      <a:srgbClr val="333333"/>
                    </a:solidFill>
                    <a:latin typeface="Segoe UI"/>
                    <a:cs typeface="Segoe UI"/>
                  </a:rPr>
                  <a:t>→</a:t>
                </a:r>
                <a:r>
                  <a:rPr spc="-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dirty="0">
                    <a:solidFill>
                      <a:srgbClr val="333333"/>
                    </a:solidFill>
                    <a:latin typeface="Segoe UI"/>
                    <a:cs typeface="Segoe UI"/>
                  </a:rPr>
                  <a:t>CREPE</a:t>
                </a:r>
                <a:r>
                  <a:rPr spc="-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dirty="0">
                    <a:solidFill>
                      <a:srgbClr val="333333"/>
                    </a:solidFill>
                    <a:latin typeface="Segoe UI"/>
                    <a:cs typeface="Segoe UI"/>
                  </a:rPr>
                  <a:t>neural</a:t>
                </a:r>
                <a:r>
                  <a:rPr spc="-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pc="-1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network</a:t>
                </a:r>
                <a:endParaRPr dirty="0">
                  <a:latin typeface="Segoe UI"/>
                  <a:cs typeface="Segoe UI"/>
                </a:endParaRPr>
              </a:p>
            </p:txBody>
          </p:sp>
          <p:sp>
            <p:nvSpPr>
              <p:cNvPr id="45" name="object 16">
                <a:extLst>
                  <a:ext uri="{FF2B5EF4-FFF2-40B4-BE49-F238E27FC236}">
                    <a16:creationId xmlns:a16="http://schemas.microsoft.com/office/drawing/2014/main" id="{04F71B73-8F4F-7041-98DB-5F2367B46DDA}"/>
                  </a:ext>
                </a:extLst>
              </p:cNvPr>
              <p:cNvSpPr txBox="1"/>
              <p:nvPr/>
            </p:nvSpPr>
            <p:spPr>
              <a:xfrm>
                <a:off x="1085378" y="2547894"/>
                <a:ext cx="7563021" cy="631263"/>
              </a:xfrm>
              <a:prstGeom prst="rect">
                <a:avLst/>
              </a:prstGeom>
            </p:spPr>
            <p:txBody>
              <a:bodyPr vert="horz" wrap="square" lIns="0" tIns="5397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425"/>
                  </a:spcBef>
                </a:pPr>
                <a:r>
                  <a:rPr lang="en-US" spc="-20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Model output</a:t>
                </a:r>
                <a:endParaRPr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02565" marR="5080">
                  <a:lnSpc>
                    <a:spcPct val="119000"/>
                  </a:lnSpc>
                  <a:spcBef>
                    <a:spcPts val="45"/>
                  </a:spcBef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360-bin pitch confidence</a:t>
                </a:r>
                <a:endParaRPr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9" name="object 9">
              <a:extLst>
                <a:ext uri="{FF2B5EF4-FFF2-40B4-BE49-F238E27FC236}">
                  <a16:creationId xmlns:a16="http://schemas.microsoft.com/office/drawing/2014/main" id="{1E492361-B5C5-B31A-541E-742F7C43E2AE}"/>
                </a:ext>
              </a:extLst>
            </p:cNvPr>
            <p:cNvSpPr/>
            <p:nvPr/>
          </p:nvSpPr>
          <p:spPr>
            <a:xfrm>
              <a:off x="906686" y="5267963"/>
              <a:ext cx="33975" cy="1028700"/>
            </a:xfrm>
            <a:custGeom>
              <a:avLst/>
              <a:gdLst/>
              <a:ahLst/>
              <a:cxnLst/>
              <a:rect l="l" t="t" r="r" b="b"/>
              <a:pathLst>
                <a:path w="38100" h="1028700">
                  <a:moveTo>
                    <a:pt x="38099" y="1028699"/>
                  </a:moveTo>
                  <a:lnTo>
                    <a:pt x="0" y="10286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28699"/>
                  </a:lnTo>
                  <a:close/>
                </a:path>
              </a:pathLst>
            </a:custGeom>
            <a:solidFill>
              <a:srgbClr val="FF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6DF6D4C-5659-8B84-4D3D-AAF9639B2F23}"/>
                </a:ext>
              </a:extLst>
            </p:cNvPr>
            <p:cNvSpPr txBox="1"/>
            <p:nvPr/>
          </p:nvSpPr>
          <p:spPr>
            <a:xfrm>
              <a:off x="1508234" y="5285277"/>
              <a:ext cx="6614064" cy="13056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25"/>
                </a:spcBef>
              </a:pPr>
              <a:r>
                <a:rPr lang="en-US" spc="-20" dirty="0">
                  <a:solidFill>
                    <a:srgbClr val="333333"/>
                  </a:solidFill>
                  <a:latin typeface="Segoe UI"/>
                  <a:cs typeface="Segoe UI"/>
                </a:rPr>
                <a:t>Post-</a:t>
              </a:r>
              <a:r>
                <a:rPr lang="en-US" spc="-10" dirty="0">
                  <a:solidFill>
                    <a:srgbClr val="333333"/>
                  </a:solidFill>
                  <a:latin typeface="Segoe UI"/>
                  <a:cs typeface="Segoe UI"/>
                </a:rPr>
                <a:t>Processing</a:t>
              </a:r>
              <a:endParaRPr lang="en-US" dirty="0">
                <a:latin typeface="Segoe UI"/>
                <a:cs typeface="Segoe UI"/>
              </a:endParaRPr>
            </a:p>
            <a:p>
              <a:pPr marL="202565" marR="5080">
                <a:lnSpc>
                  <a:spcPct val="119000"/>
                </a:lnSpc>
                <a:spcBef>
                  <a:spcPts val="45"/>
                </a:spcBef>
              </a:pPr>
              <a:r>
                <a:rPr lang="en-US" dirty="0">
                  <a:solidFill>
                    <a:srgbClr val="333333"/>
                  </a:solidFill>
                  <a:latin typeface="Segoe UI"/>
                  <a:cs typeface="Segoe UI"/>
                </a:rPr>
                <a:t>Octave</a:t>
              </a:r>
              <a:r>
                <a:rPr lang="en-US" spc="-10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dirty="0">
                  <a:solidFill>
                    <a:srgbClr val="333333"/>
                  </a:solidFill>
                  <a:latin typeface="Segoe UI"/>
                  <a:cs typeface="Segoe UI"/>
                </a:rPr>
                <a:t>correction</a:t>
              </a:r>
              <a:r>
                <a:rPr lang="en-US" spc="-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dirty="0">
                  <a:solidFill>
                    <a:srgbClr val="333333"/>
                  </a:solidFill>
                  <a:latin typeface="Segoe UI"/>
                  <a:cs typeface="Segoe UI"/>
                </a:rPr>
                <a:t>using</a:t>
              </a:r>
              <a:r>
                <a:rPr lang="en-US" spc="-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dirty="0">
                  <a:solidFill>
                    <a:srgbClr val="333333"/>
                  </a:solidFill>
                  <a:latin typeface="Segoe UI"/>
                  <a:cs typeface="Segoe UI"/>
                </a:rPr>
                <a:t>bin</a:t>
              </a:r>
              <a:r>
                <a:rPr lang="en-US" spc="-10" dirty="0">
                  <a:solidFill>
                    <a:srgbClr val="333333"/>
                  </a:solidFill>
                  <a:latin typeface="Segoe UI"/>
                  <a:cs typeface="Segoe UI"/>
                </a:rPr>
                <a:t> filtering </a:t>
              </a:r>
              <a:r>
                <a:rPr lang="en-US" dirty="0">
                  <a:solidFill>
                    <a:srgbClr val="333333"/>
                  </a:solidFill>
                  <a:latin typeface="Segoe UI"/>
                  <a:cs typeface="Segoe UI"/>
                </a:rPr>
                <a:t>Harmonic</a:t>
              </a:r>
              <a:r>
                <a:rPr lang="en-US" spc="-20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dirty="0">
                  <a:solidFill>
                    <a:srgbClr val="333333"/>
                  </a:solidFill>
                  <a:latin typeface="Segoe UI"/>
                  <a:cs typeface="Segoe UI"/>
                </a:rPr>
                <a:t>checks</a:t>
              </a:r>
              <a:r>
                <a:rPr lang="en-US" spc="-1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dirty="0">
                  <a:solidFill>
                    <a:srgbClr val="333333"/>
                  </a:solidFill>
                  <a:latin typeface="Segoe UI"/>
                  <a:cs typeface="Segoe UI"/>
                </a:rPr>
                <a:t>to</a:t>
              </a:r>
              <a:r>
                <a:rPr lang="en-US" spc="-1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dirty="0">
                  <a:solidFill>
                    <a:srgbClr val="333333"/>
                  </a:solidFill>
                  <a:latin typeface="Segoe UI"/>
                  <a:cs typeface="Segoe UI"/>
                </a:rPr>
                <a:t>identify</a:t>
              </a:r>
              <a:r>
                <a:rPr lang="en-US" spc="-1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dirty="0">
                  <a:solidFill>
                    <a:srgbClr val="333333"/>
                  </a:solidFill>
                  <a:latin typeface="Segoe UI"/>
                  <a:cs typeface="Segoe UI"/>
                </a:rPr>
                <a:t>true</a:t>
              </a:r>
              <a:r>
                <a:rPr lang="en-US" spc="-15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pc="-10" dirty="0">
                  <a:solidFill>
                    <a:srgbClr val="333333"/>
                  </a:solidFill>
                  <a:latin typeface="Segoe UI"/>
                  <a:cs typeface="Segoe UI"/>
                </a:rPr>
                <a:t>fundamental</a:t>
              </a:r>
              <a:endParaRPr lang="en-US" dirty="0">
                <a:latin typeface="Segoe UI"/>
                <a:cs typeface="Segoe UI"/>
              </a:endParaRPr>
            </a:p>
            <a:p>
              <a:endParaRPr lang="en-US" dirty="0"/>
            </a:p>
          </p:txBody>
        </p:sp>
        <p:pic>
          <p:nvPicPr>
            <p:cNvPr id="72" name="Graphic 71" descr="Presentation with pie chart with solid fill">
              <a:extLst>
                <a:ext uri="{FF2B5EF4-FFF2-40B4-BE49-F238E27FC236}">
                  <a16:creationId xmlns:a16="http://schemas.microsoft.com/office/drawing/2014/main" id="{BD7BD9EA-B18F-FDCD-39FB-51B24C8F9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16005" y="4191699"/>
              <a:ext cx="648722" cy="648722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9E3B3-60BD-EA67-DCA4-FD333AF5009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5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E1735-4722-0922-42DF-D7A861F4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63C7E3-BE8F-119E-66C9-F77B8EB248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1108" y="685006"/>
            <a:ext cx="8489951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lang="en-US" sz="3600" spc="-100" dirty="0">
                <a:solidFill>
                  <a:schemeClr val="accent6"/>
                </a:solidFill>
              </a:rPr>
              <a:t>Mobile</a:t>
            </a:r>
            <a:r>
              <a:rPr lang="en-US" sz="3600" spc="-20" dirty="0">
                <a:solidFill>
                  <a:schemeClr val="accent6"/>
                </a:solidFill>
              </a:rPr>
              <a:t> </a:t>
            </a:r>
            <a:r>
              <a:rPr lang="en-US" sz="3600" spc="-100" dirty="0">
                <a:solidFill>
                  <a:schemeClr val="accent6"/>
                </a:solidFill>
              </a:rPr>
              <a:t>App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47D6A01-C3AC-543B-DC58-3EFE29D48715}"/>
              </a:ext>
            </a:extLst>
          </p:cNvPr>
          <p:cNvSpPr txBox="1"/>
          <p:nvPr/>
        </p:nvSpPr>
        <p:spPr>
          <a:xfrm>
            <a:off x="10689232" y="67889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grpSp>
        <p:nvGrpSpPr>
          <p:cNvPr id="17" name="object 11">
            <a:extLst>
              <a:ext uri="{FF2B5EF4-FFF2-40B4-BE49-F238E27FC236}">
                <a16:creationId xmlns:a16="http://schemas.microsoft.com/office/drawing/2014/main" id="{D5DE9FA9-5F6F-AD73-A8E9-F5BEBA825321}"/>
              </a:ext>
            </a:extLst>
          </p:cNvPr>
          <p:cNvGrpSpPr/>
          <p:nvPr/>
        </p:nvGrpSpPr>
        <p:grpSpPr>
          <a:xfrm>
            <a:off x="909381" y="1915518"/>
            <a:ext cx="10363200" cy="685800"/>
            <a:chOff x="914399" y="4610099"/>
            <a:chExt cx="10363200" cy="1066800"/>
          </a:xfrm>
        </p:grpSpPr>
        <p:sp>
          <p:nvSpPr>
            <p:cNvPr id="18" name="object 12">
              <a:extLst>
                <a:ext uri="{FF2B5EF4-FFF2-40B4-BE49-F238E27FC236}">
                  <a16:creationId xmlns:a16="http://schemas.microsoft.com/office/drawing/2014/main" id="{66D165B5-F13F-94CE-0CF5-F7E12420B4EA}"/>
                </a:ext>
              </a:extLst>
            </p:cNvPr>
            <p:cNvSpPr/>
            <p:nvPr/>
          </p:nvSpPr>
          <p:spPr>
            <a:xfrm>
              <a:off x="933449" y="4610099"/>
              <a:ext cx="10344150" cy="1066800"/>
            </a:xfrm>
            <a:custGeom>
              <a:avLst/>
              <a:gdLst/>
              <a:ahLst/>
              <a:cxnLst/>
              <a:rect l="l" t="t" r="r" b="b"/>
              <a:pathLst>
                <a:path w="10344150" h="1066800">
                  <a:moveTo>
                    <a:pt x="10272952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10272952" y="0"/>
                  </a:lnTo>
                  <a:lnTo>
                    <a:pt x="10277906" y="488"/>
                  </a:lnTo>
                  <a:lnTo>
                    <a:pt x="10314440" y="15621"/>
                  </a:lnTo>
                  <a:lnTo>
                    <a:pt x="10340262" y="51661"/>
                  </a:lnTo>
                  <a:lnTo>
                    <a:pt x="10344148" y="71196"/>
                  </a:lnTo>
                  <a:lnTo>
                    <a:pt x="10344148" y="995603"/>
                  </a:lnTo>
                  <a:lnTo>
                    <a:pt x="10328525" y="1037094"/>
                  </a:lnTo>
                  <a:lnTo>
                    <a:pt x="10292486" y="1062913"/>
                  </a:lnTo>
                  <a:lnTo>
                    <a:pt x="10272952" y="1066799"/>
                  </a:lnTo>
                  <a:close/>
                </a:path>
              </a:pathLst>
            </a:custGeom>
            <a:solidFill>
              <a:srgbClr val="FF6A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3">
              <a:extLst>
                <a:ext uri="{FF2B5EF4-FFF2-40B4-BE49-F238E27FC236}">
                  <a16:creationId xmlns:a16="http://schemas.microsoft.com/office/drawing/2014/main" id="{46A608C9-F308-0BAB-6624-980155F5C15E}"/>
                </a:ext>
              </a:extLst>
            </p:cNvPr>
            <p:cNvSpPr/>
            <p:nvPr/>
          </p:nvSpPr>
          <p:spPr>
            <a:xfrm>
              <a:off x="914399" y="4610099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099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66799"/>
                  </a:lnTo>
                  <a:close/>
                </a:path>
              </a:pathLst>
            </a:custGeom>
            <a:solidFill>
              <a:srgbClr val="FF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5E80B24C-452A-66D5-BB08-324667A75CAC}"/>
              </a:ext>
            </a:extLst>
          </p:cNvPr>
          <p:cNvSpPr txBox="1"/>
          <p:nvPr/>
        </p:nvSpPr>
        <p:spPr>
          <a:xfrm>
            <a:off x="1727834" y="1985532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Low Note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A1B49A-D01B-4F5B-D548-8DF500776015}"/>
              </a:ext>
            </a:extLst>
          </p:cNvPr>
          <p:cNvSpPr txBox="1"/>
          <p:nvPr/>
        </p:nvSpPr>
        <p:spPr>
          <a:xfrm>
            <a:off x="1143000" y="1026061"/>
            <a:ext cx="4762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spc="-90" dirty="0">
                <a:solidFill>
                  <a:srgbClr val="333333"/>
                </a:solidFill>
                <a:latin typeface="Montserrat Medium"/>
                <a:cs typeface="Montserrat Medium"/>
              </a:rPr>
              <a:t>Real-</a:t>
            </a:r>
            <a:r>
              <a:rPr lang="en-US" b="0" spc="-100" dirty="0">
                <a:solidFill>
                  <a:srgbClr val="333333"/>
                </a:solidFill>
                <a:latin typeface="Montserrat Medium"/>
                <a:cs typeface="Montserrat Medium"/>
              </a:rPr>
              <a:t>time</a:t>
            </a:r>
            <a:r>
              <a:rPr lang="en-US" b="0" spc="1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lang="en-US" b="0" spc="-105" dirty="0">
                <a:solidFill>
                  <a:srgbClr val="333333"/>
                </a:solidFill>
                <a:latin typeface="Montserrat Medium"/>
                <a:cs typeface="Montserrat Medium"/>
              </a:rPr>
              <a:t>Pitch</a:t>
            </a:r>
            <a:r>
              <a:rPr lang="en-US" b="0" spc="15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lang="en-US" b="0" spc="-10" dirty="0">
                <a:solidFill>
                  <a:srgbClr val="333333"/>
                </a:solidFill>
                <a:latin typeface="Montserrat Medium"/>
                <a:cs typeface="Montserrat Medium"/>
              </a:rPr>
              <a:t>Detection System</a:t>
            </a:r>
            <a:endParaRPr lang="en-US" dirty="0">
              <a:latin typeface="Montserrat Medium"/>
              <a:cs typeface="Montserrat Medium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Graphic 5" descr="Processor outline">
            <a:extLst>
              <a:ext uri="{FF2B5EF4-FFF2-40B4-BE49-F238E27FC236}">
                <a16:creationId xmlns:a16="http://schemas.microsoft.com/office/drawing/2014/main" id="{DECAE97C-1C27-CC58-8EAC-EDEC835E3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855" y="1883686"/>
            <a:ext cx="749463" cy="74946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B01A68D-7CB1-91B7-A33E-CE46621F58D7}"/>
              </a:ext>
            </a:extLst>
          </p:cNvPr>
          <p:cNvGrpSpPr/>
          <p:nvPr/>
        </p:nvGrpSpPr>
        <p:grpSpPr>
          <a:xfrm>
            <a:off x="909381" y="2838848"/>
            <a:ext cx="4055269" cy="2324100"/>
            <a:chOff x="457199" y="1295677"/>
            <a:chExt cx="4055269" cy="23241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7C32265-30F3-74C4-FD49-0526A32C0AD0}"/>
                </a:ext>
              </a:extLst>
            </p:cNvPr>
            <p:cNvSpPr/>
            <p:nvPr/>
          </p:nvSpPr>
          <p:spPr>
            <a:xfrm>
              <a:off x="457199" y="1295677"/>
              <a:ext cx="70485" cy="2324100"/>
            </a:xfrm>
            <a:custGeom>
              <a:avLst/>
              <a:gdLst/>
              <a:ahLst/>
              <a:cxnLst/>
              <a:rect l="l" t="t" r="r" b="b"/>
              <a:pathLst>
                <a:path w="70484" h="2324100">
                  <a:moveTo>
                    <a:pt x="70450" y="2323544"/>
                  </a:moveTo>
                  <a:lnTo>
                    <a:pt x="33857" y="2310991"/>
                  </a:lnTo>
                  <a:lnTo>
                    <a:pt x="5800" y="2276782"/>
                  </a:lnTo>
                  <a:lnTo>
                    <a:pt x="0" y="22476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2247622"/>
                  </a:lnTo>
                  <a:lnTo>
                    <a:pt x="44515" y="2289963"/>
                  </a:lnTo>
                  <a:lnTo>
                    <a:pt x="66287" y="2321888"/>
                  </a:lnTo>
                  <a:lnTo>
                    <a:pt x="70450" y="2323544"/>
                  </a:lnTo>
                  <a:close/>
                </a:path>
              </a:pathLst>
            </a:custGeom>
            <a:solidFill>
              <a:srgbClr val="FF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C7B36A47-2E63-7F2A-9047-FEE2CEF5BD85}"/>
                </a:ext>
              </a:extLst>
            </p:cNvPr>
            <p:cNvSpPr txBox="1"/>
            <p:nvPr/>
          </p:nvSpPr>
          <p:spPr>
            <a:xfrm>
              <a:off x="1025525" y="1479737"/>
              <a:ext cx="941705" cy="3378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050" b="1" spc="-150" dirty="0">
                  <a:latin typeface="Montserrat SemiBold"/>
                  <a:cs typeface="Montserrat SemiBold"/>
                </a:rPr>
                <a:t>Dataset</a:t>
              </a:r>
              <a:endParaRPr sz="2050">
                <a:latin typeface="Montserrat SemiBold"/>
                <a:cs typeface="Montserrat SemiBold"/>
              </a:endParaRPr>
            </a:p>
          </p:txBody>
        </p:sp>
        <p:pic>
          <p:nvPicPr>
            <p:cNvPr id="10" name="object 12">
              <a:extLst>
                <a:ext uri="{FF2B5EF4-FFF2-40B4-BE49-F238E27FC236}">
                  <a16:creationId xmlns:a16="http://schemas.microsoft.com/office/drawing/2014/main" id="{723DFA43-D9F2-3E1E-22C3-26F4127632E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9735" y="2026800"/>
              <a:ext cx="68315" cy="118348"/>
            </a:xfrm>
            <a:prstGeom prst="rect">
              <a:avLst/>
            </a:prstGeom>
          </p:spPr>
        </p:pic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07806B5F-8D9B-AC8D-06D4-21C72C18D669}"/>
                </a:ext>
              </a:extLst>
            </p:cNvPr>
            <p:cNvSpPr txBox="1"/>
            <p:nvPr/>
          </p:nvSpPr>
          <p:spPr>
            <a:xfrm>
              <a:off x="870743" y="1969833"/>
              <a:ext cx="2679700" cy="241092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sz="1450" spc="-60" dirty="0">
                  <a:latin typeface="Montserrat"/>
                  <a:cs typeface="Montserrat"/>
                </a:rPr>
                <a:t>8,133</a:t>
              </a:r>
              <a:r>
                <a:rPr sz="1450" spc="-10" dirty="0">
                  <a:latin typeface="Montserrat"/>
                  <a:cs typeface="Montserrat"/>
                </a:rPr>
                <a:t> </a:t>
              </a:r>
              <a:r>
                <a:rPr sz="1450" spc="-70" dirty="0">
                  <a:latin typeface="Montserrat"/>
                  <a:cs typeface="Montserrat"/>
                </a:rPr>
                <a:t>samples</a:t>
              </a:r>
              <a:r>
                <a:rPr sz="1450" spc="-40" dirty="0">
                  <a:latin typeface="Montserrat"/>
                  <a:cs typeface="Montserrat"/>
                </a:rPr>
                <a:t> </a:t>
              </a:r>
              <a:r>
                <a:rPr sz="1450" spc="-60" dirty="0">
                  <a:latin typeface="Montserrat"/>
                  <a:cs typeface="Montserrat"/>
                </a:rPr>
                <a:t>(1000+</a:t>
              </a:r>
              <a:r>
                <a:rPr sz="1450" spc="-15" dirty="0">
                  <a:latin typeface="Montserrat"/>
                  <a:cs typeface="Montserrat"/>
                </a:rPr>
                <a:t> </a:t>
              </a:r>
              <a:r>
                <a:rPr sz="1450" spc="-55" dirty="0">
                  <a:latin typeface="Montserrat"/>
                  <a:cs typeface="Montserrat"/>
                </a:rPr>
                <a:t>per</a:t>
              </a:r>
              <a:r>
                <a:rPr sz="1450" spc="-10" dirty="0">
                  <a:latin typeface="Montserrat"/>
                  <a:cs typeface="Montserrat"/>
                </a:rPr>
                <a:t> </a:t>
              </a:r>
              <a:r>
                <a:rPr sz="1450" spc="-45" dirty="0">
                  <a:latin typeface="Montserrat"/>
                  <a:cs typeface="Montserrat"/>
                </a:rPr>
                <a:t>note)</a:t>
              </a:r>
              <a:endParaRPr sz="1450" dirty="0">
                <a:latin typeface="Montserrat"/>
                <a:cs typeface="Montserrat"/>
              </a:endParaRPr>
            </a:p>
          </p:txBody>
        </p:sp>
        <p:pic>
          <p:nvPicPr>
            <p:cNvPr id="12" name="object 14">
              <a:extLst>
                <a:ext uri="{FF2B5EF4-FFF2-40B4-BE49-F238E27FC236}">
                  <a16:creationId xmlns:a16="http://schemas.microsoft.com/office/drawing/2014/main" id="{7808ACF4-29B9-0025-7E8B-3B3A39D0C33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9735" y="2407800"/>
              <a:ext cx="68315" cy="118348"/>
            </a:xfrm>
            <a:prstGeom prst="rect">
              <a:avLst/>
            </a:prstGeom>
          </p:spPr>
        </p:pic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4327251E-B9C4-5D73-0537-7B614F5CE0DA}"/>
                </a:ext>
              </a:extLst>
            </p:cNvPr>
            <p:cNvSpPr txBox="1"/>
            <p:nvPr/>
          </p:nvSpPr>
          <p:spPr>
            <a:xfrm>
              <a:off x="870743" y="2350833"/>
              <a:ext cx="3641725" cy="630942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sz="1450" spc="-70" dirty="0">
                  <a:latin typeface="Montserrat"/>
                  <a:cs typeface="Montserrat"/>
                </a:rPr>
                <a:t>Notes:</a:t>
              </a:r>
              <a:r>
                <a:rPr sz="1450" spc="-60" dirty="0">
                  <a:latin typeface="Montserrat"/>
                  <a:cs typeface="Montserrat"/>
                </a:rPr>
                <a:t> </a:t>
              </a:r>
              <a:r>
                <a:rPr sz="1450" spc="-50" dirty="0">
                  <a:latin typeface="Montserrat"/>
                  <a:cs typeface="Montserrat"/>
                </a:rPr>
                <a:t>E2,</a:t>
              </a:r>
              <a:r>
                <a:rPr sz="1450" spc="-45" dirty="0">
                  <a:latin typeface="Montserrat"/>
                  <a:cs typeface="Montserrat"/>
                </a:rPr>
                <a:t> F2,</a:t>
              </a:r>
              <a:r>
                <a:rPr sz="1450" spc="-50" dirty="0">
                  <a:latin typeface="Montserrat"/>
                  <a:cs typeface="Montserrat"/>
                </a:rPr>
                <a:t> </a:t>
              </a:r>
              <a:r>
                <a:rPr sz="1450" spc="-25" dirty="0">
                  <a:latin typeface="Montserrat"/>
                  <a:cs typeface="Montserrat"/>
                </a:rPr>
                <a:t>F</a:t>
              </a:r>
              <a:r>
                <a:rPr sz="1350" spc="-25" dirty="0">
                  <a:latin typeface="DejaVu Sans"/>
                  <a:cs typeface="DejaVu Sans"/>
                </a:rPr>
                <a:t>♯</a:t>
              </a:r>
              <a:r>
                <a:rPr sz="1450" spc="-25" dirty="0">
                  <a:latin typeface="Montserrat"/>
                  <a:cs typeface="Montserrat"/>
                </a:rPr>
                <a:t>2,</a:t>
              </a:r>
              <a:r>
                <a:rPr sz="1450" spc="-40" dirty="0">
                  <a:latin typeface="Montserrat"/>
                  <a:cs typeface="Montserrat"/>
                </a:rPr>
                <a:t> </a:t>
              </a:r>
              <a:r>
                <a:rPr sz="1450" spc="-45" dirty="0">
                  <a:latin typeface="Montserrat"/>
                  <a:cs typeface="Montserrat"/>
                </a:rPr>
                <a:t>G2,</a:t>
              </a:r>
              <a:r>
                <a:rPr sz="1450" spc="-40" dirty="0">
                  <a:latin typeface="Montserrat"/>
                  <a:cs typeface="Montserrat"/>
                </a:rPr>
                <a:t> </a:t>
              </a:r>
              <a:r>
                <a:rPr sz="1450" spc="-30" dirty="0">
                  <a:latin typeface="Montserrat"/>
                  <a:cs typeface="Montserrat"/>
                </a:rPr>
                <a:t>G</a:t>
              </a:r>
              <a:r>
                <a:rPr sz="1350" spc="-30" dirty="0">
                  <a:latin typeface="DejaVu Sans"/>
                  <a:cs typeface="DejaVu Sans"/>
                </a:rPr>
                <a:t>♯</a:t>
              </a:r>
              <a:r>
                <a:rPr sz="1450" spc="-30" dirty="0">
                  <a:latin typeface="Montserrat"/>
                  <a:cs typeface="Montserrat"/>
                </a:rPr>
                <a:t>2,</a:t>
              </a:r>
              <a:r>
                <a:rPr sz="1450" spc="-40" dirty="0">
                  <a:latin typeface="Montserrat"/>
                  <a:cs typeface="Montserrat"/>
                </a:rPr>
                <a:t> </a:t>
              </a:r>
              <a:r>
                <a:rPr sz="1450" spc="-45" dirty="0">
                  <a:latin typeface="Montserrat"/>
                  <a:cs typeface="Montserrat"/>
                </a:rPr>
                <a:t>A2,</a:t>
              </a:r>
              <a:r>
                <a:rPr sz="1450" spc="-40" dirty="0">
                  <a:latin typeface="Montserrat"/>
                  <a:cs typeface="Montserrat"/>
                </a:rPr>
                <a:t> </a:t>
              </a:r>
              <a:r>
                <a:rPr sz="1450" spc="-30" dirty="0">
                  <a:latin typeface="Montserrat"/>
                  <a:cs typeface="Montserrat"/>
                </a:rPr>
                <a:t>A</a:t>
              </a:r>
              <a:r>
                <a:rPr sz="1350" spc="-30" dirty="0">
                  <a:latin typeface="DejaVu Sans"/>
                  <a:cs typeface="DejaVu Sans"/>
                </a:rPr>
                <a:t>♯</a:t>
              </a:r>
              <a:r>
                <a:rPr sz="1450" spc="-30" dirty="0">
                  <a:latin typeface="Montserrat"/>
                  <a:cs typeface="Montserrat"/>
                </a:rPr>
                <a:t>2,</a:t>
              </a:r>
              <a:r>
                <a:rPr sz="1450" spc="-40" dirty="0">
                  <a:latin typeface="Montserrat"/>
                  <a:cs typeface="Montserrat"/>
                </a:rPr>
                <a:t> </a:t>
              </a:r>
              <a:r>
                <a:rPr sz="1450" spc="-25" dirty="0">
                  <a:latin typeface="Montserrat"/>
                  <a:cs typeface="Montserrat"/>
                </a:rPr>
                <a:t>B2</a:t>
              </a:r>
              <a:endParaRPr sz="1450" dirty="0">
                <a:latin typeface="Montserrat"/>
                <a:cs typeface="Montserrat"/>
              </a:endParaRPr>
            </a:p>
            <a:p>
              <a:pPr marL="12700">
                <a:lnSpc>
                  <a:spcPct val="100000"/>
                </a:lnSpc>
                <a:spcBef>
                  <a:spcPts val="1260"/>
                </a:spcBef>
              </a:pPr>
              <a:r>
                <a:rPr sz="1450" spc="-70" dirty="0">
                  <a:latin typeface="Montserrat"/>
                  <a:cs typeface="Montserrat"/>
                </a:rPr>
                <a:t>Recorded</a:t>
              </a:r>
              <a:r>
                <a:rPr sz="1450" spc="-10" dirty="0">
                  <a:latin typeface="Montserrat"/>
                  <a:cs typeface="Montserrat"/>
                </a:rPr>
                <a:t> </a:t>
              </a:r>
              <a:r>
                <a:rPr sz="1450" spc="-50" dirty="0">
                  <a:latin typeface="Montserrat"/>
                  <a:cs typeface="Montserrat"/>
                </a:rPr>
                <a:t>via</a:t>
              </a:r>
              <a:r>
                <a:rPr sz="1450" spc="-10" dirty="0">
                  <a:latin typeface="Montserrat"/>
                  <a:cs typeface="Montserrat"/>
                </a:rPr>
                <a:t> </a:t>
              </a:r>
              <a:r>
                <a:rPr sz="1450" spc="-85" dirty="0">
                  <a:latin typeface="Montserrat"/>
                  <a:cs typeface="Montserrat"/>
                </a:rPr>
                <a:t>Samsung</a:t>
              </a:r>
              <a:r>
                <a:rPr sz="1450" spc="-10" dirty="0">
                  <a:latin typeface="Montserrat"/>
                  <a:cs typeface="Montserrat"/>
                </a:rPr>
                <a:t> </a:t>
              </a:r>
              <a:r>
                <a:rPr sz="1450" spc="-75" dirty="0">
                  <a:latin typeface="Montserrat"/>
                  <a:cs typeface="Montserrat"/>
                </a:rPr>
                <a:t>Galaxy</a:t>
              </a:r>
              <a:r>
                <a:rPr sz="1450" spc="-10" dirty="0">
                  <a:latin typeface="Montserrat"/>
                  <a:cs typeface="Montserrat"/>
                </a:rPr>
                <a:t> </a:t>
              </a:r>
              <a:r>
                <a:rPr sz="1450" spc="-80" dirty="0">
                  <a:latin typeface="Montserrat"/>
                  <a:cs typeface="Montserrat"/>
                </a:rPr>
                <a:t>A54</a:t>
              </a:r>
              <a:r>
                <a:rPr sz="1450" spc="-35" dirty="0">
                  <a:latin typeface="Montserrat"/>
                  <a:cs typeface="Montserrat"/>
                </a:rPr>
                <a:t> </a:t>
              </a:r>
              <a:endParaRPr sz="1450" dirty="0">
                <a:latin typeface="Montserrat"/>
                <a:cs typeface="Montserrat"/>
              </a:endParaRPr>
            </a:p>
          </p:txBody>
        </p:sp>
        <p:pic>
          <p:nvPicPr>
            <p:cNvPr id="14" name="object 16">
              <a:extLst>
                <a:ext uri="{FF2B5EF4-FFF2-40B4-BE49-F238E27FC236}">
                  <a16:creationId xmlns:a16="http://schemas.microsoft.com/office/drawing/2014/main" id="{CE4A5A7B-74D2-5904-1B2C-46169A5E963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9735" y="2788800"/>
              <a:ext cx="68315" cy="118348"/>
            </a:xfrm>
            <a:prstGeom prst="rect">
              <a:avLst/>
            </a:prstGeom>
          </p:spPr>
        </p:pic>
        <p:pic>
          <p:nvPicPr>
            <p:cNvPr id="15" name="object 17">
              <a:extLst>
                <a:ext uri="{FF2B5EF4-FFF2-40B4-BE49-F238E27FC236}">
                  <a16:creationId xmlns:a16="http://schemas.microsoft.com/office/drawing/2014/main" id="{D5A8FF5E-F5C9-7956-CE70-8CB7C0B6638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9735" y="3169800"/>
              <a:ext cx="68315" cy="118348"/>
            </a:xfrm>
            <a:prstGeom prst="rect">
              <a:avLst/>
            </a:prstGeom>
          </p:spPr>
        </p:pic>
        <p:sp>
          <p:nvSpPr>
            <p:cNvPr id="16" name="object 18">
              <a:extLst>
                <a:ext uri="{FF2B5EF4-FFF2-40B4-BE49-F238E27FC236}">
                  <a16:creationId xmlns:a16="http://schemas.microsoft.com/office/drawing/2014/main" id="{5B96F0EC-DC21-6423-5971-F56CB2B06D71}"/>
                </a:ext>
              </a:extLst>
            </p:cNvPr>
            <p:cNvSpPr txBox="1"/>
            <p:nvPr/>
          </p:nvSpPr>
          <p:spPr>
            <a:xfrm>
              <a:off x="870743" y="3112833"/>
              <a:ext cx="3120390" cy="241092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sz="1450" spc="-65" dirty="0">
                  <a:latin typeface="Montserrat"/>
                  <a:cs typeface="Montserrat"/>
                </a:rPr>
                <a:t>Input</a:t>
              </a:r>
              <a:r>
                <a:rPr sz="1450" spc="-5" dirty="0">
                  <a:latin typeface="Montserrat"/>
                  <a:cs typeface="Montserrat"/>
                </a:rPr>
                <a:t> </a:t>
              </a:r>
              <a:r>
                <a:rPr sz="1450" spc="-70" dirty="0">
                  <a:latin typeface="Montserrat"/>
                  <a:cs typeface="Montserrat"/>
                </a:rPr>
                <a:t>shape:</a:t>
              </a:r>
              <a:r>
                <a:rPr sz="1450" spc="-35" dirty="0">
                  <a:latin typeface="Montserrat"/>
                  <a:cs typeface="Montserrat"/>
                </a:rPr>
                <a:t> </a:t>
              </a:r>
              <a:r>
                <a:rPr sz="1450" spc="-65" dirty="0">
                  <a:latin typeface="Montserrat"/>
                  <a:cs typeface="Montserrat"/>
                </a:rPr>
                <a:t>80×2</a:t>
              </a:r>
              <a:r>
                <a:rPr sz="1450" spc="-10" dirty="0">
                  <a:latin typeface="Montserrat"/>
                  <a:cs typeface="Montserrat"/>
                </a:rPr>
                <a:t> </a:t>
              </a:r>
              <a:r>
                <a:rPr sz="1450" spc="-70" dirty="0">
                  <a:latin typeface="Montserrat"/>
                  <a:cs typeface="Montserrat"/>
                </a:rPr>
                <a:t>Mel</a:t>
              </a:r>
              <a:r>
                <a:rPr sz="1450" spc="-5" dirty="0">
                  <a:latin typeface="Montserrat"/>
                  <a:cs typeface="Montserrat"/>
                </a:rPr>
                <a:t> </a:t>
              </a:r>
              <a:r>
                <a:rPr sz="1450" spc="-60" dirty="0">
                  <a:latin typeface="Montserrat"/>
                  <a:cs typeface="Montserrat"/>
                </a:rPr>
                <a:t>spectrogram</a:t>
              </a:r>
              <a:endParaRPr sz="1450" dirty="0">
                <a:latin typeface="Montserrat"/>
                <a:cs typeface="Montserrat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DC384C7-2EF0-B505-5580-EF00E895C78D}"/>
              </a:ext>
            </a:extLst>
          </p:cNvPr>
          <p:cNvGrpSpPr/>
          <p:nvPr/>
        </p:nvGrpSpPr>
        <p:grpSpPr>
          <a:xfrm>
            <a:off x="5462491" y="2946866"/>
            <a:ext cx="4055269" cy="2324100"/>
            <a:chOff x="457199" y="1295677"/>
            <a:chExt cx="4055269" cy="2324100"/>
          </a:xfrm>
        </p:grpSpPr>
        <p:sp>
          <p:nvSpPr>
            <p:cNvPr id="81" name="object 5">
              <a:extLst>
                <a:ext uri="{FF2B5EF4-FFF2-40B4-BE49-F238E27FC236}">
                  <a16:creationId xmlns:a16="http://schemas.microsoft.com/office/drawing/2014/main" id="{789B2CA4-8709-9A9D-1F29-1A0E17AA109B}"/>
                </a:ext>
              </a:extLst>
            </p:cNvPr>
            <p:cNvSpPr/>
            <p:nvPr/>
          </p:nvSpPr>
          <p:spPr>
            <a:xfrm>
              <a:off x="457199" y="1295677"/>
              <a:ext cx="70485" cy="2324100"/>
            </a:xfrm>
            <a:custGeom>
              <a:avLst/>
              <a:gdLst/>
              <a:ahLst/>
              <a:cxnLst/>
              <a:rect l="l" t="t" r="r" b="b"/>
              <a:pathLst>
                <a:path w="70484" h="2324100">
                  <a:moveTo>
                    <a:pt x="70450" y="2323544"/>
                  </a:moveTo>
                  <a:lnTo>
                    <a:pt x="33857" y="2310991"/>
                  </a:lnTo>
                  <a:lnTo>
                    <a:pt x="5800" y="2276782"/>
                  </a:lnTo>
                  <a:lnTo>
                    <a:pt x="0" y="22476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2247622"/>
                  </a:lnTo>
                  <a:lnTo>
                    <a:pt x="44515" y="2289963"/>
                  </a:lnTo>
                  <a:lnTo>
                    <a:pt x="66287" y="2321888"/>
                  </a:lnTo>
                  <a:lnTo>
                    <a:pt x="70450" y="2323544"/>
                  </a:lnTo>
                  <a:close/>
                </a:path>
              </a:pathLst>
            </a:custGeom>
            <a:solidFill>
              <a:srgbClr val="FF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11">
              <a:extLst>
                <a:ext uri="{FF2B5EF4-FFF2-40B4-BE49-F238E27FC236}">
                  <a16:creationId xmlns:a16="http://schemas.microsoft.com/office/drawing/2014/main" id="{FD72CCF4-1EEF-FF19-56C0-7436CDFFD8D7}"/>
                </a:ext>
              </a:extLst>
            </p:cNvPr>
            <p:cNvSpPr txBox="1"/>
            <p:nvPr/>
          </p:nvSpPr>
          <p:spPr>
            <a:xfrm>
              <a:off x="1025525" y="1479737"/>
              <a:ext cx="2454433" cy="32765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lang="en-US" sz="2050" b="1" spc="-150" dirty="0">
                  <a:latin typeface="Montserrat SemiBold"/>
                  <a:cs typeface="Montserrat SemiBold"/>
                </a:rPr>
                <a:t>Preprocessing</a:t>
              </a:r>
              <a:endParaRPr sz="2050" dirty="0">
                <a:latin typeface="Montserrat SemiBold"/>
                <a:cs typeface="Montserrat SemiBold"/>
              </a:endParaRPr>
            </a:p>
          </p:txBody>
        </p:sp>
        <p:pic>
          <p:nvPicPr>
            <p:cNvPr id="84" name="object 12">
              <a:extLst>
                <a:ext uri="{FF2B5EF4-FFF2-40B4-BE49-F238E27FC236}">
                  <a16:creationId xmlns:a16="http://schemas.microsoft.com/office/drawing/2014/main" id="{1970AAB7-AF78-379E-32FB-424B3071D85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9735" y="2026800"/>
              <a:ext cx="68315" cy="118348"/>
            </a:xfrm>
            <a:prstGeom prst="rect">
              <a:avLst/>
            </a:prstGeom>
          </p:spPr>
        </p:pic>
        <p:sp>
          <p:nvSpPr>
            <p:cNvPr id="85" name="object 13">
              <a:extLst>
                <a:ext uri="{FF2B5EF4-FFF2-40B4-BE49-F238E27FC236}">
                  <a16:creationId xmlns:a16="http://schemas.microsoft.com/office/drawing/2014/main" id="{4751094B-DBB9-99AA-F57A-B74D2012B1A9}"/>
                </a:ext>
              </a:extLst>
            </p:cNvPr>
            <p:cNvSpPr txBox="1"/>
            <p:nvPr/>
          </p:nvSpPr>
          <p:spPr>
            <a:xfrm>
              <a:off x="870743" y="1969833"/>
              <a:ext cx="3012742" cy="264175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lang="en-US" sz="1600" dirty="0">
                  <a:latin typeface="Montserrat" panose="00000500000000000000" pitchFamily="2" charset="0"/>
                </a:rPr>
                <a:t>1024-sample frames (64ms) </a:t>
              </a:r>
              <a:endParaRPr sz="1450" dirty="0">
                <a:latin typeface="Montserrat" panose="00000500000000000000" pitchFamily="2" charset="0"/>
                <a:cs typeface="Montserrat"/>
              </a:endParaRPr>
            </a:p>
          </p:txBody>
        </p:sp>
        <p:pic>
          <p:nvPicPr>
            <p:cNvPr id="86" name="object 14">
              <a:extLst>
                <a:ext uri="{FF2B5EF4-FFF2-40B4-BE49-F238E27FC236}">
                  <a16:creationId xmlns:a16="http://schemas.microsoft.com/office/drawing/2014/main" id="{8F823277-F0F9-93D4-29F3-5F0270BE8E6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9735" y="2407800"/>
              <a:ext cx="68315" cy="118348"/>
            </a:xfrm>
            <a:prstGeom prst="rect">
              <a:avLst/>
            </a:prstGeom>
          </p:spPr>
        </p:pic>
        <p:sp>
          <p:nvSpPr>
            <p:cNvPr id="87" name="object 15">
              <a:extLst>
                <a:ext uri="{FF2B5EF4-FFF2-40B4-BE49-F238E27FC236}">
                  <a16:creationId xmlns:a16="http://schemas.microsoft.com/office/drawing/2014/main" id="{CB51AC07-0898-4189-E82A-51D04DEBFFB3}"/>
                </a:ext>
              </a:extLst>
            </p:cNvPr>
            <p:cNvSpPr txBox="1"/>
            <p:nvPr/>
          </p:nvSpPr>
          <p:spPr>
            <a:xfrm>
              <a:off x="870743" y="2350833"/>
              <a:ext cx="3641725" cy="264175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lang="en-US" sz="1600" dirty="0">
                  <a:latin typeface="Montserrat" panose="00000500000000000000" pitchFamily="2" charset="0"/>
                </a:rPr>
                <a:t>FFT (frequency domain)</a:t>
              </a:r>
              <a:endParaRPr sz="1450" dirty="0">
                <a:latin typeface="Montserrat" panose="00000500000000000000" pitchFamily="2" charset="0"/>
                <a:cs typeface="Montserrat"/>
              </a:endParaRPr>
            </a:p>
          </p:txBody>
        </p:sp>
        <p:pic>
          <p:nvPicPr>
            <p:cNvPr id="88" name="object 16">
              <a:extLst>
                <a:ext uri="{FF2B5EF4-FFF2-40B4-BE49-F238E27FC236}">
                  <a16:creationId xmlns:a16="http://schemas.microsoft.com/office/drawing/2014/main" id="{4BB3DF38-5C8D-A26A-4CF6-4210920894E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9735" y="2788800"/>
              <a:ext cx="68315" cy="118348"/>
            </a:xfrm>
            <a:prstGeom prst="rect">
              <a:avLst/>
            </a:prstGeom>
          </p:spPr>
        </p:pic>
        <p:pic>
          <p:nvPicPr>
            <p:cNvPr id="89" name="object 17">
              <a:extLst>
                <a:ext uri="{FF2B5EF4-FFF2-40B4-BE49-F238E27FC236}">
                  <a16:creationId xmlns:a16="http://schemas.microsoft.com/office/drawing/2014/main" id="{9F314417-C690-D9EA-B959-2DD473DDB06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9735" y="3169800"/>
              <a:ext cx="68315" cy="118348"/>
            </a:xfrm>
            <a:prstGeom prst="rect">
              <a:avLst/>
            </a:prstGeom>
          </p:spPr>
        </p:pic>
        <p:sp>
          <p:nvSpPr>
            <p:cNvPr id="90" name="object 18">
              <a:extLst>
                <a:ext uri="{FF2B5EF4-FFF2-40B4-BE49-F238E27FC236}">
                  <a16:creationId xmlns:a16="http://schemas.microsoft.com/office/drawing/2014/main" id="{6043D353-3534-DD79-4248-9DC682246E45}"/>
                </a:ext>
              </a:extLst>
            </p:cNvPr>
            <p:cNvSpPr txBox="1"/>
            <p:nvPr/>
          </p:nvSpPr>
          <p:spPr>
            <a:xfrm>
              <a:off x="870743" y="3112833"/>
              <a:ext cx="3120390" cy="241092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lang="en-US" sz="1450" spc="-65" dirty="0">
                  <a:latin typeface="Montserrat"/>
                  <a:cs typeface="Montserrat"/>
                </a:rPr>
                <a:t>Final</a:t>
              </a:r>
              <a:r>
                <a:rPr sz="1450" spc="-5" dirty="0">
                  <a:latin typeface="Montserrat"/>
                  <a:cs typeface="Montserrat"/>
                </a:rPr>
                <a:t> </a:t>
              </a:r>
              <a:r>
                <a:rPr sz="1450" spc="-70" dirty="0">
                  <a:latin typeface="Montserrat"/>
                  <a:cs typeface="Montserrat"/>
                </a:rPr>
                <a:t>shape:</a:t>
              </a:r>
              <a:r>
                <a:rPr sz="1450" spc="-35" dirty="0">
                  <a:latin typeface="Montserrat"/>
                  <a:cs typeface="Montserrat"/>
                </a:rPr>
                <a:t> </a:t>
              </a:r>
              <a:r>
                <a:rPr sz="1450" spc="-65" dirty="0">
                  <a:latin typeface="Montserrat"/>
                  <a:cs typeface="Montserrat"/>
                </a:rPr>
                <a:t>80×2</a:t>
              </a:r>
              <a:r>
                <a:rPr sz="1450" spc="-10" dirty="0">
                  <a:latin typeface="Montserrat"/>
                  <a:cs typeface="Montserrat"/>
                </a:rPr>
                <a:t> </a:t>
              </a:r>
              <a:r>
                <a:rPr sz="1450" spc="-70" dirty="0">
                  <a:latin typeface="Montserrat"/>
                  <a:cs typeface="Montserrat"/>
                </a:rPr>
                <a:t>Mel</a:t>
              </a:r>
              <a:r>
                <a:rPr sz="1450" spc="-5" dirty="0">
                  <a:latin typeface="Montserrat"/>
                  <a:cs typeface="Montserrat"/>
                </a:rPr>
                <a:t> </a:t>
              </a:r>
              <a:r>
                <a:rPr sz="1450" spc="-60" dirty="0">
                  <a:latin typeface="Montserrat"/>
                  <a:cs typeface="Montserrat"/>
                </a:rPr>
                <a:t>spectrogram</a:t>
              </a:r>
              <a:endParaRPr sz="1450" dirty="0">
                <a:latin typeface="Montserrat"/>
                <a:cs typeface="Montserrat"/>
              </a:endParaRPr>
            </a:p>
          </p:txBody>
        </p:sp>
      </p:grpSp>
      <p:pic>
        <p:nvPicPr>
          <p:cNvPr id="20" name="Graphic 19" descr="Database outline">
            <a:extLst>
              <a:ext uri="{FF2B5EF4-FFF2-40B4-BE49-F238E27FC236}">
                <a16:creationId xmlns:a16="http://schemas.microsoft.com/office/drawing/2014/main" id="{BA88A423-F818-A245-5975-75097E0D18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8212" y="2945479"/>
            <a:ext cx="520152" cy="520152"/>
          </a:xfrm>
          <a:prstGeom prst="rect">
            <a:avLst/>
          </a:prstGeom>
        </p:spPr>
      </p:pic>
      <p:pic>
        <p:nvPicPr>
          <p:cNvPr id="23" name="Graphic 22" descr="Gears outline">
            <a:extLst>
              <a:ext uri="{FF2B5EF4-FFF2-40B4-BE49-F238E27FC236}">
                <a16:creationId xmlns:a16="http://schemas.microsoft.com/office/drawing/2014/main" id="{BCFAA222-B944-761D-5E35-CC1E0B79D7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71322" y="3067814"/>
            <a:ext cx="524678" cy="52467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DCAB00C-362E-47B4-28C5-949606C68270}"/>
              </a:ext>
            </a:extLst>
          </p:cNvPr>
          <p:cNvSpPr txBox="1"/>
          <p:nvPr/>
        </p:nvSpPr>
        <p:spPr>
          <a:xfrm>
            <a:off x="5772076" y="4309007"/>
            <a:ext cx="3798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Montserrat" panose="00000500000000000000" pitchFamily="2" charset="0"/>
              </a:rPr>
              <a:t>Mel </a:t>
            </a:r>
            <a:r>
              <a:rPr lang="en-US" sz="1600" dirty="0" err="1">
                <a:latin typeface="Montserrat" panose="00000500000000000000" pitchFamily="2" charset="0"/>
              </a:rPr>
              <a:t>filterbank</a:t>
            </a:r>
            <a:r>
              <a:rPr lang="en-US" sz="1600" dirty="0">
                <a:latin typeface="Montserrat" panose="00000500000000000000" pitchFamily="2" charset="0"/>
              </a:rPr>
              <a:t> (Mel spectrogram)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00120-055F-BACB-5811-D42D79A47D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6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625FB-4DA1-E6E0-9020-60AEA4E20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9FEB47F-F527-708C-D312-D5D4E24C2F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1108" y="685006"/>
            <a:ext cx="8489951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lang="en-US" sz="3600" spc="-100" dirty="0">
                <a:solidFill>
                  <a:schemeClr val="accent6"/>
                </a:solidFill>
              </a:rPr>
              <a:t>Mobile</a:t>
            </a:r>
            <a:r>
              <a:rPr lang="en-US" sz="3600" spc="-20" dirty="0">
                <a:solidFill>
                  <a:schemeClr val="accent6"/>
                </a:solidFill>
              </a:rPr>
              <a:t> </a:t>
            </a:r>
            <a:r>
              <a:rPr lang="en-US" sz="3600" spc="-100" dirty="0">
                <a:solidFill>
                  <a:schemeClr val="accent6"/>
                </a:solidFill>
              </a:rPr>
              <a:t>App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839E481-7F1E-6462-D7D1-228FCA853B23}"/>
              </a:ext>
            </a:extLst>
          </p:cNvPr>
          <p:cNvSpPr txBox="1"/>
          <p:nvPr/>
        </p:nvSpPr>
        <p:spPr>
          <a:xfrm>
            <a:off x="10689232" y="67889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grpSp>
        <p:nvGrpSpPr>
          <p:cNvPr id="17" name="object 11">
            <a:extLst>
              <a:ext uri="{FF2B5EF4-FFF2-40B4-BE49-F238E27FC236}">
                <a16:creationId xmlns:a16="http://schemas.microsoft.com/office/drawing/2014/main" id="{AE565EDC-4096-4835-E66B-9C027B01F2F3}"/>
              </a:ext>
            </a:extLst>
          </p:cNvPr>
          <p:cNvGrpSpPr/>
          <p:nvPr/>
        </p:nvGrpSpPr>
        <p:grpSpPr>
          <a:xfrm>
            <a:off x="909381" y="1915518"/>
            <a:ext cx="10363200" cy="685800"/>
            <a:chOff x="914399" y="4610099"/>
            <a:chExt cx="10363200" cy="1066800"/>
          </a:xfrm>
        </p:grpSpPr>
        <p:sp>
          <p:nvSpPr>
            <p:cNvPr id="18" name="object 12">
              <a:extLst>
                <a:ext uri="{FF2B5EF4-FFF2-40B4-BE49-F238E27FC236}">
                  <a16:creationId xmlns:a16="http://schemas.microsoft.com/office/drawing/2014/main" id="{564846CE-7DE7-6BBE-5E1A-F320174CDEFF}"/>
                </a:ext>
              </a:extLst>
            </p:cNvPr>
            <p:cNvSpPr/>
            <p:nvPr/>
          </p:nvSpPr>
          <p:spPr>
            <a:xfrm>
              <a:off x="933449" y="4610099"/>
              <a:ext cx="10344150" cy="1066800"/>
            </a:xfrm>
            <a:custGeom>
              <a:avLst/>
              <a:gdLst/>
              <a:ahLst/>
              <a:cxnLst/>
              <a:rect l="l" t="t" r="r" b="b"/>
              <a:pathLst>
                <a:path w="10344150" h="1066800">
                  <a:moveTo>
                    <a:pt x="10272952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10272952" y="0"/>
                  </a:lnTo>
                  <a:lnTo>
                    <a:pt x="10277906" y="488"/>
                  </a:lnTo>
                  <a:lnTo>
                    <a:pt x="10314440" y="15621"/>
                  </a:lnTo>
                  <a:lnTo>
                    <a:pt x="10340262" y="51661"/>
                  </a:lnTo>
                  <a:lnTo>
                    <a:pt x="10344148" y="71196"/>
                  </a:lnTo>
                  <a:lnTo>
                    <a:pt x="10344148" y="995603"/>
                  </a:lnTo>
                  <a:lnTo>
                    <a:pt x="10328525" y="1037094"/>
                  </a:lnTo>
                  <a:lnTo>
                    <a:pt x="10292486" y="1062913"/>
                  </a:lnTo>
                  <a:lnTo>
                    <a:pt x="10272952" y="1066799"/>
                  </a:lnTo>
                  <a:close/>
                </a:path>
              </a:pathLst>
            </a:custGeom>
            <a:solidFill>
              <a:srgbClr val="FF6A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3">
              <a:extLst>
                <a:ext uri="{FF2B5EF4-FFF2-40B4-BE49-F238E27FC236}">
                  <a16:creationId xmlns:a16="http://schemas.microsoft.com/office/drawing/2014/main" id="{C18889CA-57EA-7088-7BFA-76FC0BD12818}"/>
                </a:ext>
              </a:extLst>
            </p:cNvPr>
            <p:cNvSpPr/>
            <p:nvPr/>
          </p:nvSpPr>
          <p:spPr>
            <a:xfrm>
              <a:off x="914399" y="4610099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099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66799"/>
                  </a:lnTo>
                  <a:close/>
                </a:path>
              </a:pathLst>
            </a:custGeom>
            <a:solidFill>
              <a:srgbClr val="FF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8B29D89-A2AF-5CDD-C061-5F9082CD66D4}"/>
              </a:ext>
            </a:extLst>
          </p:cNvPr>
          <p:cNvSpPr txBox="1"/>
          <p:nvPr/>
        </p:nvSpPr>
        <p:spPr>
          <a:xfrm>
            <a:off x="1727834" y="1985532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Low Note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A23443-FAEF-DC48-4EAB-CE50A30C8C22}"/>
              </a:ext>
            </a:extLst>
          </p:cNvPr>
          <p:cNvSpPr txBox="1"/>
          <p:nvPr/>
        </p:nvSpPr>
        <p:spPr>
          <a:xfrm>
            <a:off x="1143000" y="1026061"/>
            <a:ext cx="4762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spc="-90" dirty="0">
                <a:solidFill>
                  <a:srgbClr val="333333"/>
                </a:solidFill>
                <a:latin typeface="Montserrat Medium"/>
                <a:cs typeface="Montserrat Medium"/>
              </a:rPr>
              <a:t>Real-</a:t>
            </a:r>
            <a:r>
              <a:rPr lang="en-US" b="0" spc="-100" dirty="0">
                <a:solidFill>
                  <a:srgbClr val="333333"/>
                </a:solidFill>
                <a:latin typeface="Montserrat Medium"/>
                <a:cs typeface="Montserrat Medium"/>
              </a:rPr>
              <a:t>time</a:t>
            </a:r>
            <a:r>
              <a:rPr lang="en-US" b="0" spc="1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lang="en-US" b="0" spc="-105" dirty="0">
                <a:solidFill>
                  <a:srgbClr val="333333"/>
                </a:solidFill>
                <a:latin typeface="Montserrat Medium"/>
                <a:cs typeface="Montserrat Medium"/>
              </a:rPr>
              <a:t>Pitch</a:t>
            </a:r>
            <a:r>
              <a:rPr lang="en-US" b="0" spc="15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lang="en-US" b="0" spc="-10" dirty="0">
                <a:solidFill>
                  <a:srgbClr val="333333"/>
                </a:solidFill>
                <a:latin typeface="Montserrat Medium"/>
                <a:cs typeface="Montserrat Medium"/>
              </a:rPr>
              <a:t>Detection System</a:t>
            </a:r>
            <a:endParaRPr lang="en-US" dirty="0">
              <a:latin typeface="Montserrat Medium"/>
              <a:cs typeface="Montserrat Medium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Graphic 5" descr="Processor outline">
            <a:extLst>
              <a:ext uri="{FF2B5EF4-FFF2-40B4-BE49-F238E27FC236}">
                <a16:creationId xmlns:a16="http://schemas.microsoft.com/office/drawing/2014/main" id="{48CF1281-47F1-122A-684A-C1BC81833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855" y="1883686"/>
            <a:ext cx="749463" cy="7494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ABA4C-1D2B-9A56-67B1-B01820825A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E8DAB28-98A9-082E-5582-0AA7EFBCB379}"/>
              </a:ext>
            </a:extLst>
          </p:cNvPr>
          <p:cNvGrpSpPr/>
          <p:nvPr/>
        </p:nvGrpSpPr>
        <p:grpSpPr>
          <a:xfrm>
            <a:off x="909381" y="2664981"/>
            <a:ext cx="9779851" cy="3969847"/>
            <a:chOff x="909381" y="2664981"/>
            <a:chExt cx="9779851" cy="396984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9DEA2C3-9295-2383-F8B2-913D41DAD3B7}"/>
                </a:ext>
              </a:extLst>
            </p:cNvPr>
            <p:cNvGrpSpPr/>
            <p:nvPr/>
          </p:nvGrpSpPr>
          <p:grpSpPr>
            <a:xfrm>
              <a:off x="909381" y="2664981"/>
              <a:ext cx="2291019" cy="2324100"/>
              <a:chOff x="899549" y="2872915"/>
              <a:chExt cx="2291019" cy="232410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7C47FB27-74B9-69C6-86C4-60D7E7030521}"/>
                  </a:ext>
                </a:extLst>
              </p:cNvPr>
              <p:cNvGrpSpPr/>
              <p:nvPr/>
            </p:nvGrpSpPr>
            <p:grpSpPr>
              <a:xfrm>
                <a:off x="899549" y="2872915"/>
                <a:ext cx="2291019" cy="2324100"/>
                <a:chOff x="457199" y="1295677"/>
                <a:chExt cx="2291019" cy="2324100"/>
              </a:xfrm>
            </p:grpSpPr>
            <p:sp>
              <p:nvSpPr>
                <p:cNvPr id="8" name="object 5">
                  <a:extLst>
                    <a:ext uri="{FF2B5EF4-FFF2-40B4-BE49-F238E27FC236}">
                      <a16:creationId xmlns:a16="http://schemas.microsoft.com/office/drawing/2014/main" id="{163EDE0E-DF51-F486-CAD9-8BFFA7A992AE}"/>
                    </a:ext>
                  </a:extLst>
                </p:cNvPr>
                <p:cNvSpPr/>
                <p:nvPr/>
              </p:nvSpPr>
              <p:spPr>
                <a:xfrm>
                  <a:off x="457199" y="1295677"/>
                  <a:ext cx="70485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84" h="2324100">
                      <a:moveTo>
                        <a:pt x="70450" y="2323544"/>
                      </a:moveTo>
                      <a:lnTo>
                        <a:pt x="33857" y="2310991"/>
                      </a:lnTo>
                      <a:lnTo>
                        <a:pt x="5800" y="2276782"/>
                      </a:lnTo>
                      <a:lnTo>
                        <a:pt x="0" y="2247622"/>
                      </a:lnTo>
                      <a:lnTo>
                        <a:pt x="0" y="75922"/>
                      </a:lnTo>
                      <a:lnTo>
                        <a:pt x="12830" y="33579"/>
                      </a:lnTo>
                      <a:lnTo>
                        <a:pt x="47039" y="5522"/>
                      </a:lnTo>
                      <a:lnTo>
                        <a:pt x="70449" y="0"/>
                      </a:lnTo>
                      <a:lnTo>
                        <a:pt x="66287" y="1655"/>
                      </a:lnTo>
                      <a:lnTo>
                        <a:pt x="56951" y="9389"/>
                      </a:lnTo>
                      <a:lnTo>
                        <a:pt x="41000" y="46761"/>
                      </a:lnTo>
                      <a:lnTo>
                        <a:pt x="38100" y="75922"/>
                      </a:lnTo>
                      <a:lnTo>
                        <a:pt x="38100" y="2247622"/>
                      </a:lnTo>
                      <a:lnTo>
                        <a:pt x="44515" y="2289963"/>
                      </a:lnTo>
                      <a:lnTo>
                        <a:pt x="66287" y="2321888"/>
                      </a:lnTo>
                      <a:lnTo>
                        <a:pt x="70450" y="2323544"/>
                      </a:lnTo>
                      <a:close/>
                    </a:path>
                  </a:pathLst>
                </a:custGeom>
                <a:solidFill>
                  <a:srgbClr val="FF79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2" name="object 11">
                  <a:extLst>
                    <a:ext uri="{FF2B5EF4-FFF2-40B4-BE49-F238E27FC236}">
                      <a16:creationId xmlns:a16="http://schemas.microsoft.com/office/drawing/2014/main" id="{770FD8B4-342D-2367-36A9-3C460CA46701}"/>
                    </a:ext>
                  </a:extLst>
                </p:cNvPr>
                <p:cNvSpPr txBox="1"/>
                <p:nvPr/>
              </p:nvSpPr>
              <p:spPr>
                <a:xfrm>
                  <a:off x="1025525" y="1479737"/>
                  <a:ext cx="1722693" cy="327654"/>
                </a:xfrm>
                <a:prstGeom prst="rect">
                  <a:avLst/>
                </a:prstGeom>
              </p:spPr>
              <p:txBody>
                <a:bodyPr vert="horz" wrap="square" lIns="0" tIns="12065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95"/>
                    </a:spcBef>
                  </a:pPr>
                  <a:r>
                    <a:rPr lang="en-US" sz="2050" b="1" spc="-150" dirty="0">
                      <a:latin typeface="Montserrat SemiBold"/>
                      <a:cs typeface="Montserrat SemiBold"/>
                    </a:rPr>
                    <a:t>Architecture</a:t>
                  </a:r>
                  <a:endParaRPr sz="2050" dirty="0">
                    <a:latin typeface="Montserrat SemiBold"/>
                    <a:cs typeface="Montserrat SemiBold"/>
                  </a:endParaRPr>
                </a:p>
              </p:txBody>
            </p:sp>
          </p:grpSp>
          <p:pic>
            <p:nvPicPr>
              <p:cNvPr id="34" name="Graphic 33" descr="Right And Left Brain outline">
                <a:extLst>
                  <a:ext uri="{FF2B5EF4-FFF2-40B4-BE49-F238E27FC236}">
                    <a16:creationId xmlns:a16="http://schemas.microsoft.com/office/drawing/2014/main" id="{56A9DAEA-849D-3929-D58D-4D10543221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44136" y="2957203"/>
                <a:ext cx="533571" cy="533571"/>
              </a:xfrm>
              <a:prstGeom prst="rect">
                <a:avLst/>
              </a:prstGeom>
            </p:spPr>
          </p:pic>
        </p:grpSp>
        <p:pic>
          <p:nvPicPr>
            <p:cNvPr id="36" name="Picture 35" descr="A diagram of a computer code&#10;&#10;AI-generated content may be incorrect.">
              <a:extLst>
                <a:ext uri="{FF2B5EF4-FFF2-40B4-BE49-F238E27FC236}">
                  <a16:creationId xmlns:a16="http://schemas.microsoft.com/office/drawing/2014/main" id="{36E6F880-6000-FD57-9770-46573C915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5691" y="3220757"/>
              <a:ext cx="8183541" cy="3414071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EFCCAC-FD8B-D71A-0B48-268DD7A8EBD0}"/>
                </a:ext>
              </a:extLst>
            </p:cNvPr>
            <p:cNvGrpSpPr/>
            <p:nvPr/>
          </p:nvGrpSpPr>
          <p:grpSpPr>
            <a:xfrm>
              <a:off x="1372252" y="4827276"/>
              <a:ext cx="3115339" cy="1219200"/>
              <a:chOff x="1533524" y="10772774"/>
              <a:chExt cx="3348278" cy="1219200"/>
            </a:xfrm>
          </p:grpSpPr>
          <p:grpSp>
            <p:nvGrpSpPr>
              <p:cNvPr id="43" name="object 22">
                <a:extLst>
                  <a:ext uri="{FF2B5EF4-FFF2-40B4-BE49-F238E27FC236}">
                    <a16:creationId xmlns:a16="http://schemas.microsoft.com/office/drawing/2014/main" id="{4AB9B4E3-F27F-F3E5-5077-407ADC2FFC2A}"/>
                  </a:ext>
                </a:extLst>
              </p:cNvPr>
              <p:cNvGrpSpPr/>
              <p:nvPr/>
            </p:nvGrpSpPr>
            <p:grpSpPr>
              <a:xfrm>
                <a:off x="1533524" y="10772774"/>
                <a:ext cx="3348278" cy="1219200"/>
                <a:chOff x="1533524" y="10772774"/>
                <a:chExt cx="3348278" cy="1219200"/>
              </a:xfrm>
            </p:grpSpPr>
            <p:sp>
              <p:nvSpPr>
                <p:cNvPr id="49" name="object 23">
                  <a:extLst>
                    <a:ext uri="{FF2B5EF4-FFF2-40B4-BE49-F238E27FC236}">
                      <a16:creationId xmlns:a16="http://schemas.microsoft.com/office/drawing/2014/main" id="{7772AED4-2059-253F-F639-630014F0B9BA}"/>
                    </a:ext>
                  </a:extLst>
                </p:cNvPr>
                <p:cNvSpPr/>
                <p:nvPr/>
              </p:nvSpPr>
              <p:spPr>
                <a:xfrm>
                  <a:off x="1533524" y="10772774"/>
                  <a:ext cx="3348278" cy="1219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24950" h="1219200">
                      <a:moveTo>
                        <a:pt x="0" y="1152524"/>
                      </a:moveTo>
                      <a:lnTo>
                        <a:pt x="0" y="66674"/>
                      </a:lnTo>
                      <a:lnTo>
                        <a:pt x="0" y="62297"/>
                      </a:lnTo>
                      <a:lnTo>
                        <a:pt x="427" y="57960"/>
                      </a:lnTo>
                      <a:lnTo>
                        <a:pt x="1281" y="53666"/>
                      </a:lnTo>
                      <a:lnTo>
                        <a:pt x="2135" y="49372"/>
                      </a:lnTo>
                      <a:lnTo>
                        <a:pt x="3399" y="45203"/>
                      </a:lnTo>
                      <a:lnTo>
                        <a:pt x="5075" y="41157"/>
                      </a:lnTo>
                      <a:lnTo>
                        <a:pt x="6750" y="37112"/>
                      </a:lnTo>
                      <a:lnTo>
                        <a:pt x="8804" y="33270"/>
                      </a:lnTo>
                      <a:lnTo>
                        <a:pt x="11236" y="29630"/>
                      </a:lnTo>
                      <a:lnTo>
                        <a:pt x="13668" y="25990"/>
                      </a:lnTo>
                      <a:lnTo>
                        <a:pt x="16432" y="22623"/>
                      </a:lnTo>
                      <a:lnTo>
                        <a:pt x="19528" y="19527"/>
                      </a:lnTo>
                      <a:lnTo>
                        <a:pt x="22624" y="16431"/>
                      </a:lnTo>
                      <a:lnTo>
                        <a:pt x="25992" y="13666"/>
                      </a:lnTo>
                      <a:lnTo>
                        <a:pt x="29632" y="11235"/>
                      </a:lnTo>
                      <a:lnTo>
                        <a:pt x="33272" y="8802"/>
                      </a:lnTo>
                      <a:lnTo>
                        <a:pt x="53667" y="1281"/>
                      </a:lnTo>
                      <a:lnTo>
                        <a:pt x="57960" y="426"/>
                      </a:lnTo>
                      <a:lnTo>
                        <a:pt x="62296" y="0"/>
                      </a:lnTo>
                      <a:lnTo>
                        <a:pt x="66674" y="0"/>
                      </a:lnTo>
                      <a:lnTo>
                        <a:pt x="9058274" y="0"/>
                      </a:lnTo>
                      <a:lnTo>
                        <a:pt x="9062651" y="0"/>
                      </a:lnTo>
                      <a:lnTo>
                        <a:pt x="9066987" y="426"/>
                      </a:lnTo>
                      <a:lnTo>
                        <a:pt x="9071281" y="1281"/>
                      </a:lnTo>
                      <a:lnTo>
                        <a:pt x="9075575" y="2134"/>
                      </a:lnTo>
                      <a:lnTo>
                        <a:pt x="9095316" y="11235"/>
                      </a:lnTo>
                      <a:lnTo>
                        <a:pt x="9098955" y="13666"/>
                      </a:lnTo>
                      <a:lnTo>
                        <a:pt x="9102323" y="16431"/>
                      </a:lnTo>
                      <a:lnTo>
                        <a:pt x="9105420" y="19527"/>
                      </a:lnTo>
                      <a:lnTo>
                        <a:pt x="9108516" y="22623"/>
                      </a:lnTo>
                      <a:lnTo>
                        <a:pt x="9111280" y="25990"/>
                      </a:lnTo>
                      <a:lnTo>
                        <a:pt x="9113711" y="29630"/>
                      </a:lnTo>
                      <a:lnTo>
                        <a:pt x="9116142" y="33270"/>
                      </a:lnTo>
                      <a:lnTo>
                        <a:pt x="9118196" y="37112"/>
                      </a:lnTo>
                      <a:lnTo>
                        <a:pt x="9119871" y="41157"/>
                      </a:lnTo>
                      <a:lnTo>
                        <a:pt x="9121548" y="45203"/>
                      </a:lnTo>
                      <a:lnTo>
                        <a:pt x="9122813" y="49372"/>
                      </a:lnTo>
                      <a:lnTo>
                        <a:pt x="9123666" y="53666"/>
                      </a:lnTo>
                      <a:lnTo>
                        <a:pt x="9124521" y="57960"/>
                      </a:lnTo>
                      <a:lnTo>
                        <a:pt x="9124949" y="62297"/>
                      </a:lnTo>
                      <a:lnTo>
                        <a:pt x="9124949" y="66674"/>
                      </a:lnTo>
                      <a:lnTo>
                        <a:pt x="9124949" y="1152524"/>
                      </a:lnTo>
                      <a:lnTo>
                        <a:pt x="9124949" y="1156902"/>
                      </a:lnTo>
                      <a:lnTo>
                        <a:pt x="9124521" y="1161238"/>
                      </a:lnTo>
                      <a:lnTo>
                        <a:pt x="9123666" y="1165532"/>
                      </a:lnTo>
                      <a:lnTo>
                        <a:pt x="9122813" y="1169826"/>
                      </a:lnTo>
                      <a:lnTo>
                        <a:pt x="9121548" y="1173994"/>
                      </a:lnTo>
                      <a:lnTo>
                        <a:pt x="9119871" y="1178039"/>
                      </a:lnTo>
                      <a:lnTo>
                        <a:pt x="9118196" y="1182084"/>
                      </a:lnTo>
                      <a:lnTo>
                        <a:pt x="9091675" y="1210394"/>
                      </a:lnTo>
                      <a:lnTo>
                        <a:pt x="9058274" y="1219199"/>
                      </a:lnTo>
                      <a:lnTo>
                        <a:pt x="66674" y="1219199"/>
                      </a:lnTo>
                      <a:lnTo>
                        <a:pt x="29632" y="1207963"/>
                      </a:lnTo>
                      <a:lnTo>
                        <a:pt x="5075" y="1178039"/>
                      </a:lnTo>
                      <a:lnTo>
                        <a:pt x="3399" y="1173994"/>
                      </a:lnTo>
                      <a:lnTo>
                        <a:pt x="2135" y="1169826"/>
                      </a:lnTo>
                      <a:lnTo>
                        <a:pt x="1281" y="1165532"/>
                      </a:lnTo>
                      <a:lnTo>
                        <a:pt x="427" y="1161238"/>
                      </a:lnTo>
                      <a:lnTo>
                        <a:pt x="0" y="1156902"/>
                      </a:lnTo>
                      <a:lnTo>
                        <a:pt x="0" y="1152524"/>
                      </a:lnTo>
                      <a:close/>
                    </a:path>
                  </a:pathLst>
                </a:custGeom>
                <a:ln w="19049">
                  <a:solidFill>
                    <a:srgbClr val="F29C12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  <p:pic>
              <p:nvPicPr>
                <p:cNvPr id="50" name="object 24">
                  <a:extLst>
                    <a:ext uri="{FF2B5EF4-FFF2-40B4-BE49-F238E27FC236}">
                      <a16:creationId xmlns:a16="http://schemas.microsoft.com/office/drawing/2014/main" id="{7A7AC774-5E85-48A7-3888-F3EDD195BED4}"/>
                    </a:ext>
                  </a:extLst>
                </p:cNvPr>
                <p:cNvPicPr/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1686520" y="10975776"/>
                  <a:ext cx="234408" cy="186853"/>
                </a:xfrm>
                <a:prstGeom prst="rect">
                  <a:avLst/>
                </a:prstGeom>
              </p:spPr>
            </p:pic>
            <p:sp>
              <p:nvSpPr>
                <p:cNvPr id="51" name="object 25">
                  <a:extLst>
                    <a:ext uri="{FF2B5EF4-FFF2-40B4-BE49-F238E27FC236}">
                      <a16:creationId xmlns:a16="http://schemas.microsoft.com/office/drawing/2014/main" id="{7F35CE6F-8B89-DF8E-E301-DE4816DF27B6}"/>
                    </a:ext>
                  </a:extLst>
                </p:cNvPr>
                <p:cNvSpPr/>
                <p:nvPr/>
              </p:nvSpPr>
              <p:spPr>
                <a:xfrm>
                  <a:off x="1914512" y="11382374"/>
                  <a:ext cx="47625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23850">
                      <a:moveTo>
                        <a:pt x="47625" y="296887"/>
                      </a:moveTo>
                      <a:lnTo>
                        <a:pt x="26974" y="276225"/>
                      </a:lnTo>
                      <a:lnTo>
                        <a:pt x="20662" y="276225"/>
                      </a:lnTo>
                      <a:lnTo>
                        <a:pt x="0" y="296887"/>
                      </a:lnTo>
                      <a:lnTo>
                        <a:pt x="0" y="303199"/>
                      </a:lnTo>
                      <a:lnTo>
                        <a:pt x="20662" y="323850"/>
                      </a:lnTo>
                      <a:lnTo>
                        <a:pt x="26974" y="323850"/>
                      </a:lnTo>
                      <a:lnTo>
                        <a:pt x="47625" y="303199"/>
                      </a:lnTo>
                      <a:lnTo>
                        <a:pt x="47625" y="300037"/>
                      </a:lnTo>
                      <a:lnTo>
                        <a:pt x="47625" y="296887"/>
                      </a:lnTo>
                      <a:close/>
                    </a:path>
                    <a:path w="47625" h="323850">
                      <a:moveTo>
                        <a:pt x="47625" y="20662"/>
                      </a:moveTo>
                      <a:lnTo>
                        <a:pt x="26974" y="0"/>
                      </a:lnTo>
                      <a:lnTo>
                        <a:pt x="20662" y="0"/>
                      </a:lnTo>
                      <a:lnTo>
                        <a:pt x="0" y="20662"/>
                      </a:lnTo>
                      <a:lnTo>
                        <a:pt x="0" y="26974"/>
                      </a:lnTo>
                      <a:lnTo>
                        <a:pt x="20662" y="47625"/>
                      </a:lnTo>
                      <a:lnTo>
                        <a:pt x="26974" y="47625"/>
                      </a:lnTo>
                      <a:lnTo>
                        <a:pt x="47625" y="26974"/>
                      </a:lnTo>
                      <a:lnTo>
                        <a:pt x="47625" y="23812"/>
                      </a:lnTo>
                      <a:lnTo>
                        <a:pt x="47625" y="206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44" name="object 35">
                <a:extLst>
                  <a:ext uri="{FF2B5EF4-FFF2-40B4-BE49-F238E27FC236}">
                    <a16:creationId xmlns:a16="http://schemas.microsoft.com/office/drawing/2014/main" id="{7A4C98A1-43F4-6323-EC05-4D7C25B42B46}"/>
                  </a:ext>
                </a:extLst>
              </p:cNvPr>
              <p:cNvSpPr txBox="1"/>
              <p:nvPr/>
            </p:nvSpPr>
            <p:spPr>
              <a:xfrm>
                <a:off x="1987550" y="10931524"/>
                <a:ext cx="2800985" cy="83693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500" b="1" dirty="0">
                    <a:solidFill>
                      <a:srgbClr val="F29C12"/>
                    </a:solidFill>
                    <a:latin typeface="Liberation Sans"/>
                    <a:cs typeface="Liberation Sans"/>
                  </a:rPr>
                  <a:t>Training</a:t>
                </a:r>
                <a:r>
                  <a:rPr sz="1500" b="1" spc="-85" dirty="0">
                    <a:solidFill>
                      <a:srgbClr val="F29C12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500" b="1" spc="-10" dirty="0">
                    <a:solidFill>
                      <a:srgbClr val="F29C12"/>
                    </a:solidFill>
                    <a:latin typeface="Liberation Sans"/>
                    <a:cs typeface="Liberation Sans"/>
                  </a:rPr>
                  <a:t>Configuration</a:t>
                </a:r>
                <a:endParaRPr sz="1500" dirty="0">
                  <a:latin typeface="Liberation Sans"/>
                  <a:cs typeface="Liberation Sans"/>
                </a:endParaRPr>
              </a:p>
              <a:p>
                <a:pPr marL="135890">
                  <a:lnSpc>
                    <a:spcPct val="100000"/>
                  </a:lnSpc>
                  <a:spcBef>
                    <a:spcPts val="975"/>
                  </a:spcBef>
                </a:pPr>
                <a:r>
                  <a:rPr sz="1200" dirty="0">
                    <a:latin typeface="Liberation Sans"/>
                    <a:cs typeface="Liberation Sans"/>
                  </a:rPr>
                  <a:t>Optimizer:</a:t>
                </a:r>
                <a:r>
                  <a:rPr sz="1200" spc="-70" dirty="0"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latin typeface="Liberation Sans"/>
                    <a:cs typeface="Liberation Sans"/>
                  </a:rPr>
                  <a:t>Adam (lr = </a:t>
                </a:r>
                <a:r>
                  <a:rPr sz="1200" spc="-10" dirty="0">
                    <a:latin typeface="Liberation Sans"/>
                    <a:cs typeface="Liberation Sans"/>
                  </a:rPr>
                  <a:t>1.32×10</a:t>
                </a:r>
                <a:r>
                  <a:rPr sz="1200" spc="-10" dirty="0">
                    <a:latin typeface="DejaVu Sans"/>
                    <a:cs typeface="DejaVu Sans"/>
                  </a:rPr>
                  <a:t>⁻⁴</a:t>
                </a:r>
                <a:r>
                  <a:rPr sz="1200" spc="-10" dirty="0">
                    <a:latin typeface="Liberation Sans"/>
                    <a:cs typeface="Liberation Sans"/>
                  </a:rPr>
                  <a:t>)</a:t>
                </a:r>
                <a:endParaRPr sz="1200" dirty="0">
                  <a:latin typeface="Liberation Sans"/>
                  <a:cs typeface="Liberation Sans"/>
                </a:endParaRPr>
              </a:p>
              <a:p>
                <a:pPr marL="135890">
                  <a:lnSpc>
                    <a:spcPct val="100000"/>
                  </a:lnSpc>
                  <a:spcBef>
                    <a:spcPts val="735"/>
                  </a:spcBef>
                </a:pPr>
                <a:r>
                  <a:rPr sz="1200" dirty="0">
                    <a:latin typeface="Liberation Sans"/>
                    <a:cs typeface="Liberation Sans"/>
                  </a:rPr>
                  <a:t>Loss: Sparse Categorical </a:t>
                </a:r>
                <a:r>
                  <a:rPr sz="1200" spc="-10" dirty="0">
                    <a:latin typeface="Liberation Sans"/>
                    <a:cs typeface="Liberation Sans"/>
                  </a:rPr>
                  <a:t>Crossentropy</a:t>
                </a:r>
                <a:endParaRPr sz="1200" dirty="0">
                  <a:latin typeface="Liberation Sans"/>
                  <a:cs typeface="Liberation Sans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3834F16-1BD7-0A69-9BBF-D0E2B3B711DD}"/>
                </a:ext>
              </a:extLst>
            </p:cNvPr>
            <p:cNvSpPr txBox="1"/>
            <p:nvPr/>
          </p:nvSpPr>
          <p:spPr>
            <a:xfrm>
              <a:off x="4286038" y="3897059"/>
              <a:ext cx="22955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0762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EE28A-40F5-64D5-0302-4A9BB5070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B7A652-58C6-9387-D55F-D43999C544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1108" y="685006"/>
            <a:ext cx="8489951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lang="en-US" sz="3600" spc="-100" dirty="0">
                <a:solidFill>
                  <a:schemeClr val="accent6"/>
                </a:solidFill>
              </a:rPr>
              <a:t>Mobile</a:t>
            </a:r>
            <a:r>
              <a:rPr lang="en-US" sz="3600" spc="-20" dirty="0">
                <a:solidFill>
                  <a:schemeClr val="accent6"/>
                </a:solidFill>
              </a:rPr>
              <a:t> </a:t>
            </a:r>
            <a:r>
              <a:rPr lang="en-US" sz="3600" spc="-100" dirty="0">
                <a:solidFill>
                  <a:schemeClr val="accent6"/>
                </a:solidFill>
              </a:rPr>
              <a:t>App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7FEE9AD8-0DDB-A90F-E41E-E28E78425D75}"/>
              </a:ext>
            </a:extLst>
          </p:cNvPr>
          <p:cNvSpPr txBox="1"/>
          <p:nvPr/>
        </p:nvSpPr>
        <p:spPr>
          <a:xfrm>
            <a:off x="10689232" y="67889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grpSp>
        <p:nvGrpSpPr>
          <p:cNvPr id="17" name="object 11">
            <a:extLst>
              <a:ext uri="{FF2B5EF4-FFF2-40B4-BE49-F238E27FC236}">
                <a16:creationId xmlns:a16="http://schemas.microsoft.com/office/drawing/2014/main" id="{34D44645-F6BD-6A70-3E4F-9ABD84AEF9A1}"/>
              </a:ext>
            </a:extLst>
          </p:cNvPr>
          <p:cNvGrpSpPr/>
          <p:nvPr/>
        </p:nvGrpSpPr>
        <p:grpSpPr>
          <a:xfrm>
            <a:off x="909381" y="1915518"/>
            <a:ext cx="3671212" cy="685800"/>
            <a:chOff x="914399" y="4610099"/>
            <a:chExt cx="10363200" cy="1066800"/>
          </a:xfrm>
        </p:grpSpPr>
        <p:sp>
          <p:nvSpPr>
            <p:cNvPr id="18" name="object 12">
              <a:extLst>
                <a:ext uri="{FF2B5EF4-FFF2-40B4-BE49-F238E27FC236}">
                  <a16:creationId xmlns:a16="http://schemas.microsoft.com/office/drawing/2014/main" id="{E1C9F8A5-E740-80C0-6775-8884FAF5D281}"/>
                </a:ext>
              </a:extLst>
            </p:cNvPr>
            <p:cNvSpPr/>
            <p:nvPr/>
          </p:nvSpPr>
          <p:spPr>
            <a:xfrm>
              <a:off x="933449" y="4610099"/>
              <a:ext cx="10344150" cy="1066800"/>
            </a:xfrm>
            <a:custGeom>
              <a:avLst/>
              <a:gdLst/>
              <a:ahLst/>
              <a:cxnLst/>
              <a:rect l="l" t="t" r="r" b="b"/>
              <a:pathLst>
                <a:path w="10344150" h="1066800">
                  <a:moveTo>
                    <a:pt x="10272952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10272952" y="0"/>
                  </a:lnTo>
                  <a:lnTo>
                    <a:pt x="10277906" y="488"/>
                  </a:lnTo>
                  <a:lnTo>
                    <a:pt x="10314440" y="15621"/>
                  </a:lnTo>
                  <a:lnTo>
                    <a:pt x="10340262" y="51661"/>
                  </a:lnTo>
                  <a:lnTo>
                    <a:pt x="10344148" y="71196"/>
                  </a:lnTo>
                  <a:lnTo>
                    <a:pt x="10344148" y="995603"/>
                  </a:lnTo>
                  <a:lnTo>
                    <a:pt x="10328525" y="1037094"/>
                  </a:lnTo>
                  <a:lnTo>
                    <a:pt x="10292486" y="1062913"/>
                  </a:lnTo>
                  <a:lnTo>
                    <a:pt x="10272952" y="1066799"/>
                  </a:lnTo>
                  <a:close/>
                </a:path>
              </a:pathLst>
            </a:custGeom>
            <a:solidFill>
              <a:srgbClr val="FF6A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3">
              <a:extLst>
                <a:ext uri="{FF2B5EF4-FFF2-40B4-BE49-F238E27FC236}">
                  <a16:creationId xmlns:a16="http://schemas.microsoft.com/office/drawing/2014/main" id="{9F896224-14FF-1573-5135-08C7923A26F4}"/>
                </a:ext>
              </a:extLst>
            </p:cNvPr>
            <p:cNvSpPr/>
            <p:nvPr/>
          </p:nvSpPr>
          <p:spPr>
            <a:xfrm>
              <a:off x="914399" y="4610099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099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66799"/>
                  </a:lnTo>
                  <a:close/>
                </a:path>
              </a:pathLst>
            </a:custGeom>
            <a:solidFill>
              <a:srgbClr val="FF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8878058-8638-0D69-C39A-376504830259}"/>
              </a:ext>
            </a:extLst>
          </p:cNvPr>
          <p:cNvSpPr txBox="1"/>
          <p:nvPr/>
        </p:nvSpPr>
        <p:spPr>
          <a:xfrm>
            <a:off x="1727834" y="1985532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Low Note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6DAC95-C9B2-F645-A630-4EC0A36B1AF1}"/>
              </a:ext>
            </a:extLst>
          </p:cNvPr>
          <p:cNvSpPr txBox="1"/>
          <p:nvPr/>
        </p:nvSpPr>
        <p:spPr>
          <a:xfrm>
            <a:off x="1143000" y="1026061"/>
            <a:ext cx="4762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spc="-90" dirty="0">
                <a:solidFill>
                  <a:srgbClr val="333333"/>
                </a:solidFill>
                <a:latin typeface="Montserrat Medium"/>
                <a:cs typeface="Montserrat Medium"/>
              </a:rPr>
              <a:t>Real-</a:t>
            </a:r>
            <a:r>
              <a:rPr lang="en-US" b="0" spc="-100" dirty="0">
                <a:solidFill>
                  <a:srgbClr val="333333"/>
                </a:solidFill>
                <a:latin typeface="Montserrat Medium"/>
                <a:cs typeface="Montserrat Medium"/>
              </a:rPr>
              <a:t>time</a:t>
            </a:r>
            <a:r>
              <a:rPr lang="en-US" b="0" spc="10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lang="en-US" b="0" spc="-105" dirty="0">
                <a:solidFill>
                  <a:srgbClr val="333333"/>
                </a:solidFill>
                <a:latin typeface="Montserrat Medium"/>
                <a:cs typeface="Montserrat Medium"/>
              </a:rPr>
              <a:t>Pitch</a:t>
            </a:r>
            <a:r>
              <a:rPr lang="en-US" b="0" spc="15" dirty="0">
                <a:solidFill>
                  <a:srgbClr val="333333"/>
                </a:solidFill>
                <a:latin typeface="Montserrat Medium"/>
                <a:cs typeface="Montserrat Medium"/>
              </a:rPr>
              <a:t> </a:t>
            </a:r>
            <a:r>
              <a:rPr lang="en-US" b="0" spc="-10" dirty="0">
                <a:solidFill>
                  <a:srgbClr val="333333"/>
                </a:solidFill>
                <a:latin typeface="Montserrat Medium"/>
                <a:cs typeface="Montserrat Medium"/>
              </a:rPr>
              <a:t>Detection System</a:t>
            </a:r>
            <a:endParaRPr lang="en-US" dirty="0">
              <a:latin typeface="Montserrat Medium"/>
              <a:cs typeface="Montserrat Medium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Graphic 5" descr="Processor outline">
            <a:extLst>
              <a:ext uri="{FF2B5EF4-FFF2-40B4-BE49-F238E27FC236}">
                <a16:creationId xmlns:a16="http://schemas.microsoft.com/office/drawing/2014/main" id="{F9EFB6D5-BADA-30EE-1230-FE407C073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855" y="1883686"/>
            <a:ext cx="749463" cy="74946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7F1A09D-3773-0C48-3890-728F62A08223}"/>
              </a:ext>
            </a:extLst>
          </p:cNvPr>
          <p:cNvGrpSpPr/>
          <p:nvPr/>
        </p:nvGrpSpPr>
        <p:grpSpPr>
          <a:xfrm>
            <a:off x="909381" y="2664981"/>
            <a:ext cx="2291019" cy="2324100"/>
            <a:chOff x="457199" y="1295677"/>
            <a:chExt cx="2291019" cy="2324100"/>
          </a:xfrm>
        </p:grpSpPr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4E59E3A6-FF25-FBA8-6168-974DF1B8EA0F}"/>
                </a:ext>
              </a:extLst>
            </p:cNvPr>
            <p:cNvSpPr/>
            <p:nvPr/>
          </p:nvSpPr>
          <p:spPr>
            <a:xfrm>
              <a:off x="457199" y="1295677"/>
              <a:ext cx="70485" cy="2324100"/>
            </a:xfrm>
            <a:custGeom>
              <a:avLst/>
              <a:gdLst/>
              <a:ahLst/>
              <a:cxnLst/>
              <a:rect l="l" t="t" r="r" b="b"/>
              <a:pathLst>
                <a:path w="70484" h="2324100">
                  <a:moveTo>
                    <a:pt x="70450" y="2323544"/>
                  </a:moveTo>
                  <a:lnTo>
                    <a:pt x="33857" y="2310991"/>
                  </a:lnTo>
                  <a:lnTo>
                    <a:pt x="5800" y="2276782"/>
                  </a:lnTo>
                  <a:lnTo>
                    <a:pt x="0" y="22476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2247622"/>
                  </a:lnTo>
                  <a:lnTo>
                    <a:pt x="44515" y="2289963"/>
                  </a:lnTo>
                  <a:lnTo>
                    <a:pt x="66287" y="2321888"/>
                  </a:lnTo>
                  <a:lnTo>
                    <a:pt x="70450" y="2323544"/>
                  </a:lnTo>
                  <a:close/>
                </a:path>
              </a:pathLst>
            </a:custGeom>
            <a:solidFill>
              <a:srgbClr val="FF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2792AE69-E55A-BC62-868D-4FBB9ED331B7}"/>
                </a:ext>
              </a:extLst>
            </p:cNvPr>
            <p:cNvSpPr txBox="1"/>
            <p:nvPr/>
          </p:nvSpPr>
          <p:spPr>
            <a:xfrm>
              <a:off x="1025525" y="1479737"/>
              <a:ext cx="1722693" cy="32765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lang="en-US" sz="2050" b="1" spc="-150" dirty="0">
                  <a:latin typeface="Montserrat SemiBold"/>
                  <a:cs typeface="Montserrat SemiBold"/>
                </a:rPr>
                <a:t>Results</a:t>
              </a:r>
              <a:endParaRPr sz="2050" dirty="0">
                <a:latin typeface="Montserrat SemiBold"/>
                <a:cs typeface="Montserrat SemiBold"/>
              </a:endParaRPr>
            </a:p>
          </p:txBody>
        </p:sp>
      </p:grpSp>
      <p:pic>
        <p:nvPicPr>
          <p:cNvPr id="5" name="Graphic 4" descr="Presentation with pie chart outline">
            <a:extLst>
              <a:ext uri="{FF2B5EF4-FFF2-40B4-BE49-F238E27FC236}">
                <a16:creationId xmlns:a16="http://schemas.microsoft.com/office/drawing/2014/main" id="{DAD9D696-B0EF-A671-A016-B72226C58E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952" y="2760763"/>
            <a:ext cx="459755" cy="45975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64FD780-50D7-8F84-343B-14D831719EEC}"/>
              </a:ext>
            </a:extLst>
          </p:cNvPr>
          <p:cNvGrpSpPr/>
          <p:nvPr/>
        </p:nvGrpSpPr>
        <p:grpSpPr>
          <a:xfrm>
            <a:off x="1081108" y="3312681"/>
            <a:ext cx="1880235" cy="1028700"/>
            <a:chOff x="6248399" y="1752599"/>
            <a:chExt cx="1880235" cy="1028700"/>
          </a:xfrm>
        </p:grpSpPr>
        <p:sp>
          <p:nvSpPr>
            <p:cNvPr id="10" name="object 16">
              <a:extLst>
                <a:ext uri="{FF2B5EF4-FFF2-40B4-BE49-F238E27FC236}">
                  <a16:creationId xmlns:a16="http://schemas.microsoft.com/office/drawing/2014/main" id="{C774D84D-798B-8D62-CE47-20040CA8EE4F}"/>
                </a:ext>
              </a:extLst>
            </p:cNvPr>
            <p:cNvSpPr/>
            <p:nvPr/>
          </p:nvSpPr>
          <p:spPr>
            <a:xfrm>
              <a:off x="6248399" y="1752599"/>
              <a:ext cx="38100" cy="1028700"/>
            </a:xfrm>
            <a:custGeom>
              <a:avLst/>
              <a:gdLst/>
              <a:ahLst/>
              <a:cxnLst/>
              <a:rect l="l" t="t" r="r" b="b"/>
              <a:pathLst>
                <a:path w="38100" h="1028700">
                  <a:moveTo>
                    <a:pt x="38099" y="1028699"/>
                  </a:moveTo>
                  <a:lnTo>
                    <a:pt x="0" y="10286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28699"/>
                  </a:lnTo>
                  <a:close/>
                </a:path>
              </a:pathLst>
            </a:custGeom>
            <a:solidFill>
              <a:srgbClr val="FF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26">
              <a:extLst>
                <a:ext uri="{FF2B5EF4-FFF2-40B4-BE49-F238E27FC236}">
                  <a16:creationId xmlns:a16="http://schemas.microsoft.com/office/drawing/2014/main" id="{F3EDCF81-31A9-E501-A69B-847C8D44ABC9}"/>
                </a:ext>
              </a:extLst>
            </p:cNvPr>
            <p:cNvSpPr txBox="1"/>
            <p:nvPr/>
          </p:nvSpPr>
          <p:spPr>
            <a:xfrm>
              <a:off x="6426199" y="1882146"/>
              <a:ext cx="1702435" cy="79057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ts val="1689"/>
                </a:lnSpc>
                <a:spcBef>
                  <a:spcPts val="105"/>
                </a:spcBef>
              </a:pPr>
              <a:r>
                <a:rPr sz="1650" spc="-105" dirty="0">
                  <a:latin typeface="Montserrat"/>
                  <a:cs typeface="Montserrat"/>
                </a:rPr>
                <a:t>Model</a:t>
              </a:r>
              <a:r>
                <a:rPr sz="1650" dirty="0">
                  <a:latin typeface="Montserrat"/>
                  <a:cs typeface="Montserrat"/>
                </a:rPr>
                <a:t> </a:t>
              </a:r>
              <a:r>
                <a:rPr sz="1650" spc="-10" dirty="0">
                  <a:latin typeface="Montserrat"/>
                  <a:cs typeface="Montserrat"/>
                </a:rPr>
                <a:t>Accuracy</a:t>
              </a:r>
              <a:endParaRPr sz="1650" dirty="0">
                <a:latin typeface="Montserrat"/>
                <a:cs typeface="Montserrat"/>
              </a:endParaRPr>
            </a:p>
            <a:p>
              <a:pPr marL="12700">
                <a:lnSpc>
                  <a:spcPts val="4330"/>
                </a:lnSpc>
              </a:pPr>
              <a:r>
                <a:rPr sz="3850" b="1" spc="-150" dirty="0">
                  <a:solidFill>
                    <a:srgbClr val="FF7900"/>
                  </a:solidFill>
                  <a:latin typeface="Montserrat"/>
                  <a:cs typeface="Montserrat"/>
                </a:rPr>
                <a:t>85.99%</a:t>
              </a:r>
              <a:endParaRPr sz="3850" dirty="0">
                <a:latin typeface="Montserrat"/>
                <a:cs typeface="Montserrat"/>
              </a:endParaRPr>
            </a:p>
          </p:txBody>
        </p:sp>
      </p:grpSp>
      <p:grpSp>
        <p:nvGrpSpPr>
          <p:cNvPr id="13" name="object 17">
            <a:extLst>
              <a:ext uri="{FF2B5EF4-FFF2-40B4-BE49-F238E27FC236}">
                <a16:creationId xmlns:a16="http://schemas.microsoft.com/office/drawing/2014/main" id="{54BBD1A0-D2C9-2E24-AD24-DC0AB541CEA5}"/>
              </a:ext>
            </a:extLst>
          </p:cNvPr>
          <p:cNvGrpSpPr/>
          <p:nvPr/>
        </p:nvGrpSpPr>
        <p:grpSpPr>
          <a:xfrm>
            <a:off x="1112857" y="4923632"/>
            <a:ext cx="5486400" cy="1247775"/>
            <a:chOff x="6248398" y="3390899"/>
            <a:chExt cx="5486400" cy="1247775"/>
          </a:xfrm>
        </p:grpSpPr>
        <p:sp>
          <p:nvSpPr>
            <p:cNvPr id="15" name="object 18">
              <a:extLst>
                <a:ext uri="{FF2B5EF4-FFF2-40B4-BE49-F238E27FC236}">
                  <a16:creationId xmlns:a16="http://schemas.microsoft.com/office/drawing/2014/main" id="{B8A4F071-85CE-8864-1845-66E2F34E245D}"/>
                </a:ext>
              </a:extLst>
            </p:cNvPr>
            <p:cNvSpPr/>
            <p:nvPr/>
          </p:nvSpPr>
          <p:spPr>
            <a:xfrm>
              <a:off x="6253161" y="3395662"/>
              <a:ext cx="5476875" cy="1238250"/>
            </a:xfrm>
            <a:custGeom>
              <a:avLst/>
              <a:gdLst/>
              <a:ahLst/>
              <a:cxnLst/>
              <a:rect l="l" t="t" r="r" b="b"/>
              <a:pathLst>
                <a:path w="5476875" h="1238250">
                  <a:moveTo>
                    <a:pt x="0" y="11668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8" y="44099"/>
                  </a:lnTo>
                  <a:lnTo>
                    <a:pt x="7232" y="39765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5405437" y="0"/>
                  </a:lnTo>
                  <a:lnTo>
                    <a:pt x="5410128" y="0"/>
                  </a:lnTo>
                  <a:lnTo>
                    <a:pt x="5414773" y="457"/>
                  </a:lnTo>
                  <a:lnTo>
                    <a:pt x="5419373" y="1372"/>
                  </a:lnTo>
                  <a:lnTo>
                    <a:pt x="5423974" y="2287"/>
                  </a:lnTo>
                  <a:lnTo>
                    <a:pt x="5459266" y="24240"/>
                  </a:lnTo>
                  <a:lnTo>
                    <a:pt x="5475501" y="57500"/>
                  </a:lnTo>
                  <a:lnTo>
                    <a:pt x="5476416" y="62100"/>
                  </a:lnTo>
                  <a:lnTo>
                    <a:pt x="5476873" y="66746"/>
                  </a:lnTo>
                  <a:lnTo>
                    <a:pt x="5476875" y="71437"/>
                  </a:lnTo>
                  <a:lnTo>
                    <a:pt x="5476875" y="1166812"/>
                  </a:lnTo>
                  <a:lnTo>
                    <a:pt x="5476873" y="1171502"/>
                  </a:lnTo>
                  <a:lnTo>
                    <a:pt x="5476416" y="1176148"/>
                  </a:lnTo>
                  <a:lnTo>
                    <a:pt x="5475501" y="1180748"/>
                  </a:lnTo>
                  <a:lnTo>
                    <a:pt x="5474586" y="1185349"/>
                  </a:lnTo>
                  <a:lnTo>
                    <a:pt x="5464834" y="1206500"/>
                  </a:lnTo>
                  <a:lnTo>
                    <a:pt x="5462228" y="1210400"/>
                  </a:lnTo>
                  <a:lnTo>
                    <a:pt x="5428440" y="1234606"/>
                  </a:lnTo>
                  <a:lnTo>
                    <a:pt x="5419373" y="1236877"/>
                  </a:lnTo>
                  <a:lnTo>
                    <a:pt x="5414773" y="1237792"/>
                  </a:lnTo>
                  <a:lnTo>
                    <a:pt x="5410128" y="1238249"/>
                  </a:lnTo>
                  <a:lnTo>
                    <a:pt x="5405437" y="1238249"/>
                  </a:lnTo>
                  <a:lnTo>
                    <a:pt x="71438" y="1238249"/>
                  </a:lnTo>
                  <a:lnTo>
                    <a:pt x="66747" y="1238249"/>
                  </a:lnTo>
                  <a:lnTo>
                    <a:pt x="62102" y="1237792"/>
                  </a:lnTo>
                  <a:lnTo>
                    <a:pt x="31748" y="1226210"/>
                  </a:lnTo>
                  <a:lnTo>
                    <a:pt x="27848" y="1223604"/>
                  </a:lnTo>
                  <a:lnTo>
                    <a:pt x="12039" y="1206500"/>
                  </a:lnTo>
                  <a:lnTo>
                    <a:pt x="9433" y="1202600"/>
                  </a:lnTo>
                  <a:lnTo>
                    <a:pt x="7232" y="1198483"/>
                  </a:lnTo>
                  <a:lnTo>
                    <a:pt x="5438" y="1194150"/>
                  </a:lnTo>
                  <a:lnTo>
                    <a:pt x="3642" y="1189816"/>
                  </a:lnTo>
                  <a:lnTo>
                    <a:pt x="2287" y="1185349"/>
                  </a:lnTo>
                  <a:lnTo>
                    <a:pt x="1372" y="1180748"/>
                  </a:lnTo>
                  <a:lnTo>
                    <a:pt x="457" y="1176148"/>
                  </a:lnTo>
                  <a:lnTo>
                    <a:pt x="0" y="1171502"/>
                  </a:lnTo>
                  <a:lnTo>
                    <a:pt x="0" y="1166812"/>
                  </a:lnTo>
                  <a:close/>
                </a:path>
              </a:pathLst>
            </a:custGeom>
            <a:ln w="9524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9">
              <a:extLst>
                <a:ext uri="{FF2B5EF4-FFF2-40B4-BE49-F238E27FC236}">
                  <a16:creationId xmlns:a16="http://schemas.microsoft.com/office/drawing/2014/main" id="{CF02334D-E0C4-B4A4-7722-985E9CD269C1}"/>
                </a:ext>
              </a:extLst>
            </p:cNvPr>
            <p:cNvSpPr/>
            <p:nvPr/>
          </p:nvSpPr>
          <p:spPr>
            <a:xfrm>
              <a:off x="6410324" y="3857624"/>
              <a:ext cx="5162550" cy="9525"/>
            </a:xfrm>
            <a:custGeom>
              <a:avLst/>
              <a:gdLst/>
              <a:ahLst/>
              <a:cxnLst/>
              <a:rect l="l" t="t" r="r" b="b"/>
              <a:pathLst>
                <a:path w="5162550" h="9525">
                  <a:moveTo>
                    <a:pt x="51625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162549" y="0"/>
                  </a:lnTo>
                  <a:lnTo>
                    <a:pt x="5162549" y="9524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223722DF-FA75-FA8C-A4F1-9DCE5ADC3C23}"/>
                </a:ext>
              </a:extLst>
            </p:cNvPr>
            <p:cNvSpPr/>
            <p:nvPr/>
          </p:nvSpPr>
          <p:spPr>
            <a:xfrm>
              <a:off x="7705712" y="3533774"/>
              <a:ext cx="1285875" cy="257175"/>
            </a:xfrm>
            <a:custGeom>
              <a:avLst/>
              <a:gdLst/>
              <a:ahLst/>
              <a:cxnLst/>
              <a:rect l="l" t="t" r="r" b="b"/>
              <a:pathLst>
                <a:path w="1285875" h="257175">
                  <a:moveTo>
                    <a:pt x="342900" y="53403"/>
                  </a:moveTo>
                  <a:lnTo>
                    <a:pt x="323507" y="14097"/>
                  </a:lnTo>
                  <a:lnTo>
                    <a:pt x="289509" y="0"/>
                  </a:lnTo>
                  <a:lnTo>
                    <a:pt x="53403" y="0"/>
                  </a:lnTo>
                  <a:lnTo>
                    <a:pt x="14084" y="19392"/>
                  </a:lnTo>
                  <a:lnTo>
                    <a:pt x="0" y="53403"/>
                  </a:lnTo>
                  <a:lnTo>
                    <a:pt x="0" y="200025"/>
                  </a:lnTo>
                  <a:lnTo>
                    <a:pt x="0" y="203784"/>
                  </a:lnTo>
                  <a:lnTo>
                    <a:pt x="19392" y="243090"/>
                  </a:lnTo>
                  <a:lnTo>
                    <a:pt x="53403" y="257175"/>
                  </a:lnTo>
                  <a:lnTo>
                    <a:pt x="289509" y="257175"/>
                  </a:lnTo>
                  <a:lnTo>
                    <a:pt x="328815" y="237782"/>
                  </a:lnTo>
                  <a:lnTo>
                    <a:pt x="342900" y="203784"/>
                  </a:lnTo>
                  <a:lnTo>
                    <a:pt x="342900" y="53403"/>
                  </a:lnTo>
                  <a:close/>
                </a:path>
                <a:path w="1285875" h="257175">
                  <a:moveTo>
                    <a:pt x="809625" y="53403"/>
                  </a:moveTo>
                  <a:lnTo>
                    <a:pt x="790232" y="14097"/>
                  </a:lnTo>
                  <a:lnTo>
                    <a:pt x="756234" y="0"/>
                  </a:lnTo>
                  <a:lnTo>
                    <a:pt x="510603" y="0"/>
                  </a:lnTo>
                  <a:lnTo>
                    <a:pt x="471284" y="19392"/>
                  </a:lnTo>
                  <a:lnTo>
                    <a:pt x="457200" y="53403"/>
                  </a:lnTo>
                  <a:lnTo>
                    <a:pt x="457200" y="200025"/>
                  </a:lnTo>
                  <a:lnTo>
                    <a:pt x="457200" y="203784"/>
                  </a:lnTo>
                  <a:lnTo>
                    <a:pt x="476592" y="243090"/>
                  </a:lnTo>
                  <a:lnTo>
                    <a:pt x="510603" y="257175"/>
                  </a:lnTo>
                  <a:lnTo>
                    <a:pt x="756234" y="257175"/>
                  </a:lnTo>
                  <a:lnTo>
                    <a:pt x="795540" y="237782"/>
                  </a:lnTo>
                  <a:lnTo>
                    <a:pt x="809625" y="203784"/>
                  </a:lnTo>
                  <a:lnTo>
                    <a:pt x="809625" y="53403"/>
                  </a:lnTo>
                  <a:close/>
                </a:path>
                <a:path w="1285875" h="257175">
                  <a:moveTo>
                    <a:pt x="1285875" y="53403"/>
                  </a:moveTo>
                  <a:lnTo>
                    <a:pt x="1266482" y="14097"/>
                  </a:lnTo>
                  <a:lnTo>
                    <a:pt x="1232484" y="0"/>
                  </a:lnTo>
                  <a:lnTo>
                    <a:pt x="977328" y="0"/>
                  </a:lnTo>
                  <a:lnTo>
                    <a:pt x="938009" y="19392"/>
                  </a:lnTo>
                  <a:lnTo>
                    <a:pt x="923925" y="53403"/>
                  </a:lnTo>
                  <a:lnTo>
                    <a:pt x="923925" y="200025"/>
                  </a:lnTo>
                  <a:lnTo>
                    <a:pt x="923925" y="203784"/>
                  </a:lnTo>
                  <a:lnTo>
                    <a:pt x="943317" y="243090"/>
                  </a:lnTo>
                  <a:lnTo>
                    <a:pt x="977328" y="257175"/>
                  </a:lnTo>
                  <a:lnTo>
                    <a:pt x="1232484" y="257175"/>
                  </a:lnTo>
                  <a:lnTo>
                    <a:pt x="1271790" y="237782"/>
                  </a:lnTo>
                  <a:lnTo>
                    <a:pt x="1285875" y="203784"/>
                  </a:lnTo>
                  <a:lnTo>
                    <a:pt x="1285875" y="53403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4" name="object 27">
            <a:extLst>
              <a:ext uri="{FF2B5EF4-FFF2-40B4-BE49-F238E27FC236}">
                <a16:creationId xmlns:a16="http://schemas.microsoft.com/office/drawing/2014/main" id="{25DCD7D4-E882-A0DA-30B6-63D101FF41B3}"/>
              </a:ext>
            </a:extLst>
          </p:cNvPr>
          <p:cNvSpPr txBox="1"/>
          <p:nvPr/>
        </p:nvSpPr>
        <p:spPr>
          <a:xfrm>
            <a:off x="1100158" y="4513155"/>
            <a:ext cx="3480435" cy="1136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130" dirty="0">
                <a:latin typeface="Montserrat SemiBold"/>
                <a:cs typeface="Montserrat SemiBold"/>
              </a:rPr>
              <a:t>Confusion</a:t>
            </a:r>
            <a:r>
              <a:rPr sz="1700" b="1" spc="-30" dirty="0">
                <a:latin typeface="Montserrat SemiBold"/>
                <a:cs typeface="Montserrat SemiBold"/>
              </a:rPr>
              <a:t> </a:t>
            </a:r>
            <a:r>
              <a:rPr sz="1700" b="1" spc="-125" dirty="0">
                <a:latin typeface="Montserrat SemiBold"/>
                <a:cs typeface="Montserrat SemiBold"/>
              </a:rPr>
              <a:t>Matrix</a:t>
            </a:r>
            <a:r>
              <a:rPr sz="1700" b="1" spc="-25" dirty="0">
                <a:latin typeface="Montserrat SemiBold"/>
                <a:cs typeface="Montserrat SemiBold"/>
              </a:rPr>
              <a:t> </a:t>
            </a:r>
            <a:r>
              <a:rPr sz="1700" b="1" spc="-10" dirty="0">
                <a:latin typeface="Montserrat SemiBold"/>
                <a:cs typeface="Montserrat SemiBold"/>
              </a:rPr>
              <a:t>Insights</a:t>
            </a:r>
            <a:endParaRPr sz="1700" dirty="0">
              <a:latin typeface="Montserrat SemiBold"/>
              <a:cs typeface="Montserrat SemiBold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500" dirty="0">
              <a:latin typeface="Montserrat SemiBold"/>
              <a:cs typeface="Montserrat SemiBold"/>
            </a:endParaRPr>
          </a:p>
          <a:p>
            <a:pPr marL="173990">
              <a:lnSpc>
                <a:spcPct val="100000"/>
              </a:lnSpc>
              <a:tabLst>
                <a:tab pos="1544320" algn="l"/>
                <a:tab pos="2000250" algn="l"/>
                <a:tab pos="2473325" algn="l"/>
              </a:tabLst>
            </a:pPr>
            <a:r>
              <a:rPr sz="1350" b="1" spc="-110" dirty="0">
                <a:solidFill>
                  <a:srgbClr val="FF7900"/>
                </a:solidFill>
                <a:latin typeface="Montserrat SemiBold"/>
                <a:cs typeface="Montserrat SemiBold"/>
              </a:rPr>
              <a:t>High</a:t>
            </a:r>
            <a:r>
              <a:rPr sz="1350" b="1" spc="-10" dirty="0">
                <a:solidFill>
                  <a:srgbClr val="FF7900"/>
                </a:solidFill>
                <a:latin typeface="Montserrat SemiBold"/>
                <a:cs typeface="Montserrat SemiBold"/>
              </a:rPr>
              <a:t> Accuracy:</a:t>
            </a:r>
            <a:r>
              <a:rPr sz="1350" b="1" dirty="0">
                <a:solidFill>
                  <a:srgbClr val="FF7900"/>
                </a:solidFill>
                <a:latin typeface="Montserrat SemiBold"/>
                <a:cs typeface="Montserrat SemiBold"/>
              </a:rPr>
              <a:t>	</a:t>
            </a:r>
            <a:r>
              <a:rPr sz="1300" spc="-25" dirty="0">
                <a:latin typeface="Montserrat"/>
                <a:cs typeface="Montserrat"/>
              </a:rPr>
              <a:t>E2</a:t>
            </a:r>
            <a:r>
              <a:rPr sz="1300" dirty="0">
                <a:latin typeface="Montserrat"/>
                <a:cs typeface="Montserrat"/>
              </a:rPr>
              <a:t>	</a:t>
            </a:r>
            <a:r>
              <a:rPr sz="1300" spc="-25" dirty="0">
                <a:latin typeface="Montserrat"/>
                <a:cs typeface="Montserrat"/>
              </a:rPr>
              <a:t>G2</a:t>
            </a:r>
            <a:r>
              <a:rPr sz="1300" dirty="0">
                <a:latin typeface="Montserrat"/>
                <a:cs typeface="Montserrat"/>
              </a:rPr>
              <a:t>	</a:t>
            </a:r>
            <a:r>
              <a:rPr lang="en-US" sz="1300" dirty="0">
                <a:latin typeface="Montserrat"/>
                <a:cs typeface="Montserrat"/>
              </a:rPr>
              <a:t>F2</a:t>
            </a:r>
            <a:endParaRPr sz="1300" dirty="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Montserrat"/>
              <a:cs typeface="Montserrat"/>
            </a:endParaRPr>
          </a:p>
          <a:p>
            <a:pPr marL="173990">
              <a:lnSpc>
                <a:spcPct val="100000"/>
              </a:lnSpc>
            </a:pPr>
            <a:endParaRPr sz="1300" dirty="0">
              <a:latin typeface="Montserrat"/>
              <a:cs typeface="Montserrat"/>
            </a:endParaRPr>
          </a:p>
        </p:txBody>
      </p:sp>
      <p:pic>
        <p:nvPicPr>
          <p:cNvPr id="23" name="image6.png">
            <a:extLst>
              <a:ext uri="{FF2B5EF4-FFF2-40B4-BE49-F238E27FC236}">
                <a16:creationId xmlns:a16="http://schemas.microsoft.com/office/drawing/2014/main" id="{D0DD43E4-47FA-F02C-80E8-61DB9B6227AD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5020683" y="1005602"/>
            <a:ext cx="7122391" cy="4804490"/>
          </a:xfrm>
          <a:prstGeom prst="rect">
            <a:avLst/>
          </a:prstGeom>
          <a:ln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9C592-F41C-3EAF-F628-C997C7184DD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40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916B0-D50A-362E-B6C3-D6AECE72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E363358-78AE-B4AB-74FD-D0E7BBDEE7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0801" y="725028"/>
            <a:ext cx="8489951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lang="en-US" sz="3600" spc="-100" dirty="0">
                <a:solidFill>
                  <a:schemeClr val="accent6"/>
                </a:solidFill>
              </a:rPr>
              <a:t>Mobile</a:t>
            </a:r>
            <a:r>
              <a:rPr lang="en-US" sz="3600" spc="-20" dirty="0">
                <a:solidFill>
                  <a:schemeClr val="accent6"/>
                </a:solidFill>
              </a:rPr>
              <a:t> </a:t>
            </a:r>
            <a:r>
              <a:rPr lang="en-US" sz="3600" spc="-100" dirty="0">
                <a:solidFill>
                  <a:schemeClr val="accent6"/>
                </a:solidFill>
              </a:rPr>
              <a:t>App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9390405-0269-7BE9-8E8A-6CB11861F4AD}"/>
              </a:ext>
            </a:extLst>
          </p:cNvPr>
          <p:cNvSpPr txBox="1"/>
          <p:nvPr/>
        </p:nvSpPr>
        <p:spPr>
          <a:xfrm>
            <a:off x="10689232" y="67889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4F379E-5C15-7433-0B31-CF2D1880FB9C}"/>
              </a:ext>
            </a:extLst>
          </p:cNvPr>
          <p:cNvSpPr txBox="1"/>
          <p:nvPr/>
        </p:nvSpPr>
        <p:spPr>
          <a:xfrm>
            <a:off x="1143000" y="1026061"/>
            <a:ext cx="4762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 Medium"/>
                <a:cs typeface="Montserrat Medium"/>
              </a:rPr>
              <a:t>Interactive lesson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61303C-2262-CECE-AAC4-C2E29EDD8AB0}"/>
              </a:ext>
            </a:extLst>
          </p:cNvPr>
          <p:cNvGrpSpPr/>
          <p:nvPr/>
        </p:nvGrpSpPr>
        <p:grpSpPr>
          <a:xfrm>
            <a:off x="862781" y="1780144"/>
            <a:ext cx="9458630" cy="4302430"/>
            <a:chOff x="862781" y="1780144"/>
            <a:chExt cx="9458630" cy="430243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832456D-D1A1-8F49-20BA-7F2CAFAE0992}"/>
                </a:ext>
              </a:extLst>
            </p:cNvPr>
            <p:cNvGrpSpPr/>
            <p:nvPr/>
          </p:nvGrpSpPr>
          <p:grpSpPr>
            <a:xfrm>
              <a:off x="6894975" y="2710277"/>
              <a:ext cx="3239626" cy="1075099"/>
              <a:chOff x="304799" y="2854325"/>
              <a:chExt cx="5474007" cy="1075099"/>
            </a:xfrm>
          </p:grpSpPr>
          <p:sp>
            <p:nvSpPr>
              <p:cNvPr id="36" name="object 7">
                <a:extLst>
                  <a:ext uri="{FF2B5EF4-FFF2-40B4-BE49-F238E27FC236}">
                    <a16:creationId xmlns:a16="http://schemas.microsoft.com/office/drawing/2014/main" id="{5FDF4FF5-CD1C-45B3-79B4-D6F3C43D7149}"/>
                  </a:ext>
                </a:extLst>
              </p:cNvPr>
              <p:cNvSpPr/>
              <p:nvPr/>
            </p:nvSpPr>
            <p:spPr>
              <a:xfrm>
                <a:off x="609599" y="3200399"/>
                <a:ext cx="381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28600">
                    <a:moveTo>
                      <a:pt x="38099" y="228599"/>
                    </a:moveTo>
                    <a:lnTo>
                      <a:pt x="0" y="228599"/>
                    </a:lnTo>
                    <a:lnTo>
                      <a:pt x="0" y="0"/>
                    </a:lnTo>
                    <a:lnTo>
                      <a:pt x="38099" y="0"/>
                    </a:lnTo>
                    <a:lnTo>
                      <a:pt x="38099" y="228599"/>
                    </a:lnTo>
                    <a:close/>
                  </a:path>
                </a:pathLst>
              </a:custGeom>
              <a:solidFill>
                <a:srgbClr val="FF54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8">
                <a:extLst>
                  <a:ext uri="{FF2B5EF4-FFF2-40B4-BE49-F238E27FC236}">
                    <a16:creationId xmlns:a16="http://schemas.microsoft.com/office/drawing/2014/main" id="{BFACEBA7-8FEA-AE83-BBF0-55C5887E565D}"/>
                  </a:ext>
                </a:extLst>
              </p:cNvPr>
              <p:cNvSpPr/>
              <p:nvPr/>
            </p:nvSpPr>
            <p:spPr>
              <a:xfrm>
                <a:off x="616912" y="3629441"/>
                <a:ext cx="381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28600">
                    <a:moveTo>
                      <a:pt x="38099" y="228599"/>
                    </a:moveTo>
                    <a:lnTo>
                      <a:pt x="0" y="228599"/>
                    </a:lnTo>
                    <a:lnTo>
                      <a:pt x="0" y="0"/>
                    </a:lnTo>
                    <a:lnTo>
                      <a:pt x="38099" y="0"/>
                    </a:lnTo>
                    <a:lnTo>
                      <a:pt x="38099" y="228599"/>
                    </a:lnTo>
                    <a:close/>
                  </a:path>
                </a:pathLst>
              </a:custGeom>
              <a:solidFill>
                <a:srgbClr val="FF54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8" name="object 13">
                <a:extLst>
                  <a:ext uri="{FF2B5EF4-FFF2-40B4-BE49-F238E27FC236}">
                    <a16:creationId xmlns:a16="http://schemas.microsoft.com/office/drawing/2014/main" id="{4674A8D1-5824-5841-BAEC-4012081232BE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04799" y="2876549"/>
                <a:ext cx="171450" cy="228600"/>
              </a:xfrm>
              <a:prstGeom prst="rect">
                <a:avLst/>
              </a:prstGeom>
            </p:spPr>
          </p:pic>
          <p:sp>
            <p:nvSpPr>
              <p:cNvPr id="39" name="object 14">
                <a:extLst>
                  <a:ext uri="{FF2B5EF4-FFF2-40B4-BE49-F238E27FC236}">
                    <a16:creationId xmlns:a16="http://schemas.microsoft.com/office/drawing/2014/main" id="{9A54E9B0-BC4D-28D2-677F-343E5295F6DA}"/>
                  </a:ext>
                </a:extLst>
              </p:cNvPr>
              <p:cNvSpPr txBox="1"/>
              <p:nvPr/>
            </p:nvSpPr>
            <p:spPr>
              <a:xfrm>
                <a:off x="577849" y="2854325"/>
                <a:ext cx="4057957" cy="32060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000" b="1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Time definition:</a:t>
                </a:r>
                <a:endParaRPr sz="2000" dirty="0">
                  <a:latin typeface="Liberation Sans"/>
                  <a:cs typeface="Liberation Sans"/>
                </a:endParaRPr>
              </a:p>
            </p:txBody>
          </p:sp>
          <p:sp>
            <p:nvSpPr>
              <p:cNvPr id="40" name="object 15">
                <a:extLst>
                  <a:ext uri="{FF2B5EF4-FFF2-40B4-BE49-F238E27FC236}">
                    <a16:creationId xmlns:a16="http://schemas.microsoft.com/office/drawing/2014/main" id="{69269DBC-FE92-FE12-7DD6-AAD3EE0EB1B6}"/>
                  </a:ext>
                </a:extLst>
              </p:cNvPr>
              <p:cNvSpPr txBox="1"/>
              <p:nvPr/>
            </p:nvSpPr>
            <p:spPr>
              <a:xfrm>
                <a:off x="749605" y="3639601"/>
                <a:ext cx="5029201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Measure time = start + 4</a:t>
                </a:r>
                <a:endParaRPr dirty="0">
                  <a:latin typeface="Liberation Sans"/>
                  <a:cs typeface="Liberation Sans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C822003-665F-CEEF-2AD2-50F44EAE77EF}"/>
                </a:ext>
              </a:extLst>
            </p:cNvPr>
            <p:cNvSpPr txBox="1"/>
            <p:nvPr/>
          </p:nvSpPr>
          <p:spPr>
            <a:xfrm>
              <a:off x="7097910" y="2997449"/>
              <a:ext cx="28749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dirty="0">
                  <a:latin typeface="Liberation Sans"/>
                  <a:cs typeface="Liberation Sans"/>
                </a:rPr>
                <a:t>Appear time = start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4A5D042-AC69-065A-264D-0EB5474EAD6D}"/>
                </a:ext>
              </a:extLst>
            </p:cNvPr>
            <p:cNvGrpSpPr/>
            <p:nvPr/>
          </p:nvGrpSpPr>
          <p:grpSpPr>
            <a:xfrm>
              <a:off x="862781" y="1780144"/>
              <a:ext cx="9458630" cy="4302430"/>
              <a:chOff x="862781" y="1780144"/>
              <a:chExt cx="9458630" cy="4302430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95974364-4866-6582-2C2D-0A4347D3679D}"/>
                  </a:ext>
                </a:extLst>
              </p:cNvPr>
              <p:cNvGrpSpPr/>
              <p:nvPr/>
            </p:nvGrpSpPr>
            <p:grpSpPr>
              <a:xfrm>
                <a:off x="862781" y="2699165"/>
                <a:ext cx="5181600" cy="1014828"/>
                <a:chOff x="6210299" y="1482725"/>
                <a:chExt cx="5181600" cy="1014828"/>
              </a:xfrm>
            </p:grpSpPr>
            <p:sp>
              <p:nvSpPr>
                <p:cNvPr id="27" name="object 16">
                  <a:extLst>
                    <a:ext uri="{FF2B5EF4-FFF2-40B4-BE49-F238E27FC236}">
                      <a16:creationId xmlns:a16="http://schemas.microsoft.com/office/drawing/2014/main" id="{3A419302-145C-BC9D-F23E-8BC5A14B269E}"/>
                    </a:ext>
                  </a:extLst>
                </p:cNvPr>
                <p:cNvSpPr/>
                <p:nvPr/>
              </p:nvSpPr>
              <p:spPr>
                <a:xfrm>
                  <a:off x="6515099" y="1828799"/>
                  <a:ext cx="381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228600">
                      <a:moveTo>
                        <a:pt x="38099" y="228599"/>
                      </a:moveTo>
                      <a:lnTo>
                        <a:pt x="0" y="228599"/>
                      </a:lnTo>
                      <a:lnTo>
                        <a:pt x="0" y="0"/>
                      </a:lnTo>
                      <a:lnTo>
                        <a:pt x="38099" y="0"/>
                      </a:lnTo>
                      <a:lnTo>
                        <a:pt x="38099" y="228599"/>
                      </a:lnTo>
                      <a:close/>
                    </a:path>
                  </a:pathLst>
                </a:custGeom>
                <a:solidFill>
                  <a:srgbClr val="FF54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8" name="object 17">
                  <a:extLst>
                    <a:ext uri="{FF2B5EF4-FFF2-40B4-BE49-F238E27FC236}">
                      <a16:creationId xmlns:a16="http://schemas.microsoft.com/office/drawing/2014/main" id="{D64CEB67-57D3-2AB3-3B34-34421C211329}"/>
                    </a:ext>
                  </a:extLst>
                </p:cNvPr>
                <p:cNvSpPr/>
                <p:nvPr/>
              </p:nvSpPr>
              <p:spPr>
                <a:xfrm>
                  <a:off x="6525259" y="2254566"/>
                  <a:ext cx="381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228600">
                      <a:moveTo>
                        <a:pt x="38099" y="228599"/>
                      </a:moveTo>
                      <a:lnTo>
                        <a:pt x="0" y="228599"/>
                      </a:lnTo>
                      <a:lnTo>
                        <a:pt x="0" y="0"/>
                      </a:lnTo>
                      <a:lnTo>
                        <a:pt x="38099" y="0"/>
                      </a:lnTo>
                      <a:lnTo>
                        <a:pt x="38099" y="228599"/>
                      </a:lnTo>
                      <a:close/>
                    </a:path>
                  </a:pathLst>
                </a:custGeom>
                <a:solidFill>
                  <a:srgbClr val="FF54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30" name="object 19">
                  <a:extLst>
                    <a:ext uri="{FF2B5EF4-FFF2-40B4-BE49-F238E27FC236}">
                      <a16:creationId xmlns:a16="http://schemas.microsoft.com/office/drawing/2014/main" id="{EEA2649A-8BBB-19B8-AA92-75D3AC548DC7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6210299" y="1504235"/>
                  <a:ext cx="228600" cy="229314"/>
                </a:xfrm>
                <a:prstGeom prst="rect">
                  <a:avLst/>
                </a:prstGeom>
              </p:spPr>
            </p:pic>
            <p:sp>
              <p:nvSpPr>
                <p:cNvPr id="31" name="object 20">
                  <a:extLst>
                    <a:ext uri="{FF2B5EF4-FFF2-40B4-BE49-F238E27FC236}">
                      <a16:creationId xmlns:a16="http://schemas.microsoft.com/office/drawing/2014/main" id="{6BAC409E-4378-D57C-1035-5A030DB67E16}"/>
                    </a:ext>
                  </a:extLst>
                </p:cNvPr>
                <p:cNvSpPr txBox="1"/>
                <p:nvPr/>
              </p:nvSpPr>
              <p:spPr>
                <a:xfrm>
                  <a:off x="6540500" y="1482725"/>
                  <a:ext cx="3429635" cy="320601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sz="2000" b="1" spc="-10" dirty="0">
                      <a:solidFill>
                        <a:srgbClr val="333333"/>
                      </a:solidFill>
                      <a:latin typeface="Liberation Sans"/>
                      <a:cs typeface="Liberation Sans"/>
                    </a:rPr>
                    <a:t>Data initialization</a:t>
                  </a:r>
                  <a:r>
                    <a:rPr sz="2000" b="1" spc="-10" dirty="0">
                      <a:solidFill>
                        <a:srgbClr val="333333"/>
                      </a:solidFill>
                      <a:latin typeface="Liberation Sans"/>
                      <a:cs typeface="Liberation Sans"/>
                    </a:rPr>
                    <a:t>:</a:t>
                  </a:r>
                  <a:endParaRPr sz="2000" dirty="0">
                    <a:latin typeface="Liberation Sans"/>
                    <a:cs typeface="Liberation Sans"/>
                  </a:endParaRPr>
                </a:p>
              </p:txBody>
            </p:sp>
            <p:sp>
              <p:nvSpPr>
                <p:cNvPr id="32" name="object 21">
                  <a:extLst>
                    <a:ext uri="{FF2B5EF4-FFF2-40B4-BE49-F238E27FC236}">
                      <a16:creationId xmlns:a16="http://schemas.microsoft.com/office/drawing/2014/main" id="{A1A97FC2-603B-7BDD-0CB2-60E4CF900BAC}"/>
                    </a:ext>
                  </a:extLst>
                </p:cNvPr>
                <p:cNvSpPr txBox="1"/>
                <p:nvPr/>
              </p:nvSpPr>
              <p:spPr>
                <a:xfrm>
                  <a:off x="6649559" y="2207730"/>
                  <a:ext cx="4742340" cy="289823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dirty="0">
                      <a:solidFill>
                        <a:srgbClr val="333333"/>
                      </a:solidFill>
                      <a:latin typeface="Liberation Sans"/>
                      <a:cs typeface="Liberation Sans"/>
                    </a:rPr>
                    <a:t>Change event array: (start + 3.8) &amp; model</a:t>
                  </a:r>
                  <a:endParaRPr dirty="0">
                    <a:latin typeface="Liberation Sans"/>
                    <a:cs typeface="Liberation Sans"/>
                  </a:endParaRPr>
                </a:p>
              </p:txBody>
            </p:sp>
          </p:grpSp>
          <p:pic>
            <p:nvPicPr>
              <p:cNvPr id="50" name="object 30">
                <a:extLst>
                  <a:ext uri="{FF2B5EF4-FFF2-40B4-BE49-F238E27FC236}">
                    <a16:creationId xmlns:a16="http://schemas.microsoft.com/office/drawing/2014/main" id="{E9A410B6-F8DD-58A7-0DFC-F2EC119C3D47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033651" y="5853975"/>
                <a:ext cx="228599" cy="228599"/>
              </a:xfrm>
              <a:prstGeom prst="rect">
                <a:avLst/>
              </a:prstGeom>
            </p:spPr>
          </p:pic>
          <p:sp>
            <p:nvSpPr>
              <p:cNvPr id="56" name="object 21">
                <a:extLst>
                  <a:ext uri="{FF2B5EF4-FFF2-40B4-BE49-F238E27FC236}">
                    <a16:creationId xmlns:a16="http://schemas.microsoft.com/office/drawing/2014/main" id="{F5BC5136-9DFA-0735-88C5-9B5B6D7BA365}"/>
                  </a:ext>
                </a:extLst>
              </p:cNvPr>
              <p:cNvSpPr txBox="1"/>
              <p:nvPr/>
            </p:nvSpPr>
            <p:spPr>
              <a:xfrm>
                <a:off x="1353660" y="3066029"/>
                <a:ext cx="4285139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Note array(Database): start &amp; Midi</a:t>
                </a:r>
                <a:endParaRPr dirty="0">
                  <a:latin typeface="Liberation Sans"/>
                  <a:cs typeface="Liberation Sans"/>
                </a:endParaRPr>
              </a:p>
            </p:txBody>
          </p: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BFD34ADF-602F-3F50-8281-A9EB2140337B}"/>
                  </a:ext>
                </a:extLst>
              </p:cNvPr>
              <p:cNvGrpSpPr/>
              <p:nvPr/>
            </p:nvGrpSpPr>
            <p:grpSpPr>
              <a:xfrm>
                <a:off x="892305" y="4046816"/>
                <a:ext cx="6803895" cy="1457618"/>
                <a:chOff x="913275" y="4298980"/>
                <a:chExt cx="6803895" cy="1457618"/>
              </a:xfrm>
            </p:grpSpPr>
            <p:pic>
              <p:nvPicPr>
                <p:cNvPr id="48" name="object 30">
                  <a:extLst>
                    <a:ext uri="{FF2B5EF4-FFF2-40B4-BE49-F238E27FC236}">
                      <a16:creationId xmlns:a16="http://schemas.microsoft.com/office/drawing/2014/main" id="{22E42631-F552-28CE-12F3-8A50086DD7F5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3126581" y="5229632"/>
                  <a:ext cx="228599" cy="228599"/>
                </a:xfrm>
                <a:prstGeom prst="rect">
                  <a:avLst/>
                </a:prstGeom>
              </p:spPr>
            </p:pic>
            <p:pic>
              <p:nvPicPr>
                <p:cNvPr id="49" name="object 30">
                  <a:extLst>
                    <a:ext uri="{FF2B5EF4-FFF2-40B4-BE49-F238E27FC236}">
                      <a16:creationId xmlns:a16="http://schemas.microsoft.com/office/drawing/2014/main" id="{83FFAEDB-F361-7B45-ED25-870C2360D0F4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6387282" y="5527999"/>
                  <a:ext cx="228599" cy="228599"/>
                </a:xfrm>
                <a:prstGeom prst="rect">
                  <a:avLst/>
                </a:prstGeom>
              </p:spPr>
            </p:pic>
            <p:sp>
              <p:nvSpPr>
                <p:cNvPr id="62" name="object 7">
                  <a:extLst>
                    <a:ext uri="{FF2B5EF4-FFF2-40B4-BE49-F238E27FC236}">
                      <a16:creationId xmlns:a16="http://schemas.microsoft.com/office/drawing/2014/main" id="{80EF98D1-2E89-5B1E-3DAA-C1DF1501161F}"/>
                    </a:ext>
                  </a:extLst>
                </p:cNvPr>
                <p:cNvSpPr/>
                <p:nvPr/>
              </p:nvSpPr>
              <p:spPr>
                <a:xfrm>
                  <a:off x="1238546" y="4706278"/>
                  <a:ext cx="381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228600">
                      <a:moveTo>
                        <a:pt x="38099" y="228599"/>
                      </a:moveTo>
                      <a:lnTo>
                        <a:pt x="0" y="228599"/>
                      </a:lnTo>
                      <a:lnTo>
                        <a:pt x="0" y="0"/>
                      </a:lnTo>
                      <a:lnTo>
                        <a:pt x="38099" y="0"/>
                      </a:lnTo>
                      <a:lnTo>
                        <a:pt x="38099" y="228599"/>
                      </a:lnTo>
                      <a:close/>
                    </a:path>
                  </a:pathLst>
                </a:custGeom>
                <a:solidFill>
                  <a:srgbClr val="FF54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63" name="object 8">
                  <a:extLst>
                    <a:ext uri="{FF2B5EF4-FFF2-40B4-BE49-F238E27FC236}">
                      <a16:creationId xmlns:a16="http://schemas.microsoft.com/office/drawing/2014/main" id="{3448A9E0-AA1B-BFFB-31D4-086298272CAE}"/>
                    </a:ext>
                  </a:extLst>
                </p:cNvPr>
                <p:cNvSpPr/>
                <p:nvPr/>
              </p:nvSpPr>
              <p:spPr>
                <a:xfrm>
                  <a:off x="1236811" y="5114867"/>
                  <a:ext cx="381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228600">
                      <a:moveTo>
                        <a:pt x="38099" y="228599"/>
                      </a:moveTo>
                      <a:lnTo>
                        <a:pt x="0" y="228599"/>
                      </a:lnTo>
                      <a:lnTo>
                        <a:pt x="0" y="0"/>
                      </a:lnTo>
                      <a:lnTo>
                        <a:pt x="38099" y="0"/>
                      </a:lnTo>
                      <a:lnTo>
                        <a:pt x="38099" y="228599"/>
                      </a:lnTo>
                      <a:close/>
                    </a:path>
                  </a:pathLst>
                </a:custGeom>
                <a:solidFill>
                  <a:srgbClr val="FF54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64" name="object 13">
                  <a:extLst>
                    <a:ext uri="{FF2B5EF4-FFF2-40B4-BE49-F238E27FC236}">
                      <a16:creationId xmlns:a16="http://schemas.microsoft.com/office/drawing/2014/main" id="{76A51A6D-669F-C178-5C0A-2D37AE67522D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913275" y="4321204"/>
                  <a:ext cx="171450" cy="228600"/>
                </a:xfrm>
                <a:prstGeom prst="rect">
                  <a:avLst/>
                </a:prstGeom>
              </p:spPr>
            </p:pic>
            <p:sp>
              <p:nvSpPr>
                <p:cNvPr id="65" name="object 14">
                  <a:extLst>
                    <a:ext uri="{FF2B5EF4-FFF2-40B4-BE49-F238E27FC236}">
                      <a16:creationId xmlns:a16="http://schemas.microsoft.com/office/drawing/2014/main" id="{35D0A3B5-DFFD-5E77-78DC-139308C0C4D3}"/>
                    </a:ext>
                  </a:extLst>
                </p:cNvPr>
                <p:cNvSpPr txBox="1"/>
                <p:nvPr/>
              </p:nvSpPr>
              <p:spPr>
                <a:xfrm>
                  <a:off x="1186325" y="4298980"/>
                  <a:ext cx="4057957" cy="320601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sz="2000" b="1" dirty="0">
                      <a:solidFill>
                        <a:srgbClr val="333333"/>
                      </a:solidFill>
                      <a:latin typeface="Liberation Sans"/>
                      <a:cs typeface="Liberation Sans"/>
                    </a:rPr>
                    <a:t>Playback logic</a:t>
                  </a:r>
                  <a:endParaRPr sz="2000" dirty="0">
                    <a:latin typeface="Liberation Sans"/>
                    <a:cs typeface="Liberation Sans"/>
                  </a:endParaRPr>
                </a:p>
              </p:txBody>
            </p:sp>
            <p:sp>
              <p:nvSpPr>
                <p:cNvPr id="66" name="object 15">
                  <a:extLst>
                    <a:ext uri="{FF2B5EF4-FFF2-40B4-BE49-F238E27FC236}">
                      <a16:creationId xmlns:a16="http://schemas.microsoft.com/office/drawing/2014/main" id="{7091F488-23B1-A497-4C37-7941BFD60713}"/>
                    </a:ext>
                  </a:extLst>
                </p:cNvPr>
                <p:cNvSpPr txBox="1"/>
                <p:nvPr/>
              </p:nvSpPr>
              <p:spPr>
                <a:xfrm>
                  <a:off x="1358081" y="5084256"/>
                  <a:ext cx="6359089" cy="289823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dirty="0">
                      <a:solidFill>
                        <a:srgbClr val="333333"/>
                      </a:solidFill>
                      <a:latin typeface="Liberation Sans"/>
                      <a:cs typeface="Liberation Sans"/>
                    </a:rPr>
                    <a:t>Change the note array: start = start * (1 / </a:t>
                  </a:r>
                  <a:r>
                    <a:rPr lang="en-US" dirty="0" err="1">
                      <a:solidFill>
                        <a:srgbClr val="333333"/>
                      </a:solidFill>
                      <a:latin typeface="Liberation Sans"/>
                      <a:cs typeface="Liberation Sans"/>
                    </a:rPr>
                    <a:t>playback_speed</a:t>
                  </a:r>
                  <a:r>
                    <a:rPr lang="en-US" dirty="0">
                      <a:solidFill>
                        <a:srgbClr val="333333"/>
                      </a:solidFill>
                      <a:latin typeface="Liberation Sans"/>
                      <a:cs typeface="Liberation Sans"/>
                    </a:rPr>
                    <a:t>)</a:t>
                  </a:r>
                  <a:endParaRPr dirty="0">
                    <a:latin typeface="Liberation Sans"/>
                    <a:cs typeface="Liberation Sans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4E65424-CA14-5DC2-80DE-D581E620E610}"/>
                    </a:ext>
                  </a:extLst>
                </p:cNvPr>
                <p:cNvSpPr txBox="1"/>
                <p:nvPr/>
              </p:nvSpPr>
              <p:spPr>
                <a:xfrm>
                  <a:off x="1263488" y="4637964"/>
                  <a:ext cx="621284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dirty="0">
                      <a:latin typeface="Liberation Sans"/>
                      <a:cs typeface="Liberation Sans"/>
                    </a:rPr>
                    <a:t>3 modes: 0.5x 0.75x 1x</a:t>
                  </a:r>
                </a:p>
              </p:txBody>
            </p: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66E18365-A711-CEC3-15F7-4CB352F54AA9}"/>
                  </a:ext>
                </a:extLst>
              </p:cNvPr>
              <p:cNvGrpSpPr/>
              <p:nvPr/>
            </p:nvGrpSpPr>
            <p:grpSpPr>
              <a:xfrm>
                <a:off x="956186" y="1780144"/>
                <a:ext cx="9365225" cy="732063"/>
                <a:chOff x="956186" y="1780144"/>
                <a:chExt cx="9365225" cy="732063"/>
              </a:xfrm>
            </p:grpSpPr>
            <p:grpSp>
              <p:nvGrpSpPr>
                <p:cNvPr id="17" name="object 11">
                  <a:extLst>
                    <a:ext uri="{FF2B5EF4-FFF2-40B4-BE49-F238E27FC236}">
                      <a16:creationId xmlns:a16="http://schemas.microsoft.com/office/drawing/2014/main" id="{F6AF074E-B461-F78F-C977-2D99B2A2B27E}"/>
                    </a:ext>
                  </a:extLst>
                </p:cNvPr>
                <p:cNvGrpSpPr/>
                <p:nvPr/>
              </p:nvGrpSpPr>
              <p:grpSpPr>
                <a:xfrm>
                  <a:off x="956186" y="1826407"/>
                  <a:ext cx="9365225" cy="685800"/>
                  <a:chOff x="914399" y="4610099"/>
                  <a:chExt cx="16108982" cy="1066800"/>
                </a:xfrm>
              </p:grpSpPr>
              <p:sp>
                <p:nvSpPr>
                  <p:cNvPr id="18" name="object 12">
                    <a:extLst>
                      <a:ext uri="{FF2B5EF4-FFF2-40B4-BE49-F238E27FC236}">
                        <a16:creationId xmlns:a16="http://schemas.microsoft.com/office/drawing/2014/main" id="{1CC5556C-0034-CBA5-4582-F5F4D15A2073}"/>
                      </a:ext>
                    </a:extLst>
                  </p:cNvPr>
                  <p:cNvSpPr/>
                  <p:nvPr/>
                </p:nvSpPr>
                <p:spPr>
                  <a:xfrm>
                    <a:off x="933447" y="4610099"/>
                    <a:ext cx="16089934" cy="1066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4150" h="1066800">
                        <a:moveTo>
                          <a:pt x="10272952" y="1066799"/>
                        </a:moveTo>
                        <a:lnTo>
                          <a:pt x="0" y="1066799"/>
                        </a:lnTo>
                        <a:lnTo>
                          <a:pt x="0" y="0"/>
                        </a:lnTo>
                        <a:lnTo>
                          <a:pt x="10272952" y="0"/>
                        </a:lnTo>
                        <a:lnTo>
                          <a:pt x="10277906" y="488"/>
                        </a:lnTo>
                        <a:lnTo>
                          <a:pt x="10314440" y="15621"/>
                        </a:lnTo>
                        <a:lnTo>
                          <a:pt x="10340262" y="51661"/>
                        </a:lnTo>
                        <a:lnTo>
                          <a:pt x="10344148" y="71196"/>
                        </a:lnTo>
                        <a:lnTo>
                          <a:pt x="10344148" y="995603"/>
                        </a:lnTo>
                        <a:lnTo>
                          <a:pt x="10328525" y="1037094"/>
                        </a:lnTo>
                        <a:lnTo>
                          <a:pt x="10292486" y="1062913"/>
                        </a:lnTo>
                        <a:lnTo>
                          <a:pt x="10272952" y="1066799"/>
                        </a:lnTo>
                        <a:close/>
                      </a:path>
                    </a:pathLst>
                  </a:custGeom>
                  <a:solidFill>
                    <a:srgbClr val="FF6A00">
                      <a:alpha val="5099"/>
                    </a:srgbClr>
                  </a:solidFill>
                </p:spPr>
                <p:txBody>
                  <a:bodyPr wrap="square" lIns="0" tIns="0" rIns="0" bIns="0" rtlCol="0"/>
                  <a:lstStyle/>
                  <a:p>
                    <a:endParaRPr dirty="0"/>
                  </a:p>
                </p:txBody>
              </p:sp>
              <p:sp>
                <p:nvSpPr>
                  <p:cNvPr id="19" name="object 13">
                    <a:extLst>
                      <a:ext uri="{FF2B5EF4-FFF2-40B4-BE49-F238E27FC236}">
                        <a16:creationId xmlns:a16="http://schemas.microsoft.com/office/drawing/2014/main" id="{3F39F170-78FE-4F46-C43D-0E7C2E6BEC7B}"/>
                      </a:ext>
                    </a:extLst>
                  </p:cNvPr>
                  <p:cNvSpPr/>
                  <p:nvPr/>
                </p:nvSpPr>
                <p:spPr>
                  <a:xfrm>
                    <a:off x="914399" y="4610099"/>
                    <a:ext cx="38100" cy="1066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100" h="1066800">
                        <a:moveTo>
                          <a:pt x="38099" y="1066799"/>
                        </a:moveTo>
                        <a:lnTo>
                          <a:pt x="0" y="1066799"/>
                        </a:lnTo>
                        <a:lnTo>
                          <a:pt x="0" y="0"/>
                        </a:lnTo>
                        <a:lnTo>
                          <a:pt x="38099" y="0"/>
                        </a:lnTo>
                        <a:lnTo>
                          <a:pt x="38099" y="1066799"/>
                        </a:lnTo>
                        <a:close/>
                      </a:path>
                    </a:pathLst>
                  </a:custGeom>
                  <a:solidFill>
                    <a:srgbClr val="FF6A00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</p:grp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A82B908-F06A-073E-A75B-3D08B45C9465}"/>
                    </a:ext>
                  </a:extLst>
                </p:cNvPr>
                <p:cNvSpPr txBox="1"/>
                <p:nvPr/>
              </p:nvSpPr>
              <p:spPr>
                <a:xfrm>
                  <a:off x="1688609" y="1855704"/>
                  <a:ext cx="70227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accent6"/>
                      </a:solidFill>
                    </a:rPr>
                    <a:t>Time mechanism and Model switching </a:t>
                  </a:r>
                </a:p>
              </p:txBody>
            </p:sp>
            <p:pic>
              <p:nvPicPr>
                <p:cNvPr id="70" name="Graphic 69" descr="Alarm Ringing outline">
                  <a:extLst>
                    <a:ext uri="{FF2B5EF4-FFF2-40B4-BE49-F238E27FC236}">
                      <a16:creationId xmlns:a16="http://schemas.microsoft.com/office/drawing/2014/main" id="{2DC00489-8EF9-A1C1-5199-76D4148C6E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29418" y="1780144"/>
                  <a:ext cx="722046" cy="722046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E88E998C-5050-92E2-0D8F-53D3FB08B5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8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7894C-9F96-1C15-8325-4DB58D3A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7C158BF5-7B21-EB72-B3AC-855A47395BD0}"/>
              </a:ext>
            </a:extLst>
          </p:cNvPr>
          <p:cNvSpPr/>
          <p:nvPr/>
        </p:nvSpPr>
        <p:spPr>
          <a:xfrm>
            <a:off x="1282701" y="4635373"/>
            <a:ext cx="10858500" cy="21127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D4CD910-2788-F3FA-DDB8-1B5CDCA808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0801" y="725028"/>
            <a:ext cx="8489951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lang="en-US" sz="3600" spc="-100" dirty="0">
                <a:solidFill>
                  <a:schemeClr val="accent6"/>
                </a:solidFill>
              </a:rPr>
              <a:t>Mobile</a:t>
            </a:r>
            <a:r>
              <a:rPr lang="en-US" sz="3600" spc="-20" dirty="0">
                <a:solidFill>
                  <a:schemeClr val="accent6"/>
                </a:solidFill>
              </a:rPr>
              <a:t> </a:t>
            </a:r>
            <a:r>
              <a:rPr lang="en-US" sz="3600" spc="-100" dirty="0">
                <a:solidFill>
                  <a:schemeClr val="accent6"/>
                </a:solidFill>
              </a:rPr>
              <a:t>App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D2909B1-D8CC-5B89-7EE5-CB7ABC0A8DCD}"/>
              </a:ext>
            </a:extLst>
          </p:cNvPr>
          <p:cNvSpPr txBox="1"/>
          <p:nvPr/>
        </p:nvSpPr>
        <p:spPr>
          <a:xfrm>
            <a:off x="10689232" y="67889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49F3F5-F54D-6257-3B5C-27B28E5115E5}"/>
              </a:ext>
            </a:extLst>
          </p:cNvPr>
          <p:cNvSpPr txBox="1"/>
          <p:nvPr/>
        </p:nvSpPr>
        <p:spPr>
          <a:xfrm>
            <a:off x="1143000" y="1026061"/>
            <a:ext cx="4762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 Medium"/>
                <a:cs typeface="Montserrat Medium"/>
              </a:rPr>
              <a:t>Interactive lesson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22CE124-15F2-1CB9-B6BC-D765B1FFFBEA}"/>
              </a:ext>
            </a:extLst>
          </p:cNvPr>
          <p:cNvGrpSpPr/>
          <p:nvPr/>
        </p:nvGrpSpPr>
        <p:grpSpPr>
          <a:xfrm>
            <a:off x="914400" y="1779872"/>
            <a:ext cx="9558983" cy="2764829"/>
            <a:chOff x="902006" y="1905663"/>
            <a:chExt cx="9558983" cy="2764829"/>
          </a:xfrm>
        </p:grpSpPr>
        <p:grpSp>
          <p:nvGrpSpPr>
            <p:cNvPr id="17" name="object 11">
              <a:extLst>
                <a:ext uri="{FF2B5EF4-FFF2-40B4-BE49-F238E27FC236}">
                  <a16:creationId xmlns:a16="http://schemas.microsoft.com/office/drawing/2014/main" id="{309E3F0A-6F3D-84A1-C6EF-5584079EDB85}"/>
                </a:ext>
              </a:extLst>
            </p:cNvPr>
            <p:cNvGrpSpPr/>
            <p:nvPr/>
          </p:nvGrpSpPr>
          <p:grpSpPr>
            <a:xfrm>
              <a:off x="909380" y="1925070"/>
              <a:ext cx="9365225" cy="685800"/>
              <a:chOff x="914399" y="4610099"/>
              <a:chExt cx="16108982" cy="1066800"/>
            </a:xfrm>
          </p:grpSpPr>
          <p:sp>
            <p:nvSpPr>
              <p:cNvPr id="18" name="object 12">
                <a:extLst>
                  <a:ext uri="{FF2B5EF4-FFF2-40B4-BE49-F238E27FC236}">
                    <a16:creationId xmlns:a16="http://schemas.microsoft.com/office/drawing/2014/main" id="{6B6400B0-241B-92C3-FEC7-62B1E10DEEA2}"/>
                  </a:ext>
                </a:extLst>
              </p:cNvPr>
              <p:cNvSpPr/>
              <p:nvPr/>
            </p:nvSpPr>
            <p:spPr>
              <a:xfrm>
                <a:off x="933447" y="4610099"/>
                <a:ext cx="16089934" cy="1066800"/>
              </a:xfrm>
              <a:custGeom>
                <a:avLst/>
                <a:gdLst/>
                <a:ahLst/>
                <a:cxnLst/>
                <a:rect l="l" t="t" r="r" b="b"/>
                <a:pathLst>
                  <a:path w="10344150" h="1066800">
                    <a:moveTo>
                      <a:pt x="10272952" y="1066799"/>
                    </a:moveTo>
                    <a:lnTo>
                      <a:pt x="0" y="1066799"/>
                    </a:lnTo>
                    <a:lnTo>
                      <a:pt x="0" y="0"/>
                    </a:lnTo>
                    <a:lnTo>
                      <a:pt x="10272952" y="0"/>
                    </a:lnTo>
                    <a:lnTo>
                      <a:pt x="10277906" y="488"/>
                    </a:lnTo>
                    <a:lnTo>
                      <a:pt x="10314440" y="15621"/>
                    </a:lnTo>
                    <a:lnTo>
                      <a:pt x="10340262" y="51661"/>
                    </a:lnTo>
                    <a:lnTo>
                      <a:pt x="10344148" y="71196"/>
                    </a:lnTo>
                    <a:lnTo>
                      <a:pt x="10344148" y="995603"/>
                    </a:lnTo>
                    <a:lnTo>
                      <a:pt x="10328525" y="1037094"/>
                    </a:lnTo>
                    <a:lnTo>
                      <a:pt x="10292486" y="1062913"/>
                    </a:lnTo>
                    <a:lnTo>
                      <a:pt x="10272952" y="1066799"/>
                    </a:lnTo>
                    <a:close/>
                  </a:path>
                </a:pathLst>
              </a:custGeom>
              <a:solidFill>
                <a:srgbClr val="FF6A00">
                  <a:alpha val="5099"/>
                </a:srgbClr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23AFF4A5-0453-ED2D-137E-4DD84D27CA56}"/>
                  </a:ext>
                </a:extLst>
              </p:cNvPr>
              <p:cNvSpPr/>
              <p:nvPr/>
            </p:nvSpPr>
            <p:spPr>
              <a:xfrm>
                <a:off x="914399" y="4610099"/>
                <a:ext cx="38100" cy="10668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66800">
                    <a:moveTo>
                      <a:pt x="38099" y="1066799"/>
                    </a:moveTo>
                    <a:lnTo>
                      <a:pt x="0" y="1066799"/>
                    </a:lnTo>
                    <a:lnTo>
                      <a:pt x="0" y="0"/>
                    </a:lnTo>
                    <a:lnTo>
                      <a:pt x="38099" y="0"/>
                    </a:lnTo>
                    <a:lnTo>
                      <a:pt x="38099" y="1066799"/>
                    </a:lnTo>
                    <a:close/>
                  </a:path>
                </a:pathLst>
              </a:custGeom>
              <a:solidFill>
                <a:srgbClr val="FF6A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13CF5B4-9DC4-2F64-C357-1C1B7DB03D15}"/>
                </a:ext>
              </a:extLst>
            </p:cNvPr>
            <p:cNvSpPr txBox="1"/>
            <p:nvPr/>
          </p:nvSpPr>
          <p:spPr>
            <a:xfrm>
              <a:off x="1727834" y="1985532"/>
              <a:ext cx="571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accent6"/>
                  </a:solidFill>
                </a:rPr>
                <a:t>Fretboard Display &amp; Note </a:t>
              </a:r>
              <a:r>
                <a:rPr lang="en-US" sz="2400" b="1" spc="-10" dirty="0">
                  <a:solidFill>
                    <a:schemeClr val="accent6"/>
                  </a:solidFill>
                </a:rPr>
                <a:t>Mapping</a:t>
              </a:r>
              <a:endParaRPr lang="en-US" sz="2400" b="1" dirty="0">
                <a:solidFill>
                  <a:schemeClr val="accent6"/>
                </a:solidFill>
              </a:endParaRPr>
            </a:p>
          </p:txBody>
        </p:sp>
        <p:pic>
          <p:nvPicPr>
            <p:cNvPr id="25" name="Graphic 24" descr="Artist male outline">
              <a:extLst>
                <a:ext uri="{FF2B5EF4-FFF2-40B4-BE49-F238E27FC236}">
                  <a16:creationId xmlns:a16="http://schemas.microsoft.com/office/drawing/2014/main" id="{F4F9858B-656C-4DE9-A038-7A7A82E9A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5501" y="1905663"/>
              <a:ext cx="722333" cy="722333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E9F584D-9F02-0BE4-0444-1DC0C1C356C3}"/>
                </a:ext>
              </a:extLst>
            </p:cNvPr>
            <p:cNvGrpSpPr/>
            <p:nvPr/>
          </p:nvGrpSpPr>
          <p:grpSpPr>
            <a:xfrm>
              <a:off x="902006" y="2828993"/>
              <a:ext cx="5676900" cy="1841499"/>
              <a:chOff x="6210299" y="1482725"/>
              <a:chExt cx="5676900" cy="1841499"/>
            </a:xfrm>
          </p:grpSpPr>
          <p:sp>
            <p:nvSpPr>
              <p:cNvPr id="27" name="object 16">
                <a:extLst>
                  <a:ext uri="{FF2B5EF4-FFF2-40B4-BE49-F238E27FC236}">
                    <a16:creationId xmlns:a16="http://schemas.microsoft.com/office/drawing/2014/main" id="{567BFC6E-7A34-9F63-BCA0-458C0843BD4D}"/>
                  </a:ext>
                </a:extLst>
              </p:cNvPr>
              <p:cNvSpPr/>
              <p:nvPr/>
            </p:nvSpPr>
            <p:spPr>
              <a:xfrm>
                <a:off x="6515099" y="1828799"/>
                <a:ext cx="381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28600">
                    <a:moveTo>
                      <a:pt x="38099" y="228599"/>
                    </a:moveTo>
                    <a:lnTo>
                      <a:pt x="0" y="228599"/>
                    </a:lnTo>
                    <a:lnTo>
                      <a:pt x="0" y="0"/>
                    </a:lnTo>
                    <a:lnTo>
                      <a:pt x="38099" y="0"/>
                    </a:lnTo>
                    <a:lnTo>
                      <a:pt x="38099" y="228599"/>
                    </a:lnTo>
                    <a:close/>
                  </a:path>
                </a:pathLst>
              </a:custGeom>
              <a:solidFill>
                <a:srgbClr val="FF54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17">
                <a:extLst>
                  <a:ext uri="{FF2B5EF4-FFF2-40B4-BE49-F238E27FC236}">
                    <a16:creationId xmlns:a16="http://schemas.microsoft.com/office/drawing/2014/main" id="{88FCC18C-D30D-9AEF-4D9F-679AF4F20641}"/>
                  </a:ext>
                </a:extLst>
              </p:cNvPr>
              <p:cNvSpPr/>
              <p:nvPr/>
            </p:nvSpPr>
            <p:spPr>
              <a:xfrm>
                <a:off x="6515099" y="2152649"/>
                <a:ext cx="381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28600">
                    <a:moveTo>
                      <a:pt x="38099" y="228599"/>
                    </a:moveTo>
                    <a:lnTo>
                      <a:pt x="0" y="228599"/>
                    </a:lnTo>
                    <a:lnTo>
                      <a:pt x="0" y="0"/>
                    </a:lnTo>
                    <a:lnTo>
                      <a:pt x="38099" y="0"/>
                    </a:lnTo>
                    <a:lnTo>
                      <a:pt x="38099" y="228599"/>
                    </a:lnTo>
                    <a:close/>
                  </a:path>
                </a:pathLst>
              </a:custGeom>
              <a:solidFill>
                <a:srgbClr val="FF54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18">
                <a:extLst>
                  <a:ext uri="{FF2B5EF4-FFF2-40B4-BE49-F238E27FC236}">
                    <a16:creationId xmlns:a16="http://schemas.microsoft.com/office/drawing/2014/main" id="{194C0AA5-E753-2D6A-594A-4EE90D68F091}"/>
                  </a:ext>
                </a:extLst>
              </p:cNvPr>
              <p:cNvSpPr/>
              <p:nvPr/>
            </p:nvSpPr>
            <p:spPr>
              <a:xfrm>
                <a:off x="6515099" y="2476499"/>
                <a:ext cx="5372100" cy="847725"/>
              </a:xfrm>
              <a:custGeom>
                <a:avLst/>
                <a:gdLst/>
                <a:ahLst/>
                <a:cxnLst/>
                <a:rect l="l" t="t" r="r" b="b"/>
                <a:pathLst>
                  <a:path w="5372100" h="847725">
                    <a:moveTo>
                      <a:pt x="5300902" y="847724"/>
                    </a:moveTo>
                    <a:lnTo>
                      <a:pt x="71196" y="847724"/>
                    </a:lnTo>
                    <a:lnTo>
                      <a:pt x="66240" y="847236"/>
                    </a:lnTo>
                    <a:lnTo>
                      <a:pt x="29704" y="832102"/>
                    </a:lnTo>
                    <a:lnTo>
                      <a:pt x="3885" y="796062"/>
                    </a:lnTo>
                    <a:lnTo>
                      <a:pt x="0" y="776527"/>
                    </a:lnTo>
                    <a:lnTo>
                      <a:pt x="0" y="771524"/>
                    </a:lnTo>
                    <a:lnTo>
                      <a:pt x="0" y="71196"/>
                    </a:lnTo>
                    <a:lnTo>
                      <a:pt x="15619" y="29705"/>
                    </a:lnTo>
                    <a:lnTo>
                      <a:pt x="51661" y="3885"/>
                    </a:lnTo>
                    <a:lnTo>
                      <a:pt x="71196" y="0"/>
                    </a:lnTo>
                    <a:lnTo>
                      <a:pt x="5300902" y="0"/>
                    </a:lnTo>
                    <a:lnTo>
                      <a:pt x="5342392" y="15621"/>
                    </a:lnTo>
                    <a:lnTo>
                      <a:pt x="5368212" y="51661"/>
                    </a:lnTo>
                    <a:lnTo>
                      <a:pt x="5372098" y="71196"/>
                    </a:lnTo>
                    <a:lnTo>
                      <a:pt x="5372098" y="776527"/>
                    </a:lnTo>
                    <a:lnTo>
                      <a:pt x="5356476" y="818019"/>
                    </a:lnTo>
                    <a:lnTo>
                      <a:pt x="5320436" y="843838"/>
                    </a:lnTo>
                    <a:lnTo>
                      <a:pt x="5305857" y="847236"/>
                    </a:lnTo>
                    <a:lnTo>
                      <a:pt x="5300902" y="847724"/>
                    </a:lnTo>
                    <a:close/>
                  </a:path>
                </a:pathLst>
              </a:custGeom>
              <a:solidFill>
                <a:srgbClr val="F7F7F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0" name="object 19">
                <a:extLst>
                  <a:ext uri="{FF2B5EF4-FFF2-40B4-BE49-F238E27FC236}">
                    <a16:creationId xmlns:a16="http://schemas.microsoft.com/office/drawing/2014/main" id="{90C1063F-3378-B620-CA54-90B0593750A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210299" y="1504235"/>
                <a:ext cx="228600" cy="229314"/>
              </a:xfrm>
              <a:prstGeom prst="rect">
                <a:avLst/>
              </a:prstGeom>
            </p:spPr>
          </p:pic>
          <p:sp>
            <p:nvSpPr>
              <p:cNvPr id="31" name="object 20">
                <a:extLst>
                  <a:ext uri="{FF2B5EF4-FFF2-40B4-BE49-F238E27FC236}">
                    <a16:creationId xmlns:a16="http://schemas.microsoft.com/office/drawing/2014/main" id="{7239F827-64F0-5B73-9FDA-294C4BA7C40F}"/>
                  </a:ext>
                </a:extLst>
              </p:cNvPr>
              <p:cNvSpPr txBox="1"/>
              <p:nvPr/>
            </p:nvSpPr>
            <p:spPr>
              <a:xfrm>
                <a:off x="6540500" y="1482725"/>
                <a:ext cx="3429635" cy="55118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500" b="1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Note</a:t>
                </a:r>
                <a:r>
                  <a:rPr sz="1500" b="1" spc="-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500" b="1" spc="-1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Representation:</a:t>
                </a:r>
                <a:endParaRPr sz="1500" dirty="0">
                  <a:latin typeface="Liberation Sans"/>
                  <a:cs typeface="Liberation Sans"/>
                </a:endParaRPr>
              </a:p>
              <a:p>
                <a:pPr marL="154940">
                  <a:lnSpc>
                    <a:spcPct val="100000"/>
                  </a:lnSpc>
                  <a:spcBef>
                    <a:spcPts val="900"/>
                  </a:spcBef>
                </a:pP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Notes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are white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circles with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orange fret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spc="-1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numbers</a:t>
                </a:r>
                <a:endParaRPr sz="1200" dirty="0">
                  <a:latin typeface="Liberation Sans"/>
                  <a:cs typeface="Liberation Sans"/>
                </a:endParaRPr>
              </a:p>
            </p:txBody>
          </p:sp>
          <p:sp>
            <p:nvSpPr>
              <p:cNvPr id="32" name="object 21">
                <a:extLst>
                  <a:ext uri="{FF2B5EF4-FFF2-40B4-BE49-F238E27FC236}">
                    <a16:creationId xmlns:a16="http://schemas.microsoft.com/office/drawing/2014/main" id="{91230AF6-99CA-3F78-8827-2A6061E53EA2}"/>
                  </a:ext>
                </a:extLst>
              </p:cNvPr>
              <p:cNvSpPr txBox="1"/>
              <p:nvPr/>
            </p:nvSpPr>
            <p:spPr>
              <a:xfrm>
                <a:off x="6683375" y="2149475"/>
                <a:ext cx="2766060" cy="20827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Mapped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using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MIDI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pitch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+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guitar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spc="-1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tuning:</a:t>
                </a:r>
                <a:endParaRPr sz="1200">
                  <a:latin typeface="Liberation Sans"/>
                  <a:cs typeface="Liberation Sans"/>
                </a:endParaRPr>
              </a:p>
            </p:txBody>
          </p:sp>
          <p:sp>
            <p:nvSpPr>
              <p:cNvPr id="33" name="object 22">
                <a:extLst>
                  <a:ext uri="{FF2B5EF4-FFF2-40B4-BE49-F238E27FC236}">
                    <a16:creationId xmlns:a16="http://schemas.microsoft.com/office/drawing/2014/main" id="{EBD06DB1-BAD3-7D99-4D42-DF8F4FD5A2AF}"/>
                  </a:ext>
                </a:extLst>
              </p:cNvPr>
              <p:cNvSpPr txBox="1"/>
              <p:nvPr/>
            </p:nvSpPr>
            <p:spPr>
              <a:xfrm>
                <a:off x="6578600" y="2462657"/>
                <a:ext cx="1346200" cy="758825"/>
              </a:xfrm>
              <a:prstGeom prst="rect">
                <a:avLst/>
              </a:prstGeom>
            </p:spPr>
            <p:txBody>
              <a:bodyPr vert="horz" wrap="square" lIns="0" tIns="99695" rIns="0" bIns="0" rtlCol="0">
                <a:spAutoFit/>
              </a:bodyPr>
              <a:lstStyle/>
              <a:p>
                <a:pPr marL="97790" indent="-85090">
                  <a:lnSpc>
                    <a:spcPct val="100000"/>
                  </a:lnSpc>
                  <a:spcBef>
                    <a:spcPts val="785"/>
                  </a:spcBef>
                  <a:buChar char="•"/>
                  <a:tabLst>
                    <a:tab pos="97790" algn="l"/>
                  </a:tabLst>
                </a:pP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String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6: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40–44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spc="-2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(E2)</a:t>
                </a:r>
                <a:endParaRPr sz="1050">
                  <a:latin typeface="Liberation Sans"/>
                  <a:cs typeface="Liberation Sans"/>
                </a:endParaRPr>
              </a:p>
              <a:p>
                <a:pPr marL="97790" indent="-85090">
                  <a:lnSpc>
                    <a:spcPct val="100000"/>
                  </a:lnSpc>
                  <a:spcBef>
                    <a:spcPts val="690"/>
                  </a:spcBef>
                  <a:buChar char="•"/>
                  <a:tabLst>
                    <a:tab pos="97790" algn="l"/>
                  </a:tabLst>
                </a:pP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String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5: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45–49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spc="-2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(A2)</a:t>
                </a:r>
                <a:endParaRPr sz="1050">
                  <a:latin typeface="Liberation Sans"/>
                  <a:cs typeface="Liberation Sans"/>
                </a:endParaRPr>
              </a:p>
              <a:p>
                <a:pPr marL="97790" indent="-85090">
                  <a:lnSpc>
                    <a:spcPct val="100000"/>
                  </a:lnSpc>
                  <a:spcBef>
                    <a:spcPts val="610"/>
                  </a:spcBef>
                  <a:buChar char="•"/>
                  <a:tabLst>
                    <a:tab pos="97790" algn="l"/>
                  </a:tabLst>
                </a:pP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String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4: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50–54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spc="-2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(D3)</a:t>
                </a:r>
                <a:endParaRPr sz="1050">
                  <a:latin typeface="Liberation Sans"/>
                  <a:cs typeface="Liberation Sans"/>
                </a:endParaRPr>
              </a:p>
            </p:txBody>
          </p:sp>
          <p:sp>
            <p:nvSpPr>
              <p:cNvPr id="34" name="object 23">
                <a:extLst>
                  <a:ext uri="{FF2B5EF4-FFF2-40B4-BE49-F238E27FC236}">
                    <a16:creationId xmlns:a16="http://schemas.microsoft.com/office/drawing/2014/main" id="{0BC35B0C-B0BF-3A98-4A47-BE4E33AD9B24}"/>
                  </a:ext>
                </a:extLst>
              </p:cNvPr>
              <p:cNvSpPr txBox="1"/>
              <p:nvPr/>
            </p:nvSpPr>
            <p:spPr>
              <a:xfrm>
                <a:off x="9207500" y="2462657"/>
                <a:ext cx="1353820" cy="758825"/>
              </a:xfrm>
              <a:prstGeom prst="rect">
                <a:avLst/>
              </a:prstGeom>
            </p:spPr>
            <p:txBody>
              <a:bodyPr vert="horz" wrap="square" lIns="0" tIns="99695" rIns="0" bIns="0" rtlCol="0">
                <a:spAutoFit/>
              </a:bodyPr>
              <a:lstStyle/>
              <a:p>
                <a:pPr marL="97790" indent="-85090">
                  <a:lnSpc>
                    <a:spcPct val="100000"/>
                  </a:lnSpc>
                  <a:spcBef>
                    <a:spcPts val="785"/>
                  </a:spcBef>
                  <a:buChar char="•"/>
                  <a:tabLst>
                    <a:tab pos="97790" algn="l"/>
                  </a:tabLst>
                </a:pP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String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3: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55–58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spc="-2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(G3)</a:t>
                </a:r>
                <a:endParaRPr sz="1050">
                  <a:latin typeface="Liberation Sans"/>
                  <a:cs typeface="Liberation Sans"/>
                </a:endParaRPr>
              </a:p>
              <a:p>
                <a:pPr marL="97790" indent="-85090">
                  <a:lnSpc>
                    <a:spcPct val="100000"/>
                  </a:lnSpc>
                  <a:spcBef>
                    <a:spcPts val="690"/>
                  </a:spcBef>
                  <a:buChar char="•"/>
                  <a:tabLst>
                    <a:tab pos="97790" algn="l"/>
                  </a:tabLst>
                </a:pP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String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2: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59–63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spc="-2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(B3)</a:t>
                </a:r>
                <a:endParaRPr sz="1050">
                  <a:latin typeface="Liberation Sans"/>
                  <a:cs typeface="Liberation Sans"/>
                </a:endParaRPr>
              </a:p>
              <a:p>
                <a:pPr marL="97790" indent="-85090">
                  <a:lnSpc>
                    <a:spcPct val="100000"/>
                  </a:lnSpc>
                  <a:spcBef>
                    <a:spcPts val="610"/>
                  </a:spcBef>
                  <a:buChar char="•"/>
                  <a:tabLst>
                    <a:tab pos="97790" algn="l"/>
                  </a:tabLst>
                </a:pP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String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1: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64–76</a:t>
                </a:r>
                <a:r>
                  <a:rPr sz="1050" spc="3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050" spc="-2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(E4)</a:t>
                </a:r>
                <a:endParaRPr sz="1050">
                  <a:latin typeface="Liberation Sans"/>
                  <a:cs typeface="Liberation Sans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C443D92-561C-8E7A-51FD-8620D688B5D7}"/>
                </a:ext>
              </a:extLst>
            </p:cNvPr>
            <p:cNvGrpSpPr/>
            <p:nvPr/>
          </p:nvGrpSpPr>
          <p:grpSpPr>
            <a:xfrm>
              <a:off x="6934199" y="2840105"/>
              <a:ext cx="3526790" cy="898524"/>
              <a:chOff x="304799" y="2854325"/>
              <a:chExt cx="3526790" cy="898524"/>
            </a:xfrm>
          </p:grpSpPr>
          <p:sp>
            <p:nvSpPr>
              <p:cNvPr id="36" name="object 7">
                <a:extLst>
                  <a:ext uri="{FF2B5EF4-FFF2-40B4-BE49-F238E27FC236}">
                    <a16:creationId xmlns:a16="http://schemas.microsoft.com/office/drawing/2014/main" id="{C47865C0-F1CC-56E3-DF49-205BBCE28501}"/>
                  </a:ext>
                </a:extLst>
              </p:cNvPr>
              <p:cNvSpPr/>
              <p:nvPr/>
            </p:nvSpPr>
            <p:spPr>
              <a:xfrm>
                <a:off x="609599" y="3200399"/>
                <a:ext cx="381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28600">
                    <a:moveTo>
                      <a:pt x="38099" y="228599"/>
                    </a:moveTo>
                    <a:lnTo>
                      <a:pt x="0" y="228599"/>
                    </a:lnTo>
                    <a:lnTo>
                      <a:pt x="0" y="0"/>
                    </a:lnTo>
                    <a:lnTo>
                      <a:pt x="38099" y="0"/>
                    </a:lnTo>
                    <a:lnTo>
                      <a:pt x="38099" y="228599"/>
                    </a:lnTo>
                    <a:close/>
                  </a:path>
                </a:pathLst>
              </a:custGeom>
              <a:solidFill>
                <a:srgbClr val="FF54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8">
                <a:extLst>
                  <a:ext uri="{FF2B5EF4-FFF2-40B4-BE49-F238E27FC236}">
                    <a16:creationId xmlns:a16="http://schemas.microsoft.com/office/drawing/2014/main" id="{4521016C-032C-1CC1-3E36-604ADF4AE158}"/>
                  </a:ext>
                </a:extLst>
              </p:cNvPr>
              <p:cNvSpPr/>
              <p:nvPr/>
            </p:nvSpPr>
            <p:spPr>
              <a:xfrm>
                <a:off x="609599" y="3524249"/>
                <a:ext cx="381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28600">
                    <a:moveTo>
                      <a:pt x="38099" y="228599"/>
                    </a:moveTo>
                    <a:lnTo>
                      <a:pt x="0" y="228599"/>
                    </a:lnTo>
                    <a:lnTo>
                      <a:pt x="0" y="0"/>
                    </a:lnTo>
                    <a:lnTo>
                      <a:pt x="38099" y="0"/>
                    </a:lnTo>
                    <a:lnTo>
                      <a:pt x="38099" y="228599"/>
                    </a:lnTo>
                    <a:close/>
                  </a:path>
                </a:pathLst>
              </a:custGeom>
              <a:solidFill>
                <a:srgbClr val="FF54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8" name="object 13">
                <a:extLst>
                  <a:ext uri="{FF2B5EF4-FFF2-40B4-BE49-F238E27FC236}">
                    <a16:creationId xmlns:a16="http://schemas.microsoft.com/office/drawing/2014/main" id="{F5840016-F071-5BBE-D44E-E39E25757726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04799" y="2876549"/>
                <a:ext cx="171450" cy="228600"/>
              </a:xfrm>
              <a:prstGeom prst="rect">
                <a:avLst/>
              </a:prstGeom>
            </p:spPr>
          </p:pic>
          <p:sp>
            <p:nvSpPr>
              <p:cNvPr id="39" name="object 14">
                <a:extLst>
                  <a:ext uri="{FF2B5EF4-FFF2-40B4-BE49-F238E27FC236}">
                    <a16:creationId xmlns:a16="http://schemas.microsoft.com/office/drawing/2014/main" id="{54D0E894-01C1-C42A-C8C2-B18904930EF9}"/>
                  </a:ext>
                </a:extLst>
              </p:cNvPr>
              <p:cNvSpPr txBox="1"/>
              <p:nvPr/>
            </p:nvSpPr>
            <p:spPr>
              <a:xfrm>
                <a:off x="577849" y="2854325"/>
                <a:ext cx="2318385" cy="55118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500" b="1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Fret</a:t>
                </a:r>
                <a:r>
                  <a:rPr sz="1500" b="1" spc="-4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500" b="1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Number</a:t>
                </a:r>
                <a:r>
                  <a:rPr sz="1500" b="1" spc="-4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500" b="1" spc="-1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Calculation:</a:t>
                </a:r>
                <a:endParaRPr sz="1500" dirty="0">
                  <a:latin typeface="Liberation Sans"/>
                  <a:cs typeface="Liberation Sans"/>
                </a:endParaRPr>
              </a:p>
              <a:p>
                <a:pPr marL="212090">
                  <a:lnSpc>
                    <a:spcPct val="100000"/>
                  </a:lnSpc>
                  <a:spcBef>
                    <a:spcPts val="900"/>
                  </a:spcBef>
                </a:pP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fret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=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pitch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−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spc="-1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open_string_pitch</a:t>
                </a:r>
                <a:endParaRPr sz="1200" dirty="0">
                  <a:latin typeface="Liberation Sans"/>
                  <a:cs typeface="Liberation Sans"/>
                </a:endParaRPr>
              </a:p>
            </p:txBody>
          </p:sp>
          <p:sp>
            <p:nvSpPr>
              <p:cNvPr id="40" name="object 15">
                <a:extLst>
                  <a:ext uri="{FF2B5EF4-FFF2-40B4-BE49-F238E27FC236}">
                    <a16:creationId xmlns:a16="http://schemas.microsoft.com/office/drawing/2014/main" id="{9AB788C1-D61E-C1D0-5296-0EF3F485EF7A}"/>
                  </a:ext>
                </a:extLst>
              </p:cNvPr>
              <p:cNvSpPr txBox="1"/>
              <p:nvPr/>
            </p:nvSpPr>
            <p:spPr>
              <a:xfrm>
                <a:off x="777874" y="3521075"/>
                <a:ext cx="3053715" cy="20827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Example:</a:t>
                </a:r>
                <a:r>
                  <a:rPr sz="1200" spc="-1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MIDI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42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→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String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6,</a:t>
                </a:r>
                <a:r>
                  <a:rPr sz="1200" spc="-1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Fret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2</a:t>
                </a:r>
                <a:r>
                  <a:rPr sz="1200" spc="-5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 </a:t>
                </a:r>
                <a:r>
                  <a:rPr sz="1200" spc="-10" dirty="0">
                    <a:solidFill>
                      <a:srgbClr val="333333"/>
                    </a:solidFill>
                    <a:latin typeface="Liberation Sans"/>
                    <a:cs typeface="Liberation Sans"/>
                  </a:rPr>
                  <a:t>(42−40)</a:t>
                </a:r>
                <a:endParaRPr sz="1200" dirty="0">
                  <a:latin typeface="Liberation Sans"/>
                  <a:cs typeface="Liberation Sans"/>
                </a:endParaRP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2034C7D-F467-86FB-BD65-74244194F035}"/>
              </a:ext>
            </a:extLst>
          </p:cNvPr>
          <p:cNvGrpSpPr/>
          <p:nvPr/>
        </p:nvGrpSpPr>
        <p:grpSpPr>
          <a:xfrm>
            <a:off x="533400" y="4778095"/>
            <a:ext cx="11582400" cy="1970011"/>
            <a:chOff x="294505" y="4335732"/>
            <a:chExt cx="11582400" cy="1970011"/>
          </a:xfrm>
        </p:grpSpPr>
        <p:sp>
          <p:nvSpPr>
            <p:cNvPr id="43" name="object 28">
              <a:extLst>
                <a:ext uri="{FF2B5EF4-FFF2-40B4-BE49-F238E27FC236}">
                  <a16:creationId xmlns:a16="http://schemas.microsoft.com/office/drawing/2014/main" id="{FB6F05A4-6AAD-9F6B-8C21-5F576C45C435}"/>
                </a:ext>
              </a:extLst>
            </p:cNvPr>
            <p:cNvSpPr/>
            <p:nvPr/>
          </p:nvSpPr>
          <p:spPr>
            <a:xfrm>
              <a:off x="3608510" y="4335732"/>
              <a:ext cx="381000" cy="1970011"/>
            </a:xfrm>
            <a:custGeom>
              <a:avLst/>
              <a:gdLst/>
              <a:ahLst/>
              <a:cxnLst/>
              <a:rect l="l" t="t" r="r" b="b"/>
              <a:pathLst>
                <a:path w="381000" h="1714500">
                  <a:moveTo>
                    <a:pt x="380999" y="1714499"/>
                  </a:moveTo>
                  <a:lnTo>
                    <a:pt x="0" y="1714499"/>
                  </a:lnTo>
                  <a:lnTo>
                    <a:pt x="0" y="0"/>
                  </a:lnTo>
                  <a:lnTo>
                    <a:pt x="380999" y="0"/>
                  </a:lnTo>
                  <a:lnTo>
                    <a:pt x="380999" y="1714499"/>
                  </a:lnTo>
                  <a:close/>
                </a:path>
              </a:pathLst>
            </a:custGeom>
            <a:solidFill>
              <a:srgbClr val="00FF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29">
              <a:extLst>
                <a:ext uri="{FF2B5EF4-FFF2-40B4-BE49-F238E27FC236}">
                  <a16:creationId xmlns:a16="http://schemas.microsoft.com/office/drawing/2014/main" id="{BF840739-7191-4F45-088D-0918E51096F9}"/>
                </a:ext>
              </a:extLst>
            </p:cNvPr>
            <p:cNvSpPr/>
            <p:nvPr/>
          </p:nvSpPr>
          <p:spPr>
            <a:xfrm>
              <a:off x="294505" y="4438774"/>
              <a:ext cx="11582400" cy="1714500"/>
            </a:xfrm>
            <a:custGeom>
              <a:avLst/>
              <a:gdLst/>
              <a:ahLst/>
              <a:cxnLst/>
              <a:rect l="l" t="t" r="r" b="b"/>
              <a:pathLst>
                <a:path w="11582400" h="1714500">
                  <a:moveTo>
                    <a:pt x="11582400" y="190500"/>
                  </a:moveTo>
                  <a:lnTo>
                    <a:pt x="3514725" y="190500"/>
                  </a:lnTo>
                  <a:lnTo>
                    <a:pt x="3514725" y="0"/>
                  </a:lnTo>
                  <a:lnTo>
                    <a:pt x="3476625" y="0"/>
                  </a:lnTo>
                  <a:lnTo>
                    <a:pt x="3476625" y="190500"/>
                  </a:lnTo>
                  <a:lnTo>
                    <a:pt x="0" y="190500"/>
                  </a:lnTo>
                  <a:lnTo>
                    <a:pt x="0" y="209550"/>
                  </a:lnTo>
                  <a:lnTo>
                    <a:pt x="3476625" y="209550"/>
                  </a:lnTo>
                  <a:lnTo>
                    <a:pt x="3476625" y="476250"/>
                  </a:lnTo>
                  <a:lnTo>
                    <a:pt x="0" y="476250"/>
                  </a:lnTo>
                  <a:lnTo>
                    <a:pt x="0" y="495300"/>
                  </a:lnTo>
                  <a:lnTo>
                    <a:pt x="3476625" y="495300"/>
                  </a:lnTo>
                  <a:lnTo>
                    <a:pt x="3476625" y="762000"/>
                  </a:lnTo>
                  <a:lnTo>
                    <a:pt x="0" y="762000"/>
                  </a:lnTo>
                  <a:lnTo>
                    <a:pt x="0" y="781050"/>
                  </a:lnTo>
                  <a:lnTo>
                    <a:pt x="3476625" y="781050"/>
                  </a:lnTo>
                  <a:lnTo>
                    <a:pt x="3476625" y="1047750"/>
                  </a:lnTo>
                  <a:lnTo>
                    <a:pt x="0" y="1047750"/>
                  </a:lnTo>
                  <a:lnTo>
                    <a:pt x="0" y="1066800"/>
                  </a:lnTo>
                  <a:lnTo>
                    <a:pt x="3476625" y="1066800"/>
                  </a:lnTo>
                  <a:lnTo>
                    <a:pt x="3476625" y="1333500"/>
                  </a:lnTo>
                  <a:lnTo>
                    <a:pt x="0" y="1333500"/>
                  </a:lnTo>
                  <a:lnTo>
                    <a:pt x="0" y="1352550"/>
                  </a:lnTo>
                  <a:lnTo>
                    <a:pt x="3476625" y="1352550"/>
                  </a:lnTo>
                  <a:lnTo>
                    <a:pt x="3476625" y="1619250"/>
                  </a:lnTo>
                  <a:lnTo>
                    <a:pt x="0" y="1619250"/>
                  </a:lnTo>
                  <a:lnTo>
                    <a:pt x="0" y="1638300"/>
                  </a:lnTo>
                  <a:lnTo>
                    <a:pt x="3476625" y="1638300"/>
                  </a:lnTo>
                  <a:lnTo>
                    <a:pt x="3476625" y="1714500"/>
                  </a:lnTo>
                  <a:lnTo>
                    <a:pt x="3514725" y="1714500"/>
                  </a:lnTo>
                  <a:lnTo>
                    <a:pt x="3514725" y="1638300"/>
                  </a:lnTo>
                  <a:lnTo>
                    <a:pt x="11582400" y="1638300"/>
                  </a:lnTo>
                  <a:lnTo>
                    <a:pt x="11582400" y="1619250"/>
                  </a:lnTo>
                  <a:lnTo>
                    <a:pt x="3514725" y="1619250"/>
                  </a:lnTo>
                  <a:lnTo>
                    <a:pt x="3514725" y="1352550"/>
                  </a:lnTo>
                  <a:lnTo>
                    <a:pt x="11582400" y="1352550"/>
                  </a:lnTo>
                  <a:lnTo>
                    <a:pt x="11582400" y="1333500"/>
                  </a:lnTo>
                  <a:lnTo>
                    <a:pt x="3514725" y="1333500"/>
                  </a:lnTo>
                  <a:lnTo>
                    <a:pt x="3514725" y="1066800"/>
                  </a:lnTo>
                  <a:lnTo>
                    <a:pt x="11582400" y="1066800"/>
                  </a:lnTo>
                  <a:lnTo>
                    <a:pt x="11582400" y="1047750"/>
                  </a:lnTo>
                  <a:lnTo>
                    <a:pt x="3514725" y="1047750"/>
                  </a:lnTo>
                  <a:lnTo>
                    <a:pt x="3514725" y="781050"/>
                  </a:lnTo>
                  <a:lnTo>
                    <a:pt x="11582400" y="781050"/>
                  </a:lnTo>
                  <a:lnTo>
                    <a:pt x="11582400" y="762000"/>
                  </a:lnTo>
                  <a:lnTo>
                    <a:pt x="3514725" y="762000"/>
                  </a:lnTo>
                  <a:lnTo>
                    <a:pt x="3514725" y="495300"/>
                  </a:lnTo>
                  <a:lnTo>
                    <a:pt x="11582400" y="495300"/>
                  </a:lnTo>
                  <a:lnTo>
                    <a:pt x="11582400" y="476250"/>
                  </a:lnTo>
                  <a:lnTo>
                    <a:pt x="3514725" y="476250"/>
                  </a:lnTo>
                  <a:lnTo>
                    <a:pt x="3514725" y="209550"/>
                  </a:lnTo>
                  <a:lnTo>
                    <a:pt x="11582400" y="209550"/>
                  </a:lnTo>
                  <a:lnTo>
                    <a:pt x="11582400" y="190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5" name="object 30">
              <a:extLst>
                <a:ext uri="{FF2B5EF4-FFF2-40B4-BE49-F238E27FC236}">
                  <a16:creationId xmlns:a16="http://schemas.microsoft.com/office/drawing/2014/main" id="{EC114FAE-F0CB-8761-C0C9-761E2A3DE0F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33949" y="4552090"/>
              <a:ext cx="228599" cy="228599"/>
            </a:xfrm>
            <a:prstGeom prst="rect">
              <a:avLst/>
            </a:prstGeom>
          </p:spPr>
        </p:pic>
      </p:grpSp>
      <p:pic>
        <p:nvPicPr>
          <p:cNvPr id="48" name="object 30">
            <a:extLst>
              <a:ext uri="{FF2B5EF4-FFF2-40B4-BE49-F238E27FC236}">
                <a16:creationId xmlns:a16="http://schemas.microsoft.com/office/drawing/2014/main" id="{790CCD61-40B7-44CF-EF53-2876320C3A2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26581" y="5229632"/>
            <a:ext cx="228599" cy="228599"/>
          </a:xfrm>
          <a:prstGeom prst="rect">
            <a:avLst/>
          </a:prstGeom>
        </p:spPr>
      </p:pic>
      <p:pic>
        <p:nvPicPr>
          <p:cNvPr id="49" name="object 30">
            <a:extLst>
              <a:ext uri="{FF2B5EF4-FFF2-40B4-BE49-F238E27FC236}">
                <a16:creationId xmlns:a16="http://schemas.microsoft.com/office/drawing/2014/main" id="{847EF4D3-1703-8772-CF38-67CA723A238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87282" y="5527999"/>
            <a:ext cx="228599" cy="228599"/>
          </a:xfrm>
          <a:prstGeom prst="rect">
            <a:avLst/>
          </a:prstGeom>
        </p:spPr>
      </p:pic>
      <p:pic>
        <p:nvPicPr>
          <p:cNvPr id="50" name="object 30">
            <a:extLst>
              <a:ext uri="{FF2B5EF4-FFF2-40B4-BE49-F238E27FC236}">
                <a16:creationId xmlns:a16="http://schemas.microsoft.com/office/drawing/2014/main" id="{12FDC0E2-80E3-3E12-BAC3-21717E7B99A3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33651" y="5853975"/>
            <a:ext cx="228599" cy="228599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B19CF39-E9A6-FE89-5262-E5797BE1D5AF}"/>
              </a:ext>
            </a:extLst>
          </p:cNvPr>
          <p:cNvSpPr txBox="1"/>
          <p:nvPr/>
        </p:nvSpPr>
        <p:spPr>
          <a:xfrm>
            <a:off x="3098481" y="522305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0D3C13-9779-118C-AD3B-9E2BBA4DC212}"/>
              </a:ext>
            </a:extLst>
          </p:cNvPr>
          <p:cNvSpPr txBox="1"/>
          <p:nvPr/>
        </p:nvSpPr>
        <p:spPr>
          <a:xfrm>
            <a:off x="5152330" y="4987295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20DDC7-63B9-4999-EF58-D2581B062134}"/>
              </a:ext>
            </a:extLst>
          </p:cNvPr>
          <p:cNvSpPr txBox="1"/>
          <p:nvPr/>
        </p:nvSpPr>
        <p:spPr>
          <a:xfrm>
            <a:off x="6366768" y="552301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E5764E-099D-4C38-337E-74B04AEDF47A}"/>
              </a:ext>
            </a:extLst>
          </p:cNvPr>
          <p:cNvSpPr txBox="1"/>
          <p:nvPr/>
        </p:nvSpPr>
        <p:spPr>
          <a:xfrm>
            <a:off x="8013137" y="582977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A33E6-E680-8B50-75F3-018A0C3B00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071303" y="622423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bg1"/>
                </a:solidFill>
              </a:r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527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4713" y="913483"/>
            <a:ext cx="6859270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sz="3600" spc="-120" dirty="0">
                <a:solidFill>
                  <a:schemeClr val="accent6"/>
                </a:solidFill>
                <a:latin typeface="Montserrat"/>
                <a:cs typeface="Montserrat"/>
              </a:rPr>
              <a:t>Admin</a:t>
            </a:r>
            <a:r>
              <a:rPr sz="3600" spc="-5" dirty="0">
                <a:solidFill>
                  <a:schemeClr val="accent6"/>
                </a:solidFill>
                <a:latin typeface="Montserrat"/>
                <a:cs typeface="Montserrat"/>
              </a:rPr>
              <a:t> </a:t>
            </a:r>
            <a:r>
              <a:rPr sz="3600" spc="-85" dirty="0">
                <a:solidFill>
                  <a:schemeClr val="accent6"/>
                </a:solidFill>
                <a:latin typeface="Montserrat"/>
                <a:cs typeface="Montserrat"/>
              </a:rPr>
              <a:t>Portal</a:t>
            </a:r>
            <a:endParaRPr sz="3600" dirty="0">
              <a:solidFill>
                <a:schemeClr val="accent6"/>
              </a:solidFill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0070" y="2079610"/>
            <a:ext cx="10079990" cy="5788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4" marR="365125">
              <a:lnSpc>
                <a:spcPct val="105400"/>
              </a:lnSpc>
              <a:spcBef>
                <a:spcPts val="100"/>
              </a:spcBef>
              <a:buClr>
                <a:srgbClr val="FF6A00"/>
              </a:buClr>
              <a:buSzPct val="82352"/>
              <a:tabLst>
                <a:tab pos="220979" algn="l"/>
              </a:tabLst>
            </a:pPr>
            <a:r>
              <a:rPr b="1" spc="-140" dirty="0">
                <a:solidFill>
                  <a:srgbClr val="333333"/>
                </a:solidFill>
                <a:latin typeface="Montserrat SemiBold"/>
                <a:cs typeface="Montserrat SemiBold"/>
              </a:rPr>
              <a:t>Audio</a:t>
            </a:r>
            <a:r>
              <a:rPr b="1" spc="-20" dirty="0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b="1" spc="-135" dirty="0">
                <a:solidFill>
                  <a:srgbClr val="333333"/>
                </a:solidFill>
                <a:latin typeface="Montserrat SemiBold"/>
                <a:cs typeface="Montserrat SemiBold"/>
              </a:rPr>
              <a:t>upload</a:t>
            </a:r>
            <a:r>
              <a:rPr b="1" spc="-20" dirty="0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b="1" spc="-140" dirty="0">
                <a:solidFill>
                  <a:srgbClr val="333333"/>
                </a:solidFill>
                <a:latin typeface="Montserrat SemiBold"/>
                <a:cs typeface="Montserrat SemiBold"/>
              </a:rPr>
              <a:t>and</a:t>
            </a:r>
            <a:r>
              <a:rPr b="1" spc="-15" dirty="0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b="1" spc="-114" dirty="0">
                <a:solidFill>
                  <a:srgbClr val="333333"/>
                </a:solidFill>
                <a:latin typeface="Montserrat SemiBold"/>
                <a:cs typeface="Montserrat SemiBold"/>
              </a:rPr>
              <a:t>transcription:</a:t>
            </a:r>
            <a:r>
              <a:rPr b="1" spc="-40" dirty="0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spc="-114" dirty="0">
                <a:solidFill>
                  <a:srgbClr val="333333"/>
                </a:solidFill>
                <a:latin typeface="Montserrat"/>
                <a:cs typeface="Montserrat"/>
              </a:rPr>
              <a:t>Admin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0" dirty="0">
                <a:solidFill>
                  <a:srgbClr val="333333"/>
                </a:solidFill>
                <a:latin typeface="Montserrat"/>
                <a:cs typeface="Montserrat"/>
              </a:rPr>
              <a:t>uploads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95" dirty="0">
                <a:solidFill>
                  <a:srgbClr val="333333"/>
                </a:solidFill>
                <a:latin typeface="Montserrat"/>
                <a:cs typeface="Montserrat"/>
              </a:rPr>
              <a:t>audio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65" dirty="0">
                <a:solidFill>
                  <a:srgbClr val="333333"/>
                </a:solidFill>
                <a:latin typeface="Montserrat"/>
                <a:cs typeface="Montserrat"/>
              </a:rPr>
              <a:t>files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0" dirty="0">
                <a:solidFill>
                  <a:srgbClr val="333333"/>
                </a:solidFill>
                <a:latin typeface="Montserrat"/>
                <a:cs typeface="Montserrat"/>
              </a:rPr>
              <a:t>processed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14" dirty="0">
                <a:solidFill>
                  <a:srgbClr val="333333"/>
                </a:solidFill>
                <a:latin typeface="Montserrat"/>
                <a:cs typeface="Montserrat"/>
              </a:rPr>
              <a:t>by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90" dirty="0">
                <a:solidFill>
                  <a:srgbClr val="333333"/>
                </a:solidFill>
                <a:latin typeface="Montserrat"/>
                <a:cs typeface="Montserrat"/>
              </a:rPr>
              <a:t>Omnizart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0" dirty="0">
                <a:solidFill>
                  <a:srgbClr val="333333"/>
                </a:solidFill>
                <a:latin typeface="Montserrat"/>
                <a:cs typeface="Montserrat"/>
              </a:rPr>
              <a:t>to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80" dirty="0">
                <a:solidFill>
                  <a:srgbClr val="333333"/>
                </a:solidFill>
                <a:latin typeface="Montserrat"/>
                <a:cs typeface="Montserrat"/>
              </a:rPr>
              <a:t>automatically </a:t>
            </a:r>
            <a:r>
              <a:rPr spc="-100" dirty="0">
                <a:solidFill>
                  <a:srgbClr val="333333"/>
                </a:solidFill>
                <a:latin typeface="Montserrat"/>
                <a:cs typeface="Montserrat"/>
              </a:rPr>
              <a:t>extract</a:t>
            </a:r>
            <a:r>
              <a:rPr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0" dirty="0">
                <a:solidFill>
                  <a:srgbClr val="333333"/>
                </a:solidFill>
                <a:latin typeface="Montserrat"/>
                <a:cs typeface="Montserrat"/>
              </a:rPr>
              <a:t>notes</a:t>
            </a:r>
            <a:r>
              <a:rPr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95" dirty="0">
                <a:solidFill>
                  <a:srgbClr val="333333"/>
                </a:solidFill>
                <a:latin typeface="Montserrat"/>
                <a:cs typeface="Montserrat"/>
              </a:rPr>
              <a:t>with</a:t>
            </a:r>
            <a:r>
              <a:rPr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0" dirty="0">
                <a:solidFill>
                  <a:srgbClr val="333333"/>
                </a:solidFill>
                <a:latin typeface="Montserrat"/>
                <a:cs typeface="Montserrat"/>
              </a:rPr>
              <a:t>pitch</a:t>
            </a:r>
            <a:r>
              <a:rPr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5" dirty="0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90" dirty="0">
                <a:solidFill>
                  <a:srgbClr val="333333"/>
                </a:solidFill>
                <a:latin typeface="Montserrat"/>
                <a:cs typeface="Montserrat"/>
              </a:rPr>
              <a:t>timing</a:t>
            </a:r>
            <a:r>
              <a:rPr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pc="-10" dirty="0">
                <a:solidFill>
                  <a:srgbClr val="333333"/>
                </a:solidFill>
                <a:latin typeface="Montserrat"/>
                <a:cs typeface="Montserrat"/>
              </a:rPr>
              <a:t>information.</a:t>
            </a:r>
            <a:endParaRPr lang="en-US" spc="-10" dirty="0">
              <a:solidFill>
                <a:srgbClr val="333333"/>
              </a:solidFill>
              <a:latin typeface="Montserrat"/>
              <a:cs typeface="Montserrat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8FE7B25-5428-FE1A-2C78-86A1472E3AC9}"/>
              </a:ext>
            </a:extLst>
          </p:cNvPr>
          <p:cNvGrpSpPr/>
          <p:nvPr/>
        </p:nvGrpSpPr>
        <p:grpSpPr>
          <a:xfrm>
            <a:off x="906709" y="2989233"/>
            <a:ext cx="4691379" cy="1790700"/>
            <a:chOff x="914399" y="4600852"/>
            <a:chExt cx="4691379" cy="1790700"/>
          </a:xfrm>
        </p:grpSpPr>
        <p:sp>
          <p:nvSpPr>
            <p:cNvPr id="4" name="object 4"/>
            <p:cNvSpPr/>
            <p:nvPr/>
          </p:nvSpPr>
          <p:spPr>
            <a:xfrm>
              <a:off x="914399" y="4600852"/>
              <a:ext cx="70485" cy="1790700"/>
            </a:xfrm>
            <a:custGeom>
              <a:avLst/>
              <a:gdLst/>
              <a:ahLst/>
              <a:cxnLst/>
              <a:rect l="l" t="t" r="r" b="b"/>
              <a:pathLst>
                <a:path w="70484" h="1790700">
                  <a:moveTo>
                    <a:pt x="70450" y="1790144"/>
                  </a:moveTo>
                  <a:lnTo>
                    <a:pt x="33857" y="1777591"/>
                  </a:lnTo>
                  <a:lnTo>
                    <a:pt x="5800" y="1743382"/>
                  </a:lnTo>
                  <a:lnTo>
                    <a:pt x="0" y="17142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2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714222"/>
                  </a:lnTo>
                  <a:lnTo>
                    <a:pt x="44515" y="1756563"/>
                  </a:lnTo>
                  <a:lnTo>
                    <a:pt x="66287" y="1788488"/>
                  </a:lnTo>
                  <a:lnTo>
                    <a:pt x="70450" y="1790144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1130300" y="4776802"/>
              <a:ext cx="2484120" cy="255904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1500" b="0" spc="-105" dirty="0">
                  <a:solidFill>
                    <a:srgbClr val="333333"/>
                  </a:solidFill>
                  <a:latin typeface="Montserrat Medium"/>
                  <a:cs typeface="Montserrat Medium"/>
                </a:rPr>
                <a:t>Audio</a:t>
              </a:r>
              <a:r>
                <a:rPr sz="1500" b="0" spc="10" dirty="0">
                  <a:solidFill>
                    <a:srgbClr val="333333"/>
                  </a:solidFill>
                  <a:latin typeface="Montserrat Medium"/>
                  <a:cs typeface="Montserrat Medium"/>
                </a:rPr>
                <a:t> </a:t>
              </a:r>
              <a:r>
                <a:rPr sz="1500" b="0" spc="-95" dirty="0">
                  <a:solidFill>
                    <a:srgbClr val="333333"/>
                  </a:solidFill>
                  <a:latin typeface="Montserrat Medium"/>
                  <a:cs typeface="Montserrat Medium"/>
                </a:rPr>
                <a:t>Transcription</a:t>
              </a:r>
              <a:r>
                <a:rPr sz="1500" b="0" spc="10" dirty="0">
                  <a:solidFill>
                    <a:srgbClr val="333333"/>
                  </a:solidFill>
                  <a:latin typeface="Montserrat Medium"/>
                  <a:cs typeface="Montserrat Medium"/>
                </a:rPr>
                <a:t> </a:t>
              </a:r>
              <a:r>
                <a:rPr sz="1500" b="0" spc="-70" dirty="0">
                  <a:solidFill>
                    <a:srgbClr val="333333"/>
                  </a:solidFill>
                  <a:latin typeface="Montserrat Medium"/>
                  <a:cs typeface="Montserrat Medium"/>
                </a:rPr>
                <a:t>Process:</a:t>
              </a:r>
              <a:endParaRPr sz="1500" dirty="0">
                <a:latin typeface="Montserrat Medium"/>
                <a:cs typeface="Montserrat Medium"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191125"/>
              <a:ext cx="228600" cy="228599"/>
            </a:xfrm>
            <a:prstGeom prst="rect">
              <a:avLst/>
            </a:prstGeom>
          </p:spPr>
        </p:pic>
        <p:sp>
          <p:nvSpPr>
            <p:cNvPr id="7" name="object 7"/>
            <p:cNvSpPr txBox="1"/>
            <p:nvPr/>
          </p:nvSpPr>
          <p:spPr>
            <a:xfrm>
              <a:off x="1218406" y="5197858"/>
              <a:ext cx="78105" cy="1968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1100" b="1" spc="-50" dirty="0">
                  <a:solidFill>
                    <a:srgbClr val="FFFFFF"/>
                  </a:solidFill>
                  <a:latin typeface="Comfortaa"/>
                  <a:cs typeface="Comfortaa"/>
                </a:rPr>
                <a:t>1</a:t>
              </a:r>
              <a:endParaRPr sz="1100">
                <a:latin typeface="Comfortaa"/>
                <a:cs typeface="Comforta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1473199" y="5160707"/>
              <a:ext cx="3699510" cy="252729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sz="1450" spc="-75" dirty="0">
                  <a:solidFill>
                    <a:srgbClr val="333333"/>
                  </a:solidFill>
                  <a:latin typeface="Montserrat"/>
                  <a:cs typeface="Montserrat"/>
                </a:rPr>
                <a:t>Upload</a:t>
              </a:r>
              <a:r>
                <a:rPr sz="1450" spc="-5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70" dirty="0">
                  <a:solidFill>
                    <a:srgbClr val="333333"/>
                  </a:solidFill>
                  <a:latin typeface="Montserrat"/>
                  <a:cs typeface="Montserrat"/>
                </a:rPr>
                <a:t>audio</a:t>
              </a:r>
              <a:r>
                <a:rPr sz="145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40" dirty="0">
                  <a:solidFill>
                    <a:srgbClr val="333333"/>
                  </a:solidFill>
                  <a:latin typeface="Montserrat"/>
                  <a:cs typeface="Montserrat"/>
                </a:rPr>
                <a:t>file</a:t>
              </a:r>
              <a:r>
                <a:rPr sz="145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200" spc="140" dirty="0">
                  <a:solidFill>
                    <a:srgbClr val="333333"/>
                  </a:solidFill>
                  <a:latin typeface="Arial"/>
                  <a:cs typeface="Arial"/>
                </a:rPr>
                <a:t>→</a:t>
              </a:r>
              <a:r>
                <a:rPr sz="1200" spc="50" dirty="0">
                  <a:solidFill>
                    <a:srgbClr val="333333"/>
                  </a:solidFill>
                  <a:latin typeface="Arial"/>
                  <a:cs typeface="Arial"/>
                </a:rPr>
                <a:t> </a:t>
              </a:r>
              <a:r>
                <a:rPr sz="1450" spc="-70" dirty="0">
                  <a:solidFill>
                    <a:srgbClr val="333333"/>
                  </a:solidFill>
                  <a:latin typeface="Montserrat"/>
                  <a:cs typeface="Montserrat"/>
                </a:rPr>
                <a:t>Omnizart</a:t>
              </a:r>
              <a:r>
                <a:rPr sz="1450" spc="-5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45" dirty="0">
                  <a:solidFill>
                    <a:srgbClr val="333333"/>
                  </a:solidFill>
                  <a:latin typeface="Montserrat"/>
                  <a:cs typeface="Montserrat"/>
                </a:rPr>
                <a:t>transcription</a:t>
              </a:r>
              <a:endParaRPr sz="1450">
                <a:latin typeface="Montserrat"/>
                <a:cs typeface="Montserrat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2999" y="5534024"/>
              <a:ext cx="228600" cy="228599"/>
            </a:xfrm>
            <a:prstGeom prst="rect">
              <a:avLst/>
            </a:prstGeom>
          </p:spPr>
        </p:pic>
        <p:sp>
          <p:nvSpPr>
            <p:cNvPr id="10" name="object 10"/>
            <p:cNvSpPr txBox="1"/>
            <p:nvPr/>
          </p:nvSpPr>
          <p:spPr>
            <a:xfrm>
              <a:off x="1205160" y="5540758"/>
              <a:ext cx="104139" cy="1968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1100" b="1" spc="-50" dirty="0">
                  <a:solidFill>
                    <a:srgbClr val="FFFFFF"/>
                  </a:solidFill>
                  <a:latin typeface="Comfortaa"/>
                  <a:cs typeface="Comfortaa"/>
                </a:rPr>
                <a:t>2</a:t>
              </a:r>
              <a:endParaRPr sz="1100">
                <a:latin typeface="Comfortaa"/>
                <a:cs typeface="Comfortaa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473199" y="5503607"/>
              <a:ext cx="4040504" cy="252729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sz="1450" spc="-80" dirty="0">
                  <a:solidFill>
                    <a:srgbClr val="333333"/>
                  </a:solidFill>
                  <a:latin typeface="Montserrat"/>
                  <a:cs typeface="Montserrat"/>
                </a:rPr>
                <a:t>Preview</a:t>
              </a:r>
              <a:r>
                <a:rPr sz="1450" spc="-25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70" dirty="0">
                  <a:solidFill>
                    <a:srgbClr val="333333"/>
                  </a:solidFill>
                  <a:latin typeface="Montserrat"/>
                  <a:cs typeface="Montserrat"/>
                </a:rPr>
                <a:t>&amp;</a:t>
              </a:r>
              <a:r>
                <a:rPr sz="1450" spc="-2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55" dirty="0">
                  <a:solidFill>
                    <a:srgbClr val="333333"/>
                  </a:solidFill>
                  <a:latin typeface="Montserrat"/>
                  <a:cs typeface="Montserrat"/>
                </a:rPr>
                <a:t>edit</a:t>
              </a:r>
              <a:r>
                <a:rPr sz="1450" spc="-2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70" dirty="0">
                  <a:solidFill>
                    <a:srgbClr val="333333"/>
                  </a:solidFill>
                  <a:latin typeface="Montserrat"/>
                  <a:cs typeface="Montserrat"/>
                </a:rPr>
                <a:t>extracted</a:t>
              </a:r>
              <a:r>
                <a:rPr sz="1450" spc="-2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70" dirty="0">
                  <a:solidFill>
                    <a:srgbClr val="333333"/>
                  </a:solidFill>
                  <a:latin typeface="Montserrat"/>
                  <a:cs typeface="Montserrat"/>
                </a:rPr>
                <a:t>notes</a:t>
              </a:r>
              <a:r>
                <a:rPr sz="1450" spc="-2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35" dirty="0">
                  <a:solidFill>
                    <a:srgbClr val="333333"/>
                  </a:solidFill>
                  <a:latin typeface="Montserrat"/>
                  <a:cs typeface="Montserrat"/>
                </a:rPr>
                <a:t>in</a:t>
              </a:r>
              <a:r>
                <a:rPr sz="1450" spc="-2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90" dirty="0">
                  <a:solidFill>
                    <a:srgbClr val="333333"/>
                  </a:solidFill>
                  <a:latin typeface="Montserrat"/>
                  <a:cs typeface="Montserrat"/>
                </a:rPr>
                <a:t>web</a:t>
              </a:r>
              <a:r>
                <a:rPr sz="1450" spc="-2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30" dirty="0">
                  <a:solidFill>
                    <a:srgbClr val="333333"/>
                  </a:solidFill>
                  <a:latin typeface="Montserrat"/>
                  <a:cs typeface="Montserrat"/>
                </a:rPr>
                <a:t>interface</a:t>
              </a:r>
              <a:endParaRPr sz="1450">
                <a:latin typeface="Montserrat"/>
                <a:cs typeface="Montserrat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876924"/>
              <a:ext cx="228600" cy="228599"/>
            </a:xfrm>
            <a:prstGeom prst="rect">
              <a:avLst/>
            </a:prstGeom>
          </p:spPr>
        </p:pic>
        <p:sp>
          <p:nvSpPr>
            <p:cNvPr id="13" name="object 13"/>
            <p:cNvSpPr txBox="1"/>
            <p:nvPr/>
          </p:nvSpPr>
          <p:spPr>
            <a:xfrm>
              <a:off x="1205011" y="5883658"/>
              <a:ext cx="104775" cy="1968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1100" b="1" spc="-50" dirty="0">
                  <a:solidFill>
                    <a:srgbClr val="FFFFFF"/>
                  </a:solidFill>
                  <a:latin typeface="Comfortaa"/>
                  <a:cs typeface="Comfortaa"/>
                </a:rPr>
                <a:t>3</a:t>
              </a:r>
              <a:endParaRPr sz="1100">
                <a:latin typeface="Comfortaa"/>
                <a:cs typeface="Comfortaa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1473199" y="5846507"/>
              <a:ext cx="4132579" cy="252729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sz="1450" spc="-75" dirty="0">
                  <a:solidFill>
                    <a:srgbClr val="333333"/>
                  </a:solidFill>
                  <a:latin typeface="Montserrat"/>
                  <a:cs typeface="Montserrat"/>
                </a:rPr>
                <a:t>Approve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70" dirty="0">
                  <a:solidFill>
                    <a:srgbClr val="333333"/>
                  </a:solidFill>
                  <a:latin typeface="Montserrat"/>
                  <a:cs typeface="Montserrat"/>
                </a:rPr>
                <a:t>and</a:t>
              </a:r>
              <a:r>
                <a:rPr sz="1450" spc="-5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80" dirty="0">
                  <a:solidFill>
                    <a:srgbClr val="333333"/>
                  </a:solidFill>
                  <a:latin typeface="Montserrat"/>
                  <a:cs typeface="Montserrat"/>
                </a:rPr>
                <a:t>save</a:t>
              </a:r>
              <a:r>
                <a:rPr sz="1450" spc="-5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80" dirty="0">
                  <a:solidFill>
                    <a:srgbClr val="333333"/>
                  </a:solidFill>
                  <a:latin typeface="Montserrat"/>
                  <a:cs typeface="Montserrat"/>
                </a:rPr>
                <a:t>to</a:t>
              </a:r>
              <a:r>
                <a:rPr sz="1450" spc="-5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75" dirty="0">
                  <a:solidFill>
                    <a:srgbClr val="333333"/>
                  </a:solidFill>
                  <a:latin typeface="Montserrat"/>
                  <a:cs typeface="Montserrat"/>
                </a:rPr>
                <a:t>database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60" dirty="0">
                  <a:solidFill>
                    <a:srgbClr val="333333"/>
                  </a:solidFill>
                  <a:latin typeface="Montserrat"/>
                  <a:cs typeface="Montserrat"/>
                </a:rPr>
                <a:t>for</a:t>
              </a:r>
              <a:r>
                <a:rPr sz="1450" spc="-5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65" dirty="0">
                  <a:solidFill>
                    <a:srgbClr val="333333"/>
                  </a:solidFill>
                  <a:latin typeface="Montserrat"/>
                  <a:cs typeface="Montserrat"/>
                </a:rPr>
                <a:t>learner</a:t>
              </a:r>
              <a:r>
                <a:rPr sz="1450" spc="-5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450" spc="-10" dirty="0">
                  <a:solidFill>
                    <a:srgbClr val="333333"/>
                  </a:solidFill>
                  <a:latin typeface="Montserrat"/>
                  <a:cs typeface="Montserrat"/>
                </a:rPr>
                <a:t>access</a:t>
              </a:r>
              <a:endParaRPr sz="1450">
                <a:latin typeface="Montserrat"/>
                <a:cs typeface="Montserrat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689232" y="65984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grpSp>
        <p:nvGrpSpPr>
          <p:cNvPr id="19" name="object 3">
            <a:extLst>
              <a:ext uri="{FF2B5EF4-FFF2-40B4-BE49-F238E27FC236}">
                <a16:creationId xmlns:a16="http://schemas.microsoft.com/office/drawing/2014/main" id="{78E8A72F-4557-644A-97B8-0AD87BE158AF}"/>
              </a:ext>
            </a:extLst>
          </p:cNvPr>
          <p:cNvGrpSpPr/>
          <p:nvPr/>
        </p:nvGrpSpPr>
        <p:grpSpPr>
          <a:xfrm>
            <a:off x="601940" y="1971745"/>
            <a:ext cx="840740" cy="838207"/>
            <a:chOff x="914399" y="2171699"/>
            <a:chExt cx="381000" cy="381000"/>
          </a:xfrm>
        </p:grpSpPr>
        <p:sp>
          <p:nvSpPr>
            <p:cNvPr id="20" name="object 4">
              <a:extLst>
                <a:ext uri="{FF2B5EF4-FFF2-40B4-BE49-F238E27FC236}">
                  <a16:creationId xmlns:a16="http://schemas.microsoft.com/office/drawing/2014/main" id="{2C917CAC-2DF9-BCA8-F587-9C76A9E29669}"/>
                </a:ext>
              </a:extLst>
            </p:cNvPr>
            <p:cNvSpPr/>
            <p:nvPr/>
          </p:nvSpPr>
          <p:spPr>
            <a:xfrm>
              <a:off x="914399" y="21716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F6A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1" name="object 5">
              <a:extLst>
                <a:ext uri="{FF2B5EF4-FFF2-40B4-BE49-F238E27FC236}">
                  <a16:creationId xmlns:a16="http://schemas.microsoft.com/office/drawing/2014/main" id="{965EBD76-E638-B4DE-B9BE-B5B05F58A2D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2512" y="2285999"/>
              <a:ext cx="104774" cy="152399"/>
            </a:xfrm>
            <a:prstGeom prst="rect">
              <a:avLst/>
            </a:prstGeom>
          </p:spPr>
        </p:pic>
      </p:grp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CD5327B-4F43-D4EE-9C7C-3378247E78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1A0FED-DAFD-B833-9EF5-A0330B8AA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098E6B-6A35-A861-639E-05FAAE0C042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38201" y="761206"/>
            <a:ext cx="3962400" cy="16232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6450"/>
              </a:lnSpc>
              <a:spcBef>
                <a:spcPts val="229"/>
              </a:spcBef>
              <a:tabLst>
                <a:tab pos="848994" algn="l"/>
                <a:tab pos="3107690" algn="l"/>
              </a:tabLst>
            </a:pPr>
            <a:r>
              <a:rPr lang="en-US" sz="4400" spc="-90" dirty="0">
                <a:solidFill>
                  <a:schemeClr val="accent6"/>
                </a:solidFill>
              </a:rPr>
              <a:t>Evaluation</a:t>
            </a:r>
            <a:r>
              <a:rPr lang="en-US" sz="4400" spc="-20" dirty="0">
                <a:solidFill>
                  <a:schemeClr val="accent6"/>
                </a:solidFill>
              </a:rPr>
              <a:t> </a:t>
            </a:r>
            <a:r>
              <a:rPr lang="en-US" sz="4400" spc="-105" dirty="0">
                <a:solidFill>
                  <a:schemeClr val="accent6"/>
                </a:solidFill>
              </a:rPr>
              <a:t>&amp;</a:t>
            </a:r>
            <a:r>
              <a:rPr lang="en-US" sz="4400" spc="-20" dirty="0">
                <a:solidFill>
                  <a:schemeClr val="accent6"/>
                </a:solidFill>
              </a:rPr>
              <a:t> </a:t>
            </a:r>
            <a:r>
              <a:rPr lang="en-US" sz="4400" spc="-80" dirty="0">
                <a:solidFill>
                  <a:schemeClr val="accent6"/>
                </a:solidFill>
              </a:rPr>
              <a:t>Results</a:t>
            </a:r>
            <a:endParaRPr sz="4400" dirty="0">
              <a:solidFill>
                <a:schemeClr val="accent6"/>
              </a:solidFill>
              <a:latin typeface="DejaVu Sans"/>
              <a:cs typeface="DejaVu San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8453F91-CE8C-7227-C42E-007A63CD268E}"/>
              </a:ext>
            </a:extLst>
          </p:cNvPr>
          <p:cNvSpPr txBox="1"/>
          <p:nvPr/>
        </p:nvSpPr>
        <p:spPr>
          <a:xfrm>
            <a:off x="838200" y="2702662"/>
            <a:ext cx="6196965" cy="301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lang="en-US" dirty="0">
                <a:solidFill>
                  <a:srgbClr val="666666"/>
                </a:solidFill>
                <a:latin typeface="DejaVu Sans"/>
                <a:cs typeface="DejaVu Sans"/>
              </a:rPr>
              <a:t>Model evaluation and real-time performance</a:t>
            </a:r>
            <a:endParaRPr dirty="0">
              <a:latin typeface="DejaVu Sans"/>
              <a:cs typeface="DejaVu San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B41382-DF89-4CD0-5996-C6D4A899C4CB}"/>
              </a:ext>
            </a:extLst>
          </p:cNvPr>
          <p:cNvGrpSpPr/>
          <p:nvPr/>
        </p:nvGrpSpPr>
        <p:grpSpPr>
          <a:xfrm>
            <a:off x="6858000" y="2513806"/>
            <a:ext cx="3861436" cy="3372644"/>
            <a:chOff x="9905999" y="2571749"/>
            <a:chExt cx="1714500" cy="1714501"/>
          </a:xfrm>
        </p:grpSpPr>
        <p:grpSp>
          <p:nvGrpSpPr>
            <p:cNvPr id="4" name="object 4">
              <a:extLst>
                <a:ext uri="{FF2B5EF4-FFF2-40B4-BE49-F238E27FC236}">
                  <a16:creationId xmlns:a16="http://schemas.microsoft.com/office/drawing/2014/main" id="{6317B9E6-E188-F6E5-5E83-D30BE695B79F}"/>
                </a:ext>
              </a:extLst>
            </p:cNvPr>
            <p:cNvGrpSpPr/>
            <p:nvPr/>
          </p:nvGrpSpPr>
          <p:grpSpPr>
            <a:xfrm>
              <a:off x="9905999" y="2571749"/>
              <a:ext cx="762000" cy="762000"/>
              <a:chOff x="9905999" y="2571749"/>
              <a:chExt cx="762000" cy="762000"/>
            </a:xfrm>
          </p:grpSpPr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F2B17927-149A-063F-8BE0-7545F100930B}"/>
                  </a:ext>
                </a:extLst>
              </p:cNvPr>
              <p:cNvSpPr/>
              <p:nvPr/>
            </p:nvSpPr>
            <p:spPr>
              <a:xfrm>
                <a:off x="9905999" y="2571749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2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2"/>
                    </a:lnTo>
                    <a:lnTo>
                      <a:pt x="761999" y="88995"/>
                    </a:lnTo>
                    <a:lnTo>
                      <a:pt x="761999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C0492485-EBE1-FE46-80CA-A100C938EE4C}"/>
                  </a:ext>
                </a:extLst>
              </p:cNvPr>
              <p:cNvSpPr/>
              <p:nvPr/>
            </p:nvSpPr>
            <p:spPr>
              <a:xfrm>
                <a:off x="10077449" y="2762249"/>
                <a:ext cx="4286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81000">
                    <a:moveTo>
                      <a:pt x="381000" y="309562"/>
                    </a:moveTo>
                    <a:lnTo>
                      <a:pt x="47625" y="309562"/>
                    </a:lnTo>
                    <a:lnTo>
                      <a:pt x="29101" y="305815"/>
                    </a:lnTo>
                    <a:lnTo>
                      <a:pt x="13961" y="295600"/>
                    </a:lnTo>
                    <a:lnTo>
                      <a:pt x="3747" y="280460"/>
                    </a:lnTo>
                    <a:lnTo>
                      <a:pt x="0" y="261937"/>
                    </a:lnTo>
                    <a:lnTo>
                      <a:pt x="0" y="47625"/>
                    </a:lnTo>
                    <a:lnTo>
                      <a:pt x="3747" y="29101"/>
                    </a:lnTo>
                    <a:lnTo>
                      <a:pt x="13961" y="13961"/>
                    </a:lnTo>
                    <a:lnTo>
                      <a:pt x="29101" y="3747"/>
                    </a:lnTo>
                    <a:lnTo>
                      <a:pt x="47625" y="0"/>
                    </a:lnTo>
                    <a:lnTo>
                      <a:pt x="381000" y="0"/>
                    </a:lnTo>
                    <a:lnTo>
                      <a:pt x="399523" y="3747"/>
                    </a:lnTo>
                    <a:lnTo>
                      <a:pt x="414663" y="13961"/>
                    </a:lnTo>
                    <a:lnTo>
                      <a:pt x="424877" y="29101"/>
                    </a:lnTo>
                    <a:lnTo>
                      <a:pt x="428625" y="47625"/>
                    </a:lnTo>
                    <a:lnTo>
                      <a:pt x="47625" y="47625"/>
                    </a:lnTo>
                    <a:lnTo>
                      <a:pt x="47625" y="214312"/>
                    </a:lnTo>
                    <a:lnTo>
                      <a:pt x="428625" y="214312"/>
                    </a:lnTo>
                    <a:lnTo>
                      <a:pt x="428625" y="261937"/>
                    </a:lnTo>
                    <a:lnTo>
                      <a:pt x="424877" y="280460"/>
                    </a:lnTo>
                    <a:lnTo>
                      <a:pt x="414663" y="295600"/>
                    </a:lnTo>
                    <a:lnTo>
                      <a:pt x="399523" y="305815"/>
                    </a:lnTo>
                    <a:lnTo>
                      <a:pt x="381000" y="309562"/>
                    </a:lnTo>
                    <a:close/>
                  </a:path>
                  <a:path w="428625" h="381000">
                    <a:moveTo>
                      <a:pt x="428625" y="214312"/>
                    </a:moveTo>
                    <a:lnTo>
                      <a:pt x="381000" y="214312"/>
                    </a:lnTo>
                    <a:lnTo>
                      <a:pt x="381000" y="47625"/>
                    </a:lnTo>
                    <a:lnTo>
                      <a:pt x="428625" y="47625"/>
                    </a:lnTo>
                    <a:lnTo>
                      <a:pt x="428625" y="214312"/>
                    </a:lnTo>
                    <a:close/>
                  </a:path>
                  <a:path w="428625" h="381000">
                    <a:moveTo>
                      <a:pt x="257993" y="333375"/>
                    </a:moveTo>
                    <a:lnTo>
                      <a:pt x="170631" y="333375"/>
                    </a:lnTo>
                    <a:lnTo>
                      <a:pt x="178593" y="309562"/>
                    </a:lnTo>
                    <a:lnTo>
                      <a:pt x="250031" y="309562"/>
                    </a:lnTo>
                    <a:lnTo>
                      <a:pt x="257993" y="333375"/>
                    </a:lnTo>
                    <a:close/>
                  </a:path>
                  <a:path w="428625" h="381000">
                    <a:moveTo>
                      <a:pt x="309562" y="381000"/>
                    </a:moveTo>
                    <a:lnTo>
                      <a:pt x="119062" y="381000"/>
                    </a:lnTo>
                    <a:lnTo>
                      <a:pt x="109785" y="379131"/>
                    </a:lnTo>
                    <a:lnTo>
                      <a:pt x="102217" y="374033"/>
                    </a:lnTo>
                    <a:lnTo>
                      <a:pt x="97118" y="366464"/>
                    </a:lnTo>
                    <a:lnTo>
                      <a:pt x="95250" y="357187"/>
                    </a:lnTo>
                    <a:lnTo>
                      <a:pt x="97118" y="347910"/>
                    </a:lnTo>
                    <a:lnTo>
                      <a:pt x="102217" y="340342"/>
                    </a:lnTo>
                    <a:lnTo>
                      <a:pt x="109785" y="335243"/>
                    </a:lnTo>
                    <a:lnTo>
                      <a:pt x="119062" y="333375"/>
                    </a:lnTo>
                    <a:lnTo>
                      <a:pt x="309562" y="333375"/>
                    </a:lnTo>
                    <a:lnTo>
                      <a:pt x="318839" y="335243"/>
                    </a:lnTo>
                    <a:lnTo>
                      <a:pt x="326408" y="340342"/>
                    </a:lnTo>
                    <a:lnTo>
                      <a:pt x="331506" y="347910"/>
                    </a:lnTo>
                    <a:lnTo>
                      <a:pt x="333375" y="357187"/>
                    </a:lnTo>
                    <a:lnTo>
                      <a:pt x="331506" y="366464"/>
                    </a:lnTo>
                    <a:lnTo>
                      <a:pt x="326408" y="374033"/>
                    </a:lnTo>
                    <a:lnTo>
                      <a:pt x="318839" y="379131"/>
                    </a:lnTo>
                    <a:lnTo>
                      <a:pt x="309562" y="3810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" name="object 7">
              <a:extLst>
                <a:ext uri="{FF2B5EF4-FFF2-40B4-BE49-F238E27FC236}">
                  <a16:creationId xmlns:a16="http://schemas.microsoft.com/office/drawing/2014/main" id="{F36F4391-4B62-1BEF-7453-822D43D4C612}"/>
                </a:ext>
              </a:extLst>
            </p:cNvPr>
            <p:cNvGrpSpPr/>
            <p:nvPr/>
          </p:nvGrpSpPr>
          <p:grpSpPr>
            <a:xfrm>
              <a:off x="10858499" y="2571749"/>
              <a:ext cx="762000" cy="762000"/>
              <a:chOff x="10858499" y="2571749"/>
              <a:chExt cx="762000" cy="762000"/>
            </a:xfrm>
          </p:grpSpPr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3F6F339A-14EB-D5C7-409C-3D3F2B4FEAFA}"/>
                  </a:ext>
                </a:extLst>
              </p:cNvPr>
              <p:cNvSpPr/>
              <p:nvPr/>
            </p:nvSpPr>
            <p:spPr>
              <a:xfrm>
                <a:off x="10858499" y="2571749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2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2"/>
                    </a:lnTo>
                    <a:lnTo>
                      <a:pt x="762000" y="88995"/>
                    </a:lnTo>
                    <a:lnTo>
                      <a:pt x="762000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87AE50C3-8974-C1AA-7E2F-89204A6FA5A5}"/>
                  </a:ext>
                </a:extLst>
              </p:cNvPr>
              <p:cNvSpPr/>
              <p:nvPr/>
            </p:nvSpPr>
            <p:spPr>
              <a:xfrm>
                <a:off x="11048999" y="2786062"/>
                <a:ext cx="38100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33375">
                    <a:moveTo>
                      <a:pt x="333375" y="142875"/>
                    </a:moveTo>
                    <a:lnTo>
                      <a:pt x="47625" y="142875"/>
                    </a:lnTo>
                    <a:lnTo>
                      <a:pt x="29101" y="139127"/>
                    </a:lnTo>
                    <a:lnTo>
                      <a:pt x="13961" y="128913"/>
                    </a:lnTo>
                    <a:lnTo>
                      <a:pt x="3747" y="113773"/>
                    </a:lnTo>
                    <a:lnTo>
                      <a:pt x="0" y="95250"/>
                    </a:lnTo>
                    <a:lnTo>
                      <a:pt x="0" y="47625"/>
                    </a:lnTo>
                    <a:lnTo>
                      <a:pt x="3747" y="29101"/>
                    </a:lnTo>
                    <a:lnTo>
                      <a:pt x="13961" y="13961"/>
                    </a:lnTo>
                    <a:lnTo>
                      <a:pt x="29101" y="3747"/>
                    </a:lnTo>
                    <a:lnTo>
                      <a:pt x="47625" y="0"/>
                    </a:lnTo>
                    <a:lnTo>
                      <a:pt x="333375" y="0"/>
                    </a:lnTo>
                    <a:lnTo>
                      <a:pt x="351898" y="3747"/>
                    </a:lnTo>
                    <a:lnTo>
                      <a:pt x="367038" y="13961"/>
                    </a:lnTo>
                    <a:lnTo>
                      <a:pt x="377252" y="29101"/>
                    </a:lnTo>
                    <a:lnTo>
                      <a:pt x="381000" y="47625"/>
                    </a:lnTo>
                    <a:lnTo>
                      <a:pt x="381000" y="53578"/>
                    </a:lnTo>
                    <a:lnTo>
                      <a:pt x="253616" y="53578"/>
                    </a:lnTo>
                    <a:lnTo>
                      <a:pt x="251337" y="54031"/>
                    </a:lnTo>
                    <a:lnTo>
                      <a:pt x="238124" y="69069"/>
                    </a:lnTo>
                    <a:lnTo>
                      <a:pt x="238124" y="73805"/>
                    </a:lnTo>
                    <a:lnTo>
                      <a:pt x="253616" y="89296"/>
                    </a:lnTo>
                    <a:lnTo>
                      <a:pt x="381000" y="89296"/>
                    </a:lnTo>
                    <a:lnTo>
                      <a:pt x="381000" y="95250"/>
                    </a:lnTo>
                    <a:lnTo>
                      <a:pt x="377252" y="113773"/>
                    </a:lnTo>
                    <a:lnTo>
                      <a:pt x="367038" y="128913"/>
                    </a:lnTo>
                    <a:lnTo>
                      <a:pt x="351898" y="139127"/>
                    </a:lnTo>
                    <a:lnTo>
                      <a:pt x="333375" y="142875"/>
                    </a:lnTo>
                    <a:close/>
                  </a:path>
                  <a:path w="381000" h="333375">
                    <a:moveTo>
                      <a:pt x="307194" y="89296"/>
                    </a:moveTo>
                    <a:lnTo>
                      <a:pt x="258352" y="89296"/>
                    </a:lnTo>
                    <a:lnTo>
                      <a:pt x="260630" y="88843"/>
                    </a:lnTo>
                    <a:lnTo>
                      <a:pt x="265006" y="87031"/>
                    </a:lnTo>
                    <a:lnTo>
                      <a:pt x="273843" y="73805"/>
                    </a:lnTo>
                    <a:lnTo>
                      <a:pt x="273843" y="69069"/>
                    </a:lnTo>
                    <a:lnTo>
                      <a:pt x="258352" y="53578"/>
                    </a:lnTo>
                    <a:lnTo>
                      <a:pt x="307194" y="53578"/>
                    </a:lnTo>
                    <a:lnTo>
                      <a:pt x="291703" y="69069"/>
                    </a:lnTo>
                    <a:lnTo>
                      <a:pt x="291703" y="73805"/>
                    </a:lnTo>
                    <a:lnTo>
                      <a:pt x="304916" y="88843"/>
                    </a:lnTo>
                    <a:lnTo>
                      <a:pt x="307194" y="89296"/>
                    </a:lnTo>
                    <a:close/>
                  </a:path>
                  <a:path w="381000" h="333375">
                    <a:moveTo>
                      <a:pt x="381000" y="89296"/>
                    </a:moveTo>
                    <a:lnTo>
                      <a:pt x="311930" y="89296"/>
                    </a:lnTo>
                    <a:lnTo>
                      <a:pt x="314208" y="88843"/>
                    </a:lnTo>
                    <a:lnTo>
                      <a:pt x="318584" y="87031"/>
                    </a:lnTo>
                    <a:lnTo>
                      <a:pt x="327421" y="73805"/>
                    </a:lnTo>
                    <a:lnTo>
                      <a:pt x="327421" y="69069"/>
                    </a:lnTo>
                    <a:lnTo>
                      <a:pt x="311930" y="53578"/>
                    </a:lnTo>
                    <a:lnTo>
                      <a:pt x="381000" y="53578"/>
                    </a:lnTo>
                    <a:lnTo>
                      <a:pt x="381000" y="89296"/>
                    </a:lnTo>
                    <a:close/>
                  </a:path>
                  <a:path w="381000" h="333375">
                    <a:moveTo>
                      <a:pt x="333375" y="333375"/>
                    </a:moveTo>
                    <a:lnTo>
                      <a:pt x="47625" y="333375"/>
                    </a:lnTo>
                    <a:lnTo>
                      <a:pt x="29101" y="329627"/>
                    </a:lnTo>
                    <a:lnTo>
                      <a:pt x="13961" y="319413"/>
                    </a:lnTo>
                    <a:lnTo>
                      <a:pt x="3747" y="304273"/>
                    </a:lnTo>
                    <a:lnTo>
                      <a:pt x="0" y="285750"/>
                    </a:lnTo>
                    <a:lnTo>
                      <a:pt x="0" y="238125"/>
                    </a:lnTo>
                    <a:lnTo>
                      <a:pt x="3747" y="219601"/>
                    </a:lnTo>
                    <a:lnTo>
                      <a:pt x="13961" y="204461"/>
                    </a:lnTo>
                    <a:lnTo>
                      <a:pt x="29101" y="194247"/>
                    </a:lnTo>
                    <a:lnTo>
                      <a:pt x="47625" y="190500"/>
                    </a:lnTo>
                    <a:lnTo>
                      <a:pt x="333375" y="190500"/>
                    </a:lnTo>
                    <a:lnTo>
                      <a:pt x="351898" y="194247"/>
                    </a:lnTo>
                    <a:lnTo>
                      <a:pt x="367038" y="204461"/>
                    </a:lnTo>
                    <a:lnTo>
                      <a:pt x="377252" y="219601"/>
                    </a:lnTo>
                    <a:lnTo>
                      <a:pt x="381000" y="238125"/>
                    </a:lnTo>
                    <a:lnTo>
                      <a:pt x="381000" y="244078"/>
                    </a:lnTo>
                    <a:lnTo>
                      <a:pt x="253616" y="244078"/>
                    </a:lnTo>
                    <a:lnTo>
                      <a:pt x="251337" y="244531"/>
                    </a:lnTo>
                    <a:lnTo>
                      <a:pt x="238124" y="259569"/>
                    </a:lnTo>
                    <a:lnTo>
                      <a:pt x="238124" y="264305"/>
                    </a:lnTo>
                    <a:lnTo>
                      <a:pt x="253616" y="279796"/>
                    </a:lnTo>
                    <a:lnTo>
                      <a:pt x="381000" y="279796"/>
                    </a:lnTo>
                    <a:lnTo>
                      <a:pt x="381000" y="285750"/>
                    </a:lnTo>
                    <a:lnTo>
                      <a:pt x="377252" y="304273"/>
                    </a:lnTo>
                    <a:lnTo>
                      <a:pt x="367038" y="319413"/>
                    </a:lnTo>
                    <a:lnTo>
                      <a:pt x="351898" y="329627"/>
                    </a:lnTo>
                    <a:lnTo>
                      <a:pt x="333375" y="333375"/>
                    </a:lnTo>
                    <a:close/>
                  </a:path>
                  <a:path w="381000" h="333375">
                    <a:moveTo>
                      <a:pt x="313147" y="279796"/>
                    </a:moveTo>
                    <a:lnTo>
                      <a:pt x="258352" y="279796"/>
                    </a:lnTo>
                    <a:lnTo>
                      <a:pt x="260630" y="279343"/>
                    </a:lnTo>
                    <a:lnTo>
                      <a:pt x="265006" y="277531"/>
                    </a:lnTo>
                    <a:lnTo>
                      <a:pt x="273843" y="264305"/>
                    </a:lnTo>
                    <a:lnTo>
                      <a:pt x="273843" y="259569"/>
                    </a:lnTo>
                    <a:lnTo>
                      <a:pt x="258352" y="244078"/>
                    </a:lnTo>
                    <a:lnTo>
                      <a:pt x="313147" y="244078"/>
                    </a:lnTo>
                    <a:lnTo>
                      <a:pt x="297656" y="259569"/>
                    </a:lnTo>
                    <a:lnTo>
                      <a:pt x="297656" y="264305"/>
                    </a:lnTo>
                    <a:lnTo>
                      <a:pt x="310869" y="279343"/>
                    </a:lnTo>
                    <a:lnTo>
                      <a:pt x="313147" y="279796"/>
                    </a:lnTo>
                    <a:close/>
                  </a:path>
                  <a:path w="381000" h="333375">
                    <a:moveTo>
                      <a:pt x="381000" y="279796"/>
                    </a:moveTo>
                    <a:lnTo>
                      <a:pt x="317883" y="279796"/>
                    </a:lnTo>
                    <a:lnTo>
                      <a:pt x="320162" y="279343"/>
                    </a:lnTo>
                    <a:lnTo>
                      <a:pt x="324538" y="277531"/>
                    </a:lnTo>
                    <a:lnTo>
                      <a:pt x="333374" y="264305"/>
                    </a:lnTo>
                    <a:lnTo>
                      <a:pt x="333374" y="259569"/>
                    </a:lnTo>
                    <a:lnTo>
                      <a:pt x="317883" y="244078"/>
                    </a:lnTo>
                    <a:lnTo>
                      <a:pt x="381000" y="244078"/>
                    </a:lnTo>
                    <a:lnTo>
                      <a:pt x="381000" y="27979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0" name="object 10">
              <a:extLst>
                <a:ext uri="{FF2B5EF4-FFF2-40B4-BE49-F238E27FC236}">
                  <a16:creationId xmlns:a16="http://schemas.microsoft.com/office/drawing/2014/main" id="{E178F85D-4E36-C9E7-16BA-83821B5BBF28}"/>
                </a:ext>
              </a:extLst>
            </p:cNvPr>
            <p:cNvGrpSpPr/>
            <p:nvPr/>
          </p:nvGrpSpPr>
          <p:grpSpPr>
            <a:xfrm>
              <a:off x="9905999" y="3524250"/>
              <a:ext cx="762000" cy="762000"/>
              <a:chOff x="9905999" y="3524250"/>
              <a:chExt cx="762000" cy="762000"/>
            </a:xfrm>
          </p:grpSpPr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742B976B-8369-99A9-F86B-ECBE72F39719}"/>
                  </a:ext>
                </a:extLst>
              </p:cNvPr>
              <p:cNvSpPr/>
              <p:nvPr/>
            </p:nvSpPr>
            <p:spPr>
              <a:xfrm>
                <a:off x="9905999" y="3524250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1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1"/>
                    </a:lnTo>
                    <a:lnTo>
                      <a:pt x="761999" y="88995"/>
                    </a:lnTo>
                    <a:lnTo>
                      <a:pt x="761999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FE257E4B-4471-ED70-CD4E-6467EDF10B7B}"/>
                  </a:ext>
                </a:extLst>
              </p:cNvPr>
              <p:cNvSpPr/>
              <p:nvPr/>
            </p:nvSpPr>
            <p:spPr>
              <a:xfrm>
                <a:off x="10125074" y="3714750"/>
                <a:ext cx="33337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381000">
                    <a:moveTo>
                      <a:pt x="166687" y="154781"/>
                    </a:moveTo>
                    <a:lnTo>
                      <a:pt x="101808" y="150104"/>
                    </a:lnTo>
                    <a:lnTo>
                      <a:pt x="48824" y="137349"/>
                    </a:lnTo>
                    <a:lnTo>
                      <a:pt x="13100" y="118427"/>
                    </a:lnTo>
                    <a:lnTo>
                      <a:pt x="0" y="95250"/>
                    </a:lnTo>
                    <a:lnTo>
                      <a:pt x="0" y="59531"/>
                    </a:lnTo>
                    <a:lnTo>
                      <a:pt x="13100" y="36353"/>
                    </a:lnTo>
                    <a:lnTo>
                      <a:pt x="48824" y="17431"/>
                    </a:lnTo>
                    <a:lnTo>
                      <a:pt x="101808" y="4676"/>
                    </a:lnTo>
                    <a:lnTo>
                      <a:pt x="166687" y="0"/>
                    </a:lnTo>
                    <a:lnTo>
                      <a:pt x="231566" y="4676"/>
                    </a:lnTo>
                    <a:lnTo>
                      <a:pt x="284550" y="17431"/>
                    </a:lnTo>
                    <a:lnTo>
                      <a:pt x="320274" y="36353"/>
                    </a:lnTo>
                    <a:lnTo>
                      <a:pt x="333375" y="59531"/>
                    </a:lnTo>
                    <a:lnTo>
                      <a:pt x="333375" y="95250"/>
                    </a:lnTo>
                    <a:lnTo>
                      <a:pt x="320274" y="118427"/>
                    </a:lnTo>
                    <a:lnTo>
                      <a:pt x="284550" y="137349"/>
                    </a:lnTo>
                    <a:lnTo>
                      <a:pt x="231566" y="150104"/>
                    </a:lnTo>
                    <a:lnTo>
                      <a:pt x="166687" y="154781"/>
                    </a:lnTo>
                    <a:close/>
                  </a:path>
                  <a:path w="333375" h="381000">
                    <a:moveTo>
                      <a:pt x="166687" y="273843"/>
                    </a:moveTo>
                    <a:lnTo>
                      <a:pt x="101808" y="269167"/>
                    </a:lnTo>
                    <a:lnTo>
                      <a:pt x="48824" y="256412"/>
                    </a:lnTo>
                    <a:lnTo>
                      <a:pt x="13100" y="237490"/>
                    </a:lnTo>
                    <a:lnTo>
                      <a:pt x="0" y="214312"/>
                    </a:lnTo>
                    <a:lnTo>
                      <a:pt x="0" y="138484"/>
                    </a:lnTo>
                    <a:lnTo>
                      <a:pt x="8828" y="144708"/>
                    </a:lnTo>
                    <a:lnTo>
                      <a:pt x="18693" y="150325"/>
                    </a:lnTo>
                    <a:lnTo>
                      <a:pt x="67798" y="167731"/>
                    </a:lnTo>
                    <a:lnTo>
                      <a:pt x="131464" y="177326"/>
                    </a:lnTo>
                    <a:lnTo>
                      <a:pt x="166687" y="178593"/>
                    </a:lnTo>
                    <a:lnTo>
                      <a:pt x="333375" y="178593"/>
                    </a:lnTo>
                    <a:lnTo>
                      <a:pt x="333375" y="214312"/>
                    </a:lnTo>
                    <a:lnTo>
                      <a:pt x="320274" y="237490"/>
                    </a:lnTo>
                    <a:lnTo>
                      <a:pt x="284550" y="256412"/>
                    </a:lnTo>
                    <a:lnTo>
                      <a:pt x="231566" y="269167"/>
                    </a:lnTo>
                    <a:lnTo>
                      <a:pt x="166687" y="273843"/>
                    </a:lnTo>
                    <a:close/>
                  </a:path>
                  <a:path w="333375" h="381000">
                    <a:moveTo>
                      <a:pt x="333375" y="178593"/>
                    </a:moveTo>
                    <a:lnTo>
                      <a:pt x="166687" y="178593"/>
                    </a:lnTo>
                    <a:lnTo>
                      <a:pt x="201910" y="177326"/>
                    </a:lnTo>
                    <a:lnTo>
                      <a:pt x="235111" y="173645"/>
                    </a:lnTo>
                    <a:lnTo>
                      <a:pt x="292596" y="159767"/>
                    </a:lnTo>
                    <a:lnTo>
                      <a:pt x="333375" y="138484"/>
                    </a:lnTo>
                    <a:lnTo>
                      <a:pt x="333375" y="178593"/>
                    </a:lnTo>
                    <a:close/>
                  </a:path>
                  <a:path w="333375" h="381000">
                    <a:moveTo>
                      <a:pt x="166687" y="381000"/>
                    </a:moveTo>
                    <a:lnTo>
                      <a:pt x="101808" y="376323"/>
                    </a:lnTo>
                    <a:lnTo>
                      <a:pt x="48824" y="363568"/>
                    </a:lnTo>
                    <a:lnTo>
                      <a:pt x="13100" y="344646"/>
                    </a:lnTo>
                    <a:lnTo>
                      <a:pt x="0" y="321468"/>
                    </a:lnTo>
                    <a:lnTo>
                      <a:pt x="0" y="257547"/>
                    </a:lnTo>
                    <a:lnTo>
                      <a:pt x="8828" y="263771"/>
                    </a:lnTo>
                    <a:lnTo>
                      <a:pt x="18693" y="269388"/>
                    </a:lnTo>
                    <a:lnTo>
                      <a:pt x="67798" y="286794"/>
                    </a:lnTo>
                    <a:lnTo>
                      <a:pt x="131464" y="296388"/>
                    </a:lnTo>
                    <a:lnTo>
                      <a:pt x="166687" y="297656"/>
                    </a:lnTo>
                    <a:lnTo>
                      <a:pt x="333375" y="297656"/>
                    </a:lnTo>
                    <a:lnTo>
                      <a:pt x="333375" y="321468"/>
                    </a:lnTo>
                    <a:lnTo>
                      <a:pt x="320274" y="344646"/>
                    </a:lnTo>
                    <a:lnTo>
                      <a:pt x="284550" y="363568"/>
                    </a:lnTo>
                    <a:lnTo>
                      <a:pt x="231566" y="376323"/>
                    </a:lnTo>
                    <a:lnTo>
                      <a:pt x="166687" y="381000"/>
                    </a:lnTo>
                    <a:close/>
                  </a:path>
                  <a:path w="333375" h="381000">
                    <a:moveTo>
                      <a:pt x="333375" y="297656"/>
                    </a:moveTo>
                    <a:lnTo>
                      <a:pt x="166687" y="297656"/>
                    </a:lnTo>
                    <a:lnTo>
                      <a:pt x="201910" y="296388"/>
                    </a:lnTo>
                    <a:lnTo>
                      <a:pt x="235111" y="292707"/>
                    </a:lnTo>
                    <a:lnTo>
                      <a:pt x="292596" y="278829"/>
                    </a:lnTo>
                    <a:lnTo>
                      <a:pt x="333375" y="257547"/>
                    </a:lnTo>
                    <a:lnTo>
                      <a:pt x="333375" y="29765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3" name="object 13">
              <a:extLst>
                <a:ext uri="{FF2B5EF4-FFF2-40B4-BE49-F238E27FC236}">
                  <a16:creationId xmlns:a16="http://schemas.microsoft.com/office/drawing/2014/main" id="{02D61EEA-97B9-96F4-33B5-7EDF926C41F7}"/>
                </a:ext>
              </a:extLst>
            </p:cNvPr>
            <p:cNvGrpSpPr/>
            <p:nvPr/>
          </p:nvGrpSpPr>
          <p:grpSpPr>
            <a:xfrm>
              <a:off x="10858499" y="3524250"/>
              <a:ext cx="762000" cy="762000"/>
              <a:chOff x="10858499" y="3524250"/>
              <a:chExt cx="762000" cy="762000"/>
            </a:xfrm>
          </p:grpSpPr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46D75D69-0D2D-74E7-FF20-5B05DA5FFAE2}"/>
                  </a:ext>
                </a:extLst>
              </p:cNvPr>
              <p:cNvSpPr/>
              <p:nvPr/>
            </p:nvSpPr>
            <p:spPr>
              <a:xfrm>
                <a:off x="10858499" y="3524250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673004" y="761999"/>
                    </a:moveTo>
                    <a:lnTo>
                      <a:pt x="88995" y="761999"/>
                    </a:lnTo>
                    <a:lnTo>
                      <a:pt x="82801" y="761389"/>
                    </a:lnTo>
                    <a:lnTo>
                      <a:pt x="37131" y="742472"/>
                    </a:lnTo>
                    <a:lnTo>
                      <a:pt x="9643" y="708978"/>
                    </a:lnTo>
                    <a:lnTo>
                      <a:pt x="0" y="673004"/>
                    </a:lnTo>
                    <a:lnTo>
                      <a:pt x="0" y="666749"/>
                    </a:lnTo>
                    <a:lnTo>
                      <a:pt x="0" y="88995"/>
                    </a:lnTo>
                    <a:lnTo>
                      <a:pt x="12577" y="47531"/>
                    </a:lnTo>
                    <a:lnTo>
                      <a:pt x="47532" y="12577"/>
                    </a:lnTo>
                    <a:lnTo>
                      <a:pt x="88995" y="0"/>
                    </a:lnTo>
                    <a:lnTo>
                      <a:pt x="673004" y="0"/>
                    </a:lnTo>
                    <a:lnTo>
                      <a:pt x="714467" y="12577"/>
                    </a:lnTo>
                    <a:lnTo>
                      <a:pt x="749421" y="47531"/>
                    </a:lnTo>
                    <a:lnTo>
                      <a:pt x="762000" y="88995"/>
                    </a:lnTo>
                    <a:lnTo>
                      <a:pt x="762000" y="673004"/>
                    </a:lnTo>
                    <a:lnTo>
                      <a:pt x="749421" y="714467"/>
                    </a:lnTo>
                    <a:lnTo>
                      <a:pt x="714467" y="749421"/>
                    </a:lnTo>
                    <a:lnTo>
                      <a:pt x="679198" y="761389"/>
                    </a:lnTo>
                    <a:lnTo>
                      <a:pt x="673004" y="761999"/>
                    </a:lnTo>
                    <a:close/>
                  </a:path>
                </a:pathLst>
              </a:custGeom>
              <a:solidFill>
                <a:srgbClr val="FFE3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D5902083-8BC9-2C70-36E0-D3201010466D}"/>
                  </a:ext>
                </a:extLst>
              </p:cNvPr>
              <p:cNvSpPr/>
              <p:nvPr/>
            </p:nvSpPr>
            <p:spPr>
              <a:xfrm>
                <a:off x="11001374" y="3714750"/>
                <a:ext cx="476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381000">
                    <a:moveTo>
                      <a:pt x="297656" y="142875"/>
                    </a:moveTo>
                    <a:lnTo>
                      <a:pt x="178593" y="142875"/>
                    </a:lnTo>
                    <a:lnTo>
                      <a:pt x="164693" y="140067"/>
                    </a:lnTo>
                    <a:lnTo>
                      <a:pt x="153339" y="132410"/>
                    </a:lnTo>
                    <a:lnTo>
                      <a:pt x="145682" y="121056"/>
                    </a:lnTo>
                    <a:lnTo>
                      <a:pt x="142875" y="107156"/>
                    </a:lnTo>
                    <a:lnTo>
                      <a:pt x="142875" y="35718"/>
                    </a:lnTo>
                    <a:lnTo>
                      <a:pt x="145682" y="21818"/>
                    </a:lnTo>
                    <a:lnTo>
                      <a:pt x="153339" y="10464"/>
                    </a:lnTo>
                    <a:lnTo>
                      <a:pt x="164693" y="2807"/>
                    </a:lnTo>
                    <a:lnTo>
                      <a:pt x="178593" y="0"/>
                    </a:lnTo>
                    <a:lnTo>
                      <a:pt x="297656" y="0"/>
                    </a:lnTo>
                    <a:lnTo>
                      <a:pt x="311556" y="2807"/>
                    </a:lnTo>
                    <a:lnTo>
                      <a:pt x="322910" y="10464"/>
                    </a:lnTo>
                    <a:lnTo>
                      <a:pt x="330567" y="21818"/>
                    </a:lnTo>
                    <a:lnTo>
                      <a:pt x="333375" y="35718"/>
                    </a:lnTo>
                    <a:lnTo>
                      <a:pt x="333375" y="47625"/>
                    </a:lnTo>
                    <a:lnTo>
                      <a:pt x="190500" y="47625"/>
                    </a:lnTo>
                    <a:lnTo>
                      <a:pt x="190500" y="95250"/>
                    </a:lnTo>
                    <a:lnTo>
                      <a:pt x="333375" y="95250"/>
                    </a:lnTo>
                    <a:lnTo>
                      <a:pt x="333375" y="107156"/>
                    </a:lnTo>
                    <a:lnTo>
                      <a:pt x="330567" y="121056"/>
                    </a:lnTo>
                    <a:lnTo>
                      <a:pt x="322910" y="132410"/>
                    </a:lnTo>
                    <a:lnTo>
                      <a:pt x="311556" y="140067"/>
                    </a:lnTo>
                    <a:lnTo>
                      <a:pt x="297656" y="142875"/>
                    </a:lnTo>
                    <a:close/>
                  </a:path>
                  <a:path w="476250" h="381000">
                    <a:moveTo>
                      <a:pt x="333375" y="95250"/>
                    </a:moveTo>
                    <a:lnTo>
                      <a:pt x="285750" y="95250"/>
                    </a:lnTo>
                    <a:lnTo>
                      <a:pt x="285750" y="47625"/>
                    </a:lnTo>
                    <a:lnTo>
                      <a:pt x="333375" y="47625"/>
                    </a:lnTo>
                    <a:lnTo>
                      <a:pt x="333375" y="95250"/>
                    </a:lnTo>
                    <a:close/>
                  </a:path>
                  <a:path w="476250" h="381000">
                    <a:moveTo>
                      <a:pt x="261937" y="166687"/>
                    </a:moveTo>
                    <a:lnTo>
                      <a:pt x="214312" y="166687"/>
                    </a:lnTo>
                    <a:lnTo>
                      <a:pt x="214312" y="142875"/>
                    </a:lnTo>
                    <a:lnTo>
                      <a:pt x="261937" y="142875"/>
                    </a:lnTo>
                    <a:lnTo>
                      <a:pt x="261937" y="166687"/>
                    </a:lnTo>
                    <a:close/>
                  </a:path>
                  <a:path w="476250" h="381000">
                    <a:moveTo>
                      <a:pt x="452437" y="214312"/>
                    </a:moveTo>
                    <a:lnTo>
                      <a:pt x="23812" y="214312"/>
                    </a:lnTo>
                    <a:lnTo>
                      <a:pt x="14535" y="212444"/>
                    </a:lnTo>
                    <a:lnTo>
                      <a:pt x="6967" y="207345"/>
                    </a:lnTo>
                    <a:lnTo>
                      <a:pt x="1868" y="199777"/>
                    </a:lnTo>
                    <a:lnTo>
                      <a:pt x="0" y="190500"/>
                    </a:lnTo>
                    <a:lnTo>
                      <a:pt x="1868" y="181222"/>
                    </a:lnTo>
                    <a:lnTo>
                      <a:pt x="6967" y="173654"/>
                    </a:lnTo>
                    <a:lnTo>
                      <a:pt x="14535" y="168555"/>
                    </a:lnTo>
                    <a:lnTo>
                      <a:pt x="23812" y="166687"/>
                    </a:lnTo>
                    <a:lnTo>
                      <a:pt x="452437" y="166687"/>
                    </a:lnTo>
                    <a:lnTo>
                      <a:pt x="461714" y="168555"/>
                    </a:lnTo>
                    <a:lnTo>
                      <a:pt x="469283" y="173654"/>
                    </a:lnTo>
                    <a:lnTo>
                      <a:pt x="474381" y="181222"/>
                    </a:lnTo>
                    <a:lnTo>
                      <a:pt x="476250" y="190500"/>
                    </a:lnTo>
                    <a:lnTo>
                      <a:pt x="474381" y="199777"/>
                    </a:lnTo>
                    <a:lnTo>
                      <a:pt x="469283" y="207345"/>
                    </a:lnTo>
                    <a:lnTo>
                      <a:pt x="461714" y="212444"/>
                    </a:lnTo>
                    <a:lnTo>
                      <a:pt x="452437" y="214312"/>
                    </a:lnTo>
                    <a:close/>
                  </a:path>
                  <a:path w="476250" h="381000">
                    <a:moveTo>
                      <a:pt x="142875" y="238125"/>
                    </a:moveTo>
                    <a:lnTo>
                      <a:pt x="95250" y="238125"/>
                    </a:lnTo>
                    <a:lnTo>
                      <a:pt x="95250" y="214312"/>
                    </a:lnTo>
                    <a:lnTo>
                      <a:pt x="142875" y="214312"/>
                    </a:lnTo>
                    <a:lnTo>
                      <a:pt x="142875" y="238125"/>
                    </a:lnTo>
                    <a:close/>
                  </a:path>
                  <a:path w="476250" h="381000">
                    <a:moveTo>
                      <a:pt x="381000" y="238125"/>
                    </a:moveTo>
                    <a:lnTo>
                      <a:pt x="333375" y="238125"/>
                    </a:lnTo>
                    <a:lnTo>
                      <a:pt x="333375" y="214312"/>
                    </a:lnTo>
                    <a:lnTo>
                      <a:pt x="381000" y="214312"/>
                    </a:lnTo>
                    <a:lnTo>
                      <a:pt x="381000" y="238125"/>
                    </a:lnTo>
                    <a:close/>
                  </a:path>
                  <a:path w="476250" h="381000">
                    <a:moveTo>
                      <a:pt x="178593" y="381000"/>
                    </a:moveTo>
                    <a:lnTo>
                      <a:pt x="59531" y="381000"/>
                    </a:lnTo>
                    <a:lnTo>
                      <a:pt x="45630" y="378192"/>
                    </a:lnTo>
                    <a:lnTo>
                      <a:pt x="34276" y="370535"/>
                    </a:lnTo>
                    <a:lnTo>
                      <a:pt x="26620" y="359181"/>
                    </a:lnTo>
                    <a:lnTo>
                      <a:pt x="23812" y="345281"/>
                    </a:lnTo>
                    <a:lnTo>
                      <a:pt x="23812" y="273843"/>
                    </a:lnTo>
                    <a:lnTo>
                      <a:pt x="26620" y="259943"/>
                    </a:lnTo>
                    <a:lnTo>
                      <a:pt x="34276" y="248589"/>
                    </a:lnTo>
                    <a:lnTo>
                      <a:pt x="45630" y="240932"/>
                    </a:lnTo>
                    <a:lnTo>
                      <a:pt x="59531" y="238125"/>
                    </a:lnTo>
                    <a:lnTo>
                      <a:pt x="178593" y="238125"/>
                    </a:lnTo>
                    <a:lnTo>
                      <a:pt x="192494" y="240932"/>
                    </a:lnTo>
                    <a:lnTo>
                      <a:pt x="203848" y="248589"/>
                    </a:lnTo>
                    <a:lnTo>
                      <a:pt x="211504" y="259943"/>
                    </a:lnTo>
                    <a:lnTo>
                      <a:pt x="214312" y="273843"/>
                    </a:lnTo>
                    <a:lnTo>
                      <a:pt x="214312" y="285750"/>
                    </a:lnTo>
                    <a:lnTo>
                      <a:pt x="71437" y="285750"/>
                    </a:lnTo>
                    <a:lnTo>
                      <a:pt x="71437" y="333375"/>
                    </a:lnTo>
                    <a:lnTo>
                      <a:pt x="214312" y="333375"/>
                    </a:lnTo>
                    <a:lnTo>
                      <a:pt x="214312" y="345281"/>
                    </a:lnTo>
                    <a:lnTo>
                      <a:pt x="211504" y="359181"/>
                    </a:lnTo>
                    <a:lnTo>
                      <a:pt x="203848" y="370535"/>
                    </a:lnTo>
                    <a:lnTo>
                      <a:pt x="192494" y="378192"/>
                    </a:lnTo>
                    <a:lnTo>
                      <a:pt x="178593" y="381000"/>
                    </a:lnTo>
                    <a:close/>
                  </a:path>
                  <a:path w="476250" h="381000">
                    <a:moveTo>
                      <a:pt x="416718" y="381000"/>
                    </a:moveTo>
                    <a:lnTo>
                      <a:pt x="297656" y="381000"/>
                    </a:lnTo>
                    <a:lnTo>
                      <a:pt x="283755" y="378192"/>
                    </a:lnTo>
                    <a:lnTo>
                      <a:pt x="272401" y="370535"/>
                    </a:lnTo>
                    <a:lnTo>
                      <a:pt x="264745" y="359181"/>
                    </a:lnTo>
                    <a:lnTo>
                      <a:pt x="261937" y="345281"/>
                    </a:lnTo>
                    <a:lnTo>
                      <a:pt x="261937" y="273843"/>
                    </a:lnTo>
                    <a:lnTo>
                      <a:pt x="264745" y="259943"/>
                    </a:lnTo>
                    <a:lnTo>
                      <a:pt x="272401" y="248589"/>
                    </a:lnTo>
                    <a:lnTo>
                      <a:pt x="283755" y="240932"/>
                    </a:lnTo>
                    <a:lnTo>
                      <a:pt x="297656" y="238125"/>
                    </a:lnTo>
                    <a:lnTo>
                      <a:pt x="416718" y="238125"/>
                    </a:lnTo>
                    <a:lnTo>
                      <a:pt x="430619" y="240932"/>
                    </a:lnTo>
                    <a:lnTo>
                      <a:pt x="441973" y="248589"/>
                    </a:lnTo>
                    <a:lnTo>
                      <a:pt x="449629" y="259943"/>
                    </a:lnTo>
                    <a:lnTo>
                      <a:pt x="452437" y="273843"/>
                    </a:lnTo>
                    <a:lnTo>
                      <a:pt x="452437" y="285750"/>
                    </a:lnTo>
                    <a:lnTo>
                      <a:pt x="309562" y="285750"/>
                    </a:lnTo>
                    <a:lnTo>
                      <a:pt x="309562" y="333375"/>
                    </a:lnTo>
                    <a:lnTo>
                      <a:pt x="452437" y="333375"/>
                    </a:lnTo>
                    <a:lnTo>
                      <a:pt x="452437" y="345281"/>
                    </a:lnTo>
                    <a:lnTo>
                      <a:pt x="449629" y="359181"/>
                    </a:lnTo>
                    <a:lnTo>
                      <a:pt x="441973" y="370535"/>
                    </a:lnTo>
                    <a:lnTo>
                      <a:pt x="430619" y="378192"/>
                    </a:lnTo>
                    <a:lnTo>
                      <a:pt x="416718" y="381000"/>
                    </a:lnTo>
                    <a:close/>
                  </a:path>
                  <a:path w="476250" h="381000">
                    <a:moveTo>
                      <a:pt x="214312" y="333375"/>
                    </a:moveTo>
                    <a:lnTo>
                      <a:pt x="166687" y="333375"/>
                    </a:lnTo>
                    <a:lnTo>
                      <a:pt x="166687" y="285750"/>
                    </a:lnTo>
                    <a:lnTo>
                      <a:pt x="214312" y="285750"/>
                    </a:lnTo>
                    <a:lnTo>
                      <a:pt x="214312" y="333375"/>
                    </a:lnTo>
                    <a:close/>
                  </a:path>
                  <a:path w="476250" h="381000">
                    <a:moveTo>
                      <a:pt x="452437" y="333375"/>
                    </a:moveTo>
                    <a:lnTo>
                      <a:pt x="404812" y="333375"/>
                    </a:lnTo>
                    <a:lnTo>
                      <a:pt x="404812" y="285750"/>
                    </a:lnTo>
                    <a:lnTo>
                      <a:pt x="452437" y="285750"/>
                    </a:lnTo>
                    <a:lnTo>
                      <a:pt x="452437" y="33337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F0492AD-B60B-96D4-03DF-B43C50692F69}"/>
              </a:ext>
            </a:extLst>
          </p:cNvPr>
          <p:cNvCxnSpPr/>
          <p:nvPr/>
        </p:nvCxnSpPr>
        <p:spPr>
          <a:xfrm>
            <a:off x="685800" y="761206"/>
            <a:ext cx="0" cy="1524000"/>
          </a:xfrm>
          <a:prstGeom prst="line">
            <a:avLst/>
          </a:prstGeom>
          <a:ln w="5080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99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00921-D7B8-35D3-3307-5CD81ABC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030D37C-621A-E971-04C3-B1B1E660C2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2680" y="723067"/>
            <a:ext cx="8489951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lang="en-US" sz="3600" spc="-90" dirty="0">
                <a:solidFill>
                  <a:schemeClr val="accent6"/>
                </a:solidFill>
              </a:rPr>
              <a:t>Evaluation</a:t>
            </a:r>
            <a:r>
              <a:rPr lang="en-US" sz="3600" spc="-20" dirty="0">
                <a:solidFill>
                  <a:schemeClr val="accent6"/>
                </a:solidFill>
              </a:rPr>
              <a:t> </a:t>
            </a:r>
            <a:r>
              <a:rPr lang="en-US" sz="3600" spc="-105" dirty="0">
                <a:solidFill>
                  <a:schemeClr val="accent6"/>
                </a:solidFill>
              </a:rPr>
              <a:t>&amp;</a:t>
            </a:r>
            <a:r>
              <a:rPr lang="en-US" sz="3600" spc="-20" dirty="0">
                <a:solidFill>
                  <a:schemeClr val="accent6"/>
                </a:solidFill>
              </a:rPr>
              <a:t> </a:t>
            </a:r>
            <a:r>
              <a:rPr lang="en-US" sz="3600" spc="-80" dirty="0">
                <a:solidFill>
                  <a:schemeClr val="accent6"/>
                </a:solidFill>
              </a:rPr>
              <a:t>Results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181305F-9A17-503E-0238-A5FF442E9893}"/>
              </a:ext>
            </a:extLst>
          </p:cNvPr>
          <p:cNvSpPr txBox="1"/>
          <p:nvPr/>
        </p:nvSpPr>
        <p:spPr>
          <a:xfrm>
            <a:off x="10689232" y="67889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CB79FD-7273-2748-70BB-1F88DDE87634}"/>
              </a:ext>
            </a:extLst>
          </p:cNvPr>
          <p:cNvSpPr txBox="1"/>
          <p:nvPr/>
        </p:nvSpPr>
        <p:spPr>
          <a:xfrm>
            <a:off x="1143000" y="1026061"/>
            <a:ext cx="6477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evaluation </a:t>
            </a:r>
            <a:endParaRPr lang="en-US" dirty="0">
              <a:latin typeface="Montserrat Medium"/>
              <a:cs typeface="Montserrat Medium"/>
            </a:endParaRP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2C7C81-AB07-994D-9E6A-FF2E92429107}"/>
              </a:ext>
            </a:extLst>
          </p:cNvPr>
          <p:cNvGrpSpPr/>
          <p:nvPr/>
        </p:nvGrpSpPr>
        <p:grpSpPr>
          <a:xfrm>
            <a:off x="956187" y="1826407"/>
            <a:ext cx="4219723" cy="685800"/>
            <a:chOff x="956186" y="1826407"/>
            <a:chExt cx="10279500" cy="685800"/>
          </a:xfrm>
        </p:grpSpPr>
        <p:grpSp>
          <p:nvGrpSpPr>
            <p:cNvPr id="5" name="object 11">
              <a:extLst>
                <a:ext uri="{FF2B5EF4-FFF2-40B4-BE49-F238E27FC236}">
                  <a16:creationId xmlns:a16="http://schemas.microsoft.com/office/drawing/2014/main" id="{BDD7C62E-C9AB-8E38-9EC2-0E21F1616179}"/>
                </a:ext>
              </a:extLst>
            </p:cNvPr>
            <p:cNvGrpSpPr/>
            <p:nvPr/>
          </p:nvGrpSpPr>
          <p:grpSpPr>
            <a:xfrm>
              <a:off x="956186" y="1826407"/>
              <a:ext cx="9365225" cy="685800"/>
              <a:chOff x="914399" y="4610099"/>
              <a:chExt cx="16108982" cy="1066800"/>
            </a:xfrm>
          </p:grpSpPr>
          <p:sp>
            <p:nvSpPr>
              <p:cNvPr id="8" name="object 12">
                <a:extLst>
                  <a:ext uri="{FF2B5EF4-FFF2-40B4-BE49-F238E27FC236}">
                    <a16:creationId xmlns:a16="http://schemas.microsoft.com/office/drawing/2014/main" id="{21E50E30-9055-1B85-9F7D-5401680B65F3}"/>
                  </a:ext>
                </a:extLst>
              </p:cNvPr>
              <p:cNvSpPr/>
              <p:nvPr/>
            </p:nvSpPr>
            <p:spPr>
              <a:xfrm>
                <a:off x="933447" y="4610099"/>
                <a:ext cx="16089934" cy="1066800"/>
              </a:xfrm>
              <a:custGeom>
                <a:avLst/>
                <a:gdLst/>
                <a:ahLst/>
                <a:cxnLst/>
                <a:rect l="l" t="t" r="r" b="b"/>
                <a:pathLst>
                  <a:path w="10344150" h="1066800">
                    <a:moveTo>
                      <a:pt x="10272952" y="1066799"/>
                    </a:moveTo>
                    <a:lnTo>
                      <a:pt x="0" y="1066799"/>
                    </a:lnTo>
                    <a:lnTo>
                      <a:pt x="0" y="0"/>
                    </a:lnTo>
                    <a:lnTo>
                      <a:pt x="10272952" y="0"/>
                    </a:lnTo>
                    <a:lnTo>
                      <a:pt x="10277906" y="488"/>
                    </a:lnTo>
                    <a:lnTo>
                      <a:pt x="10314440" y="15621"/>
                    </a:lnTo>
                    <a:lnTo>
                      <a:pt x="10340262" y="51661"/>
                    </a:lnTo>
                    <a:lnTo>
                      <a:pt x="10344148" y="71196"/>
                    </a:lnTo>
                    <a:lnTo>
                      <a:pt x="10344148" y="995603"/>
                    </a:lnTo>
                    <a:lnTo>
                      <a:pt x="10328525" y="1037094"/>
                    </a:lnTo>
                    <a:lnTo>
                      <a:pt x="10292486" y="1062913"/>
                    </a:lnTo>
                    <a:lnTo>
                      <a:pt x="10272952" y="1066799"/>
                    </a:lnTo>
                    <a:close/>
                  </a:path>
                </a:pathLst>
              </a:custGeom>
              <a:solidFill>
                <a:srgbClr val="FF6A00">
                  <a:alpha val="5099"/>
                </a:srgbClr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9" name="object 13">
                <a:extLst>
                  <a:ext uri="{FF2B5EF4-FFF2-40B4-BE49-F238E27FC236}">
                    <a16:creationId xmlns:a16="http://schemas.microsoft.com/office/drawing/2014/main" id="{8509251B-9E57-A842-4A83-D19E72648BB9}"/>
                  </a:ext>
                </a:extLst>
              </p:cNvPr>
              <p:cNvSpPr/>
              <p:nvPr/>
            </p:nvSpPr>
            <p:spPr>
              <a:xfrm>
                <a:off x="914399" y="4610099"/>
                <a:ext cx="38100" cy="10668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66800">
                    <a:moveTo>
                      <a:pt x="38099" y="1066799"/>
                    </a:moveTo>
                    <a:lnTo>
                      <a:pt x="0" y="1066799"/>
                    </a:lnTo>
                    <a:lnTo>
                      <a:pt x="0" y="0"/>
                    </a:lnTo>
                    <a:lnTo>
                      <a:pt x="38099" y="0"/>
                    </a:lnTo>
                    <a:lnTo>
                      <a:pt x="38099" y="1066799"/>
                    </a:lnTo>
                    <a:close/>
                  </a:path>
                </a:pathLst>
              </a:custGeom>
              <a:solidFill>
                <a:srgbClr val="FF6A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BF7E2D-1C78-2C1E-A968-A4F51DCB5507}"/>
                </a:ext>
              </a:extLst>
            </p:cNvPr>
            <p:cNvSpPr txBox="1"/>
            <p:nvPr/>
          </p:nvSpPr>
          <p:spPr>
            <a:xfrm>
              <a:off x="2974143" y="1902547"/>
              <a:ext cx="8261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accent6"/>
                  </a:solidFill>
                </a:rPr>
                <a:t>Low note model</a:t>
              </a:r>
            </a:p>
          </p:txBody>
        </p:sp>
      </p:grpSp>
      <p:pic>
        <p:nvPicPr>
          <p:cNvPr id="11" name="Graphic 10" descr="Music notes outline">
            <a:extLst>
              <a:ext uri="{FF2B5EF4-FFF2-40B4-BE49-F238E27FC236}">
                <a16:creationId xmlns:a16="http://schemas.microsoft.com/office/drawing/2014/main" id="{FBE3E8E6-8836-0BB5-AB83-617902458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493" y="1794822"/>
            <a:ext cx="677116" cy="677116"/>
          </a:xfrm>
          <a:prstGeom prst="rect">
            <a:avLst/>
          </a:prstGeom>
        </p:spPr>
      </p:pic>
      <p:pic>
        <p:nvPicPr>
          <p:cNvPr id="12" name="image20.png">
            <a:extLst>
              <a:ext uri="{FF2B5EF4-FFF2-40B4-BE49-F238E27FC236}">
                <a16:creationId xmlns:a16="http://schemas.microsoft.com/office/drawing/2014/main" id="{2D5E5A39-349A-9EA8-DCA3-81299AB97F5A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6154697" y="1122565"/>
            <a:ext cx="5715000" cy="4744041"/>
          </a:xfrm>
          <a:prstGeom prst="rect">
            <a:avLst/>
          </a:prstGeom>
          <a:ln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D1E8EC0-6383-78FC-ACA4-D0B22519DBE0}"/>
              </a:ext>
            </a:extLst>
          </p:cNvPr>
          <p:cNvSpPr txBox="1"/>
          <p:nvPr/>
        </p:nvSpPr>
        <p:spPr>
          <a:xfrm>
            <a:off x="1011493" y="2666206"/>
            <a:ext cx="50258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🎯 </a:t>
            </a:r>
            <a:r>
              <a:rPr lang="en-US" b="1" dirty="0">
                <a:latin typeface="Montserrat" panose="00000500000000000000" pitchFamily="2" charset="0"/>
              </a:rPr>
              <a:t>Accuracy on Kaggle Guitar Notes Dataset (E2–B2)</a:t>
            </a:r>
            <a:endParaRPr lang="en-US" dirty="0">
              <a:latin typeface="Montserrat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Achieved 84.13% accuracy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Strong results on A2, G2, A#2, G#2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Most errors occur between adjacent low notes (e.g., E2 ↔ G#2)</a:t>
            </a:r>
          </a:p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6F2BBB9-CD9C-9F1C-794C-3758D721F9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0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0A724-EC8A-0D9A-6A12-1D5FBE17C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21CE78-CD4B-C9C8-5C0C-A111503A42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2680" y="723067"/>
            <a:ext cx="8489951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</a:pPr>
            <a:r>
              <a:rPr lang="en-US" sz="3600" spc="-90" dirty="0">
                <a:solidFill>
                  <a:schemeClr val="accent6"/>
                </a:solidFill>
              </a:rPr>
              <a:t>Evaluation</a:t>
            </a:r>
            <a:r>
              <a:rPr lang="en-US" sz="3600" spc="-20" dirty="0">
                <a:solidFill>
                  <a:schemeClr val="accent6"/>
                </a:solidFill>
              </a:rPr>
              <a:t> </a:t>
            </a:r>
            <a:r>
              <a:rPr lang="en-US" sz="3600" spc="-105" dirty="0">
                <a:solidFill>
                  <a:schemeClr val="accent6"/>
                </a:solidFill>
              </a:rPr>
              <a:t>&amp;</a:t>
            </a:r>
            <a:r>
              <a:rPr lang="en-US" sz="3600" spc="-20" dirty="0">
                <a:solidFill>
                  <a:schemeClr val="accent6"/>
                </a:solidFill>
              </a:rPr>
              <a:t> </a:t>
            </a:r>
            <a:r>
              <a:rPr lang="en-US" sz="3600" spc="-80" dirty="0">
                <a:solidFill>
                  <a:schemeClr val="accent6"/>
                </a:solidFill>
              </a:rPr>
              <a:t>Results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3FA047F-32F1-6016-5E35-19F0DA777636}"/>
              </a:ext>
            </a:extLst>
          </p:cNvPr>
          <p:cNvSpPr txBox="1"/>
          <p:nvPr/>
        </p:nvSpPr>
        <p:spPr>
          <a:xfrm>
            <a:off x="10689232" y="6788949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80" dirty="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sz="10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sz="1000" spc="-1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5CA52-9F79-A479-572A-AA238F7501C4}"/>
              </a:ext>
            </a:extLst>
          </p:cNvPr>
          <p:cNvSpPr txBox="1"/>
          <p:nvPr/>
        </p:nvSpPr>
        <p:spPr>
          <a:xfrm>
            <a:off x="1122680" y="1043008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Real-Time &amp; System Performance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4C0C4AC-6116-F24A-865D-CBA65C1EBA0B}"/>
              </a:ext>
            </a:extLst>
          </p:cNvPr>
          <p:cNvGrpSpPr/>
          <p:nvPr/>
        </p:nvGrpSpPr>
        <p:grpSpPr>
          <a:xfrm>
            <a:off x="228600" y="1859420"/>
            <a:ext cx="11796838" cy="4273926"/>
            <a:chOff x="228600" y="1859420"/>
            <a:chExt cx="11796838" cy="4273926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C589B1F-C99B-893B-9B16-B9C48F42E046}"/>
                </a:ext>
              </a:extLst>
            </p:cNvPr>
            <p:cNvSpPr/>
            <p:nvPr/>
          </p:nvSpPr>
          <p:spPr>
            <a:xfrm>
              <a:off x="228600" y="4342606"/>
              <a:ext cx="3962400" cy="179074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255F618-A81F-7FD0-1C4A-3E28E76D56B2}"/>
                </a:ext>
              </a:extLst>
            </p:cNvPr>
            <p:cNvGrpSpPr/>
            <p:nvPr/>
          </p:nvGrpSpPr>
          <p:grpSpPr>
            <a:xfrm>
              <a:off x="838200" y="1859420"/>
              <a:ext cx="5381545" cy="299720"/>
              <a:chOff x="229314" y="920750"/>
              <a:chExt cx="5381545" cy="299720"/>
            </a:xfrm>
          </p:grpSpPr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086DA821-2425-05E9-167F-D2BDEA9DAB5E}"/>
                  </a:ext>
                </a:extLst>
              </p:cNvPr>
              <p:cNvSpPr/>
              <p:nvPr/>
            </p:nvSpPr>
            <p:spPr>
              <a:xfrm>
                <a:off x="229314" y="956071"/>
                <a:ext cx="281940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281940" h="223519">
                    <a:moveTo>
                      <a:pt x="107022" y="30480"/>
                    </a:moveTo>
                    <a:lnTo>
                      <a:pt x="34468" y="30480"/>
                    </a:lnTo>
                    <a:lnTo>
                      <a:pt x="39245" y="26670"/>
                    </a:lnTo>
                    <a:lnTo>
                      <a:pt x="44693" y="22860"/>
                    </a:lnTo>
                    <a:lnTo>
                      <a:pt x="50631" y="20320"/>
                    </a:lnTo>
                    <a:lnTo>
                      <a:pt x="54203" y="3810"/>
                    </a:lnTo>
                    <a:lnTo>
                      <a:pt x="57417" y="0"/>
                    </a:lnTo>
                    <a:lnTo>
                      <a:pt x="84073" y="0"/>
                    </a:lnTo>
                    <a:lnTo>
                      <a:pt x="87287" y="3810"/>
                    </a:lnTo>
                    <a:lnTo>
                      <a:pt x="88136" y="7620"/>
                    </a:lnTo>
                    <a:lnTo>
                      <a:pt x="90859" y="20320"/>
                    </a:lnTo>
                    <a:lnTo>
                      <a:pt x="96753" y="22860"/>
                    </a:lnTo>
                    <a:lnTo>
                      <a:pt x="102244" y="26670"/>
                    </a:lnTo>
                    <a:lnTo>
                      <a:pt x="107022" y="30480"/>
                    </a:lnTo>
                    <a:close/>
                  </a:path>
                  <a:path w="281940" h="223519">
                    <a:moveTo>
                      <a:pt x="17814" y="124460"/>
                    </a:moveTo>
                    <a:lnTo>
                      <a:pt x="13349" y="123190"/>
                    </a:lnTo>
                    <a:lnTo>
                      <a:pt x="10804" y="119380"/>
                    </a:lnTo>
                    <a:lnTo>
                      <a:pt x="9197" y="116840"/>
                    </a:lnTo>
                    <a:lnTo>
                      <a:pt x="7724" y="115570"/>
                    </a:lnTo>
                    <a:lnTo>
                      <a:pt x="5045" y="110490"/>
                    </a:lnTo>
                    <a:lnTo>
                      <a:pt x="3795" y="107950"/>
                    </a:lnTo>
                    <a:lnTo>
                      <a:pt x="2678" y="106680"/>
                    </a:lnTo>
                    <a:lnTo>
                      <a:pt x="1651" y="104140"/>
                    </a:lnTo>
                    <a:lnTo>
                      <a:pt x="0" y="100330"/>
                    </a:lnTo>
                    <a:lnTo>
                      <a:pt x="1250" y="95250"/>
                    </a:lnTo>
                    <a:lnTo>
                      <a:pt x="14332" y="83820"/>
                    </a:lnTo>
                    <a:lnTo>
                      <a:pt x="13841" y="81280"/>
                    </a:lnTo>
                    <a:lnTo>
                      <a:pt x="13573" y="77470"/>
                    </a:lnTo>
                    <a:lnTo>
                      <a:pt x="13573" y="71120"/>
                    </a:lnTo>
                    <a:lnTo>
                      <a:pt x="13841" y="68580"/>
                    </a:lnTo>
                    <a:lnTo>
                      <a:pt x="14332" y="64770"/>
                    </a:lnTo>
                    <a:lnTo>
                      <a:pt x="4364" y="55835"/>
                    </a:lnTo>
                    <a:lnTo>
                      <a:pt x="1250" y="53340"/>
                    </a:lnTo>
                    <a:lnTo>
                      <a:pt x="0" y="49530"/>
                    </a:lnTo>
                    <a:lnTo>
                      <a:pt x="2678" y="43180"/>
                    </a:lnTo>
                    <a:lnTo>
                      <a:pt x="3795" y="40640"/>
                    </a:lnTo>
                    <a:lnTo>
                      <a:pt x="6384" y="35560"/>
                    </a:lnTo>
                    <a:lnTo>
                      <a:pt x="7768" y="33020"/>
                    </a:lnTo>
                    <a:lnTo>
                      <a:pt x="9242" y="31750"/>
                    </a:lnTo>
                    <a:lnTo>
                      <a:pt x="13349" y="25400"/>
                    </a:lnTo>
                    <a:lnTo>
                      <a:pt x="17814" y="24130"/>
                    </a:lnTo>
                    <a:lnTo>
                      <a:pt x="21833" y="26670"/>
                    </a:lnTo>
                    <a:lnTo>
                      <a:pt x="34468" y="30480"/>
                    </a:lnTo>
                    <a:lnTo>
                      <a:pt x="131382" y="30480"/>
                    </a:lnTo>
                    <a:lnTo>
                      <a:pt x="132204" y="31750"/>
                    </a:lnTo>
                    <a:lnTo>
                      <a:pt x="133677" y="33020"/>
                    </a:lnTo>
                    <a:lnTo>
                      <a:pt x="135016" y="35560"/>
                    </a:lnTo>
                    <a:lnTo>
                      <a:pt x="136400" y="38100"/>
                    </a:lnTo>
                    <a:lnTo>
                      <a:pt x="137651" y="40640"/>
                    </a:lnTo>
                    <a:lnTo>
                      <a:pt x="138767" y="43180"/>
                    </a:lnTo>
                    <a:lnTo>
                      <a:pt x="139794" y="44450"/>
                    </a:lnTo>
                    <a:lnTo>
                      <a:pt x="141446" y="49530"/>
                    </a:lnTo>
                    <a:lnTo>
                      <a:pt x="140196" y="53340"/>
                    </a:lnTo>
                    <a:lnTo>
                      <a:pt x="65147" y="53340"/>
                    </a:lnTo>
                    <a:lnTo>
                      <a:pt x="59987" y="55835"/>
                    </a:lnTo>
                    <a:lnTo>
                      <a:pt x="49291" y="71120"/>
                    </a:lnTo>
                    <a:lnTo>
                      <a:pt x="49291" y="77470"/>
                    </a:lnTo>
                    <a:lnTo>
                      <a:pt x="65147" y="95250"/>
                    </a:lnTo>
                    <a:lnTo>
                      <a:pt x="140106" y="95250"/>
                    </a:lnTo>
                    <a:lnTo>
                      <a:pt x="141356" y="100330"/>
                    </a:lnTo>
                    <a:lnTo>
                      <a:pt x="138678" y="105410"/>
                    </a:lnTo>
                    <a:lnTo>
                      <a:pt x="137561" y="107950"/>
                    </a:lnTo>
                    <a:lnTo>
                      <a:pt x="136311" y="110490"/>
                    </a:lnTo>
                    <a:lnTo>
                      <a:pt x="134927" y="113030"/>
                    </a:lnTo>
                    <a:lnTo>
                      <a:pt x="133588" y="115570"/>
                    </a:lnTo>
                    <a:lnTo>
                      <a:pt x="132114" y="116840"/>
                    </a:lnTo>
                    <a:lnTo>
                      <a:pt x="131293" y="118110"/>
                    </a:lnTo>
                    <a:lnTo>
                      <a:pt x="34423" y="118110"/>
                    </a:lnTo>
                    <a:lnTo>
                      <a:pt x="17814" y="124460"/>
                    </a:lnTo>
                    <a:close/>
                  </a:path>
                  <a:path w="281940" h="223519">
                    <a:moveTo>
                      <a:pt x="131382" y="30480"/>
                    </a:moveTo>
                    <a:lnTo>
                      <a:pt x="107022" y="30480"/>
                    </a:lnTo>
                    <a:lnTo>
                      <a:pt x="123631" y="24130"/>
                    </a:lnTo>
                    <a:lnTo>
                      <a:pt x="128096" y="25400"/>
                    </a:lnTo>
                    <a:lnTo>
                      <a:pt x="131382" y="30480"/>
                    </a:lnTo>
                    <a:close/>
                  </a:path>
                  <a:path w="281940" h="223519">
                    <a:moveTo>
                      <a:pt x="140106" y="95250"/>
                    </a:moveTo>
                    <a:lnTo>
                      <a:pt x="76298" y="95250"/>
                    </a:lnTo>
                    <a:lnTo>
                      <a:pt x="81550" y="92710"/>
                    </a:lnTo>
                    <a:lnTo>
                      <a:pt x="83867" y="91440"/>
                    </a:lnTo>
                    <a:lnTo>
                      <a:pt x="87886" y="87630"/>
                    </a:lnTo>
                    <a:lnTo>
                      <a:pt x="89435" y="85090"/>
                    </a:lnTo>
                    <a:lnTo>
                      <a:pt x="91610" y="80010"/>
                    </a:lnTo>
                    <a:lnTo>
                      <a:pt x="92154" y="77470"/>
                    </a:lnTo>
                    <a:lnTo>
                      <a:pt x="92154" y="71120"/>
                    </a:lnTo>
                    <a:lnTo>
                      <a:pt x="76298" y="53340"/>
                    </a:lnTo>
                    <a:lnTo>
                      <a:pt x="140196" y="53340"/>
                    </a:lnTo>
                    <a:lnTo>
                      <a:pt x="136188" y="56550"/>
                    </a:lnTo>
                    <a:lnTo>
                      <a:pt x="127024" y="64770"/>
                    </a:lnTo>
                    <a:lnTo>
                      <a:pt x="127515" y="68580"/>
                    </a:lnTo>
                    <a:lnTo>
                      <a:pt x="127783" y="71120"/>
                    </a:lnTo>
                    <a:lnTo>
                      <a:pt x="127783" y="77470"/>
                    </a:lnTo>
                    <a:lnTo>
                      <a:pt x="127515" y="80010"/>
                    </a:lnTo>
                    <a:lnTo>
                      <a:pt x="127024" y="83820"/>
                    </a:lnTo>
                    <a:lnTo>
                      <a:pt x="136936" y="92710"/>
                    </a:lnTo>
                    <a:lnTo>
                      <a:pt x="140106" y="95250"/>
                    </a:lnTo>
                    <a:close/>
                  </a:path>
                  <a:path w="281940" h="223519">
                    <a:moveTo>
                      <a:pt x="181049" y="223520"/>
                    </a:moveTo>
                    <a:lnTo>
                      <a:pt x="174798" y="220980"/>
                    </a:lnTo>
                    <a:lnTo>
                      <a:pt x="172438" y="219687"/>
                    </a:lnTo>
                    <a:lnTo>
                      <a:pt x="170244" y="218440"/>
                    </a:lnTo>
                    <a:lnTo>
                      <a:pt x="167833" y="217170"/>
                    </a:lnTo>
                    <a:lnTo>
                      <a:pt x="165556" y="215900"/>
                    </a:lnTo>
                    <a:lnTo>
                      <a:pt x="163413" y="214630"/>
                    </a:lnTo>
                    <a:lnTo>
                      <a:pt x="157921" y="210820"/>
                    </a:lnTo>
                    <a:lnTo>
                      <a:pt x="156805" y="205740"/>
                    </a:lnTo>
                    <a:lnTo>
                      <a:pt x="162297" y="189230"/>
                    </a:lnTo>
                    <a:lnTo>
                      <a:pt x="158368" y="184150"/>
                    </a:lnTo>
                    <a:lnTo>
                      <a:pt x="155197" y="179070"/>
                    </a:lnTo>
                    <a:lnTo>
                      <a:pt x="152965" y="172720"/>
                    </a:lnTo>
                    <a:lnTo>
                      <a:pt x="135865" y="168910"/>
                    </a:lnTo>
                    <a:lnTo>
                      <a:pt x="132516" y="166370"/>
                    </a:lnTo>
                    <a:lnTo>
                      <a:pt x="131668" y="158750"/>
                    </a:lnTo>
                    <a:lnTo>
                      <a:pt x="131668" y="147320"/>
                    </a:lnTo>
                    <a:lnTo>
                      <a:pt x="132516" y="139700"/>
                    </a:lnTo>
                    <a:lnTo>
                      <a:pt x="135820" y="135890"/>
                    </a:lnTo>
                    <a:lnTo>
                      <a:pt x="152965" y="133350"/>
                    </a:lnTo>
                    <a:lnTo>
                      <a:pt x="155153" y="127000"/>
                    </a:lnTo>
                    <a:lnTo>
                      <a:pt x="158368" y="121920"/>
                    </a:lnTo>
                    <a:lnTo>
                      <a:pt x="162297" y="116840"/>
                    </a:lnTo>
                    <a:lnTo>
                      <a:pt x="156805" y="100330"/>
                    </a:lnTo>
                    <a:lnTo>
                      <a:pt x="181049" y="82550"/>
                    </a:lnTo>
                    <a:lnTo>
                      <a:pt x="185469" y="83820"/>
                    </a:lnTo>
                    <a:lnTo>
                      <a:pt x="197122" y="96520"/>
                    </a:lnTo>
                    <a:lnTo>
                      <a:pt x="255310" y="96520"/>
                    </a:lnTo>
                    <a:lnTo>
                      <a:pt x="256148" y="100330"/>
                    </a:lnTo>
                    <a:lnTo>
                      <a:pt x="250656" y="116840"/>
                    </a:lnTo>
                    <a:lnTo>
                      <a:pt x="254585" y="121920"/>
                    </a:lnTo>
                    <a:lnTo>
                      <a:pt x="257755" y="127000"/>
                    </a:lnTo>
                    <a:lnTo>
                      <a:pt x="259541" y="132080"/>
                    </a:lnTo>
                    <a:lnTo>
                      <a:pt x="200878" y="132080"/>
                    </a:lnTo>
                    <a:lnTo>
                      <a:pt x="195627" y="134620"/>
                    </a:lnTo>
                    <a:lnTo>
                      <a:pt x="185023" y="149860"/>
                    </a:lnTo>
                    <a:lnTo>
                      <a:pt x="185023" y="156210"/>
                    </a:lnTo>
                    <a:lnTo>
                      <a:pt x="200878" y="173990"/>
                    </a:lnTo>
                    <a:lnTo>
                      <a:pt x="259550" y="173990"/>
                    </a:lnTo>
                    <a:lnTo>
                      <a:pt x="257800" y="179070"/>
                    </a:lnTo>
                    <a:lnTo>
                      <a:pt x="254585" y="184150"/>
                    </a:lnTo>
                    <a:lnTo>
                      <a:pt x="250656" y="189230"/>
                    </a:lnTo>
                    <a:lnTo>
                      <a:pt x="256148" y="205740"/>
                    </a:lnTo>
                    <a:lnTo>
                      <a:pt x="255310" y="209550"/>
                    </a:lnTo>
                    <a:lnTo>
                      <a:pt x="197167" y="209550"/>
                    </a:lnTo>
                    <a:lnTo>
                      <a:pt x="188346" y="219687"/>
                    </a:lnTo>
                    <a:lnTo>
                      <a:pt x="185469" y="222250"/>
                    </a:lnTo>
                    <a:lnTo>
                      <a:pt x="181049" y="223520"/>
                    </a:lnTo>
                    <a:close/>
                  </a:path>
                  <a:path w="281940" h="223519">
                    <a:moveTo>
                      <a:pt x="255310" y="96520"/>
                    </a:moveTo>
                    <a:lnTo>
                      <a:pt x="215785" y="96520"/>
                    </a:lnTo>
                    <a:lnTo>
                      <a:pt x="224626" y="86360"/>
                    </a:lnTo>
                    <a:lnTo>
                      <a:pt x="227483" y="83820"/>
                    </a:lnTo>
                    <a:lnTo>
                      <a:pt x="231904" y="82550"/>
                    </a:lnTo>
                    <a:lnTo>
                      <a:pt x="238199" y="85090"/>
                    </a:lnTo>
                    <a:lnTo>
                      <a:pt x="245119" y="88900"/>
                    </a:lnTo>
                    <a:lnTo>
                      <a:pt x="249540" y="91440"/>
                    </a:lnTo>
                    <a:lnTo>
                      <a:pt x="255031" y="95250"/>
                    </a:lnTo>
                    <a:lnTo>
                      <a:pt x="255310" y="96520"/>
                    </a:lnTo>
                    <a:close/>
                  </a:path>
                  <a:path w="281940" h="223519">
                    <a:moveTo>
                      <a:pt x="212749" y="96520"/>
                    </a:moveTo>
                    <a:lnTo>
                      <a:pt x="200158" y="96520"/>
                    </a:lnTo>
                    <a:lnTo>
                      <a:pt x="203284" y="95250"/>
                    </a:lnTo>
                    <a:lnTo>
                      <a:pt x="209624" y="95250"/>
                    </a:lnTo>
                    <a:lnTo>
                      <a:pt x="212749" y="96520"/>
                    </a:lnTo>
                    <a:close/>
                  </a:path>
                  <a:path w="281940" h="223519">
                    <a:moveTo>
                      <a:pt x="83983" y="148590"/>
                    </a:moveTo>
                    <a:lnTo>
                      <a:pt x="57373" y="148590"/>
                    </a:lnTo>
                    <a:lnTo>
                      <a:pt x="54158" y="144780"/>
                    </a:lnTo>
                    <a:lnTo>
                      <a:pt x="53310" y="140970"/>
                    </a:lnTo>
                    <a:lnTo>
                      <a:pt x="50586" y="128270"/>
                    </a:lnTo>
                    <a:lnTo>
                      <a:pt x="44693" y="125730"/>
                    </a:lnTo>
                    <a:lnTo>
                      <a:pt x="39201" y="121920"/>
                    </a:lnTo>
                    <a:lnTo>
                      <a:pt x="34423" y="118110"/>
                    </a:lnTo>
                    <a:lnTo>
                      <a:pt x="106933" y="118110"/>
                    </a:lnTo>
                    <a:lnTo>
                      <a:pt x="102155" y="121920"/>
                    </a:lnTo>
                    <a:lnTo>
                      <a:pt x="96708" y="125730"/>
                    </a:lnTo>
                    <a:lnTo>
                      <a:pt x="90770" y="128270"/>
                    </a:lnTo>
                    <a:lnTo>
                      <a:pt x="87198" y="144780"/>
                    </a:lnTo>
                    <a:lnTo>
                      <a:pt x="83983" y="148590"/>
                    </a:lnTo>
                    <a:close/>
                  </a:path>
                  <a:path w="281940" h="223519">
                    <a:moveTo>
                      <a:pt x="123542" y="124460"/>
                    </a:moveTo>
                    <a:lnTo>
                      <a:pt x="106933" y="118110"/>
                    </a:lnTo>
                    <a:lnTo>
                      <a:pt x="131293" y="118110"/>
                    </a:lnTo>
                    <a:lnTo>
                      <a:pt x="128007" y="123190"/>
                    </a:lnTo>
                    <a:lnTo>
                      <a:pt x="123542" y="124460"/>
                    </a:lnTo>
                    <a:close/>
                  </a:path>
                  <a:path w="281940" h="223519">
                    <a:moveTo>
                      <a:pt x="259550" y="173990"/>
                    </a:moveTo>
                    <a:lnTo>
                      <a:pt x="212030" y="173990"/>
                    </a:lnTo>
                    <a:lnTo>
                      <a:pt x="217281" y="171450"/>
                    </a:lnTo>
                    <a:lnTo>
                      <a:pt x="219598" y="170180"/>
                    </a:lnTo>
                    <a:lnTo>
                      <a:pt x="223618" y="166370"/>
                    </a:lnTo>
                    <a:lnTo>
                      <a:pt x="225166" y="163830"/>
                    </a:lnTo>
                    <a:lnTo>
                      <a:pt x="227341" y="158750"/>
                    </a:lnTo>
                    <a:lnTo>
                      <a:pt x="227885" y="156210"/>
                    </a:lnTo>
                    <a:lnTo>
                      <a:pt x="227885" y="149860"/>
                    </a:lnTo>
                    <a:lnTo>
                      <a:pt x="212030" y="132080"/>
                    </a:lnTo>
                    <a:lnTo>
                      <a:pt x="259541" y="132080"/>
                    </a:lnTo>
                    <a:lnTo>
                      <a:pt x="259987" y="133350"/>
                    </a:lnTo>
                    <a:lnTo>
                      <a:pt x="272980" y="135890"/>
                    </a:lnTo>
                    <a:lnTo>
                      <a:pt x="277088" y="135890"/>
                    </a:lnTo>
                    <a:lnTo>
                      <a:pt x="280436" y="139700"/>
                    </a:lnTo>
                    <a:lnTo>
                      <a:pt x="281285" y="147320"/>
                    </a:lnTo>
                    <a:lnTo>
                      <a:pt x="281374" y="148590"/>
                    </a:lnTo>
                    <a:lnTo>
                      <a:pt x="281463" y="156210"/>
                    </a:lnTo>
                    <a:lnTo>
                      <a:pt x="281285" y="158750"/>
                    </a:lnTo>
                    <a:lnTo>
                      <a:pt x="280436" y="166370"/>
                    </a:lnTo>
                    <a:lnTo>
                      <a:pt x="277132" y="168910"/>
                    </a:lnTo>
                    <a:lnTo>
                      <a:pt x="272980" y="170180"/>
                    </a:lnTo>
                    <a:lnTo>
                      <a:pt x="259987" y="172720"/>
                    </a:lnTo>
                    <a:lnTo>
                      <a:pt x="259550" y="173990"/>
                    </a:lnTo>
                    <a:close/>
                  </a:path>
                  <a:path w="281940" h="223519">
                    <a:moveTo>
                      <a:pt x="73759" y="149860"/>
                    </a:moveTo>
                    <a:lnTo>
                      <a:pt x="67597" y="149860"/>
                    </a:lnTo>
                    <a:lnTo>
                      <a:pt x="64561" y="148590"/>
                    </a:lnTo>
                    <a:lnTo>
                      <a:pt x="76795" y="148590"/>
                    </a:lnTo>
                    <a:lnTo>
                      <a:pt x="73759" y="149860"/>
                    </a:lnTo>
                    <a:close/>
                  </a:path>
                  <a:path w="281940" h="223519">
                    <a:moveTo>
                      <a:pt x="231859" y="223520"/>
                    </a:moveTo>
                    <a:lnTo>
                      <a:pt x="227439" y="222250"/>
                    </a:lnTo>
                    <a:lnTo>
                      <a:pt x="224834" y="219898"/>
                    </a:lnTo>
                    <a:lnTo>
                      <a:pt x="215830" y="209550"/>
                    </a:lnTo>
                    <a:lnTo>
                      <a:pt x="255310" y="209550"/>
                    </a:lnTo>
                    <a:lnTo>
                      <a:pt x="255031" y="210820"/>
                    </a:lnTo>
                    <a:lnTo>
                      <a:pt x="249540" y="214630"/>
                    </a:lnTo>
                    <a:lnTo>
                      <a:pt x="245119" y="217170"/>
                    </a:lnTo>
                    <a:lnTo>
                      <a:pt x="242708" y="218440"/>
                    </a:lnTo>
                    <a:lnTo>
                      <a:pt x="240515" y="219687"/>
                    </a:lnTo>
                    <a:lnTo>
                      <a:pt x="235788" y="222250"/>
                    </a:lnTo>
                    <a:lnTo>
                      <a:pt x="231859" y="223520"/>
                    </a:lnTo>
                    <a:close/>
                  </a:path>
                </a:pathLst>
              </a:custGeom>
              <a:solidFill>
                <a:srgbClr val="FF572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8">
                <a:extLst>
                  <a:ext uri="{FF2B5EF4-FFF2-40B4-BE49-F238E27FC236}">
                    <a16:creationId xmlns:a16="http://schemas.microsoft.com/office/drawing/2014/main" id="{B8982214-4C89-4630-9CD5-130625184338}"/>
                  </a:ext>
                </a:extLst>
              </p:cNvPr>
              <p:cNvSpPr txBox="1"/>
              <p:nvPr/>
            </p:nvSpPr>
            <p:spPr>
              <a:xfrm>
                <a:off x="615949" y="920750"/>
                <a:ext cx="499491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800" b="1" spc="-10" dirty="0">
                    <a:solidFill>
                      <a:srgbClr val="FF5721"/>
                    </a:solidFill>
                    <a:latin typeface="Segoe UI"/>
                    <a:cs typeface="Segoe UI"/>
                  </a:rPr>
                  <a:t>Real-</a:t>
                </a:r>
                <a:r>
                  <a:rPr sz="1800" b="1" dirty="0">
                    <a:solidFill>
                      <a:srgbClr val="FF5721"/>
                    </a:solidFill>
                    <a:latin typeface="Segoe UI"/>
                    <a:cs typeface="Segoe UI"/>
                  </a:rPr>
                  <a:t>Time</a:t>
                </a:r>
                <a:r>
                  <a:rPr sz="1800" b="1" spc="-15" dirty="0">
                    <a:solidFill>
                      <a:srgbClr val="FF5721"/>
                    </a:solidFill>
                    <a:latin typeface="Segoe UI"/>
                    <a:cs typeface="Segoe UI"/>
                  </a:rPr>
                  <a:t> </a:t>
                </a:r>
                <a:r>
                  <a:rPr sz="1800" b="1" dirty="0">
                    <a:solidFill>
                      <a:srgbClr val="FF5721"/>
                    </a:solidFill>
                    <a:latin typeface="Segoe UI"/>
                    <a:cs typeface="Segoe UI"/>
                  </a:rPr>
                  <a:t>Performance</a:t>
                </a:r>
                <a:r>
                  <a:rPr sz="1800" b="1" spc="-15" dirty="0">
                    <a:solidFill>
                      <a:srgbClr val="FF5721"/>
                    </a:solidFill>
                    <a:latin typeface="Segoe UI"/>
                    <a:cs typeface="Segoe UI"/>
                  </a:rPr>
                  <a:t> </a:t>
                </a:r>
                <a:r>
                  <a:rPr sz="1800" b="1" dirty="0">
                    <a:solidFill>
                      <a:srgbClr val="FF5721"/>
                    </a:solidFill>
                    <a:latin typeface="Segoe UI"/>
                    <a:cs typeface="Segoe UI"/>
                  </a:rPr>
                  <a:t>(Samsung</a:t>
                </a:r>
                <a:r>
                  <a:rPr sz="1800" b="1" spc="-15" dirty="0">
                    <a:solidFill>
                      <a:srgbClr val="FF5721"/>
                    </a:solidFill>
                    <a:latin typeface="Segoe UI"/>
                    <a:cs typeface="Segoe UI"/>
                  </a:rPr>
                  <a:t> </a:t>
                </a:r>
                <a:r>
                  <a:rPr sz="1800" b="1" spc="-20" dirty="0">
                    <a:solidFill>
                      <a:srgbClr val="FF5721"/>
                    </a:solidFill>
                    <a:latin typeface="Segoe UI"/>
                    <a:cs typeface="Segoe UI"/>
                  </a:rPr>
                  <a:t>A54)</a:t>
                </a:r>
                <a:endParaRPr sz="1800" dirty="0">
                  <a:latin typeface="Segoe UI"/>
                  <a:cs typeface="Segoe UI"/>
                </a:endParaRPr>
              </a:p>
            </p:txBody>
          </p:sp>
        </p:grpSp>
        <p:pic>
          <p:nvPicPr>
            <p:cNvPr id="16" name="Picture 15" descr="A graph showing a line of a graph&#10;&#10;AI-generated content may be incorrect.">
              <a:extLst>
                <a:ext uri="{FF2B5EF4-FFF2-40B4-BE49-F238E27FC236}">
                  <a16:creationId xmlns:a16="http://schemas.microsoft.com/office/drawing/2014/main" id="{CEF8BFFA-E165-B720-902A-C4DE4A6FD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436" y="2615247"/>
              <a:ext cx="7936002" cy="2942711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D9E0FE5-08E5-D851-BCB7-CB5C5BEA4BDF}"/>
                </a:ext>
              </a:extLst>
            </p:cNvPr>
            <p:cNvSpPr txBox="1"/>
            <p:nvPr/>
          </p:nvSpPr>
          <p:spPr>
            <a:xfrm>
              <a:off x="1120140" y="2245915"/>
              <a:ext cx="787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Both model meets the real time requirement (20 - 45ms &lt; 100ms)</a:t>
              </a:r>
            </a:p>
          </p:txBody>
        </p:sp>
        <p:sp>
          <p:nvSpPr>
            <p:cNvPr id="18" name="object 27">
              <a:extLst>
                <a:ext uri="{FF2B5EF4-FFF2-40B4-BE49-F238E27FC236}">
                  <a16:creationId xmlns:a16="http://schemas.microsoft.com/office/drawing/2014/main" id="{03EDA096-097E-4AD1-12CB-5DBCA6DD50AB}"/>
                </a:ext>
              </a:extLst>
            </p:cNvPr>
            <p:cNvSpPr txBox="1"/>
            <p:nvPr/>
          </p:nvSpPr>
          <p:spPr>
            <a:xfrm>
              <a:off x="589871" y="4571206"/>
              <a:ext cx="3499565" cy="12080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dirty="0">
                  <a:latin typeface="Segoe UI"/>
                  <a:cs typeface="Segoe UI"/>
                </a:rPr>
                <a:t>Peak</a:t>
              </a:r>
              <a:r>
                <a:rPr sz="1400" spc="-35" dirty="0">
                  <a:latin typeface="Segoe UI"/>
                  <a:cs typeface="Segoe UI"/>
                </a:rPr>
                <a:t> </a:t>
              </a:r>
              <a:r>
                <a:rPr sz="1400" dirty="0">
                  <a:latin typeface="Segoe UI"/>
                  <a:cs typeface="Segoe UI"/>
                </a:rPr>
                <a:t>CPU:</a:t>
              </a:r>
              <a:r>
                <a:rPr sz="1400" spc="-30" dirty="0">
                  <a:latin typeface="Segoe UI"/>
                  <a:cs typeface="Segoe UI"/>
                </a:rPr>
                <a:t> </a:t>
              </a:r>
              <a:r>
                <a:rPr sz="1400" dirty="0">
                  <a:latin typeface="Segoe UI"/>
                  <a:cs typeface="Segoe UI"/>
                </a:rPr>
                <a:t>~80%</a:t>
              </a:r>
              <a:r>
                <a:rPr sz="1400" spc="-30" dirty="0">
                  <a:latin typeface="Segoe UI"/>
                  <a:cs typeface="Segoe UI"/>
                </a:rPr>
                <a:t> </a:t>
              </a:r>
              <a:r>
                <a:rPr sz="1400" dirty="0">
                  <a:latin typeface="Segoe UI"/>
                  <a:cs typeface="Segoe UI"/>
                </a:rPr>
                <a:t>during</a:t>
              </a:r>
              <a:r>
                <a:rPr sz="1400" spc="-35" dirty="0">
                  <a:latin typeface="Segoe UI"/>
                  <a:cs typeface="Segoe UI"/>
                </a:rPr>
                <a:t> </a:t>
              </a:r>
              <a:r>
                <a:rPr sz="1400" spc="-10" dirty="0">
                  <a:latin typeface="Segoe UI"/>
                  <a:cs typeface="Segoe UI"/>
                </a:rPr>
                <a:t>inference</a:t>
              </a:r>
              <a:endParaRPr sz="1400" dirty="0">
                <a:latin typeface="Segoe UI"/>
                <a:cs typeface="Segoe UI"/>
              </a:endParaRPr>
            </a:p>
            <a:p>
              <a:pPr marL="12700">
                <a:lnSpc>
                  <a:spcPct val="100000"/>
                </a:lnSpc>
                <a:spcBef>
                  <a:spcPts val="1260"/>
                </a:spcBef>
              </a:pPr>
              <a:r>
                <a:rPr sz="1400" dirty="0">
                  <a:latin typeface="Segoe UI"/>
                  <a:cs typeface="Segoe UI"/>
                </a:rPr>
                <a:t>Idle</a:t>
              </a:r>
              <a:r>
                <a:rPr sz="1400" spc="-20" dirty="0">
                  <a:latin typeface="Segoe UI"/>
                  <a:cs typeface="Segoe UI"/>
                </a:rPr>
                <a:t> </a:t>
              </a:r>
              <a:r>
                <a:rPr sz="1400" dirty="0">
                  <a:latin typeface="Segoe UI"/>
                  <a:cs typeface="Segoe UI"/>
                </a:rPr>
                <a:t>CPU:</a:t>
              </a:r>
              <a:r>
                <a:rPr sz="1400" spc="-20" dirty="0">
                  <a:latin typeface="Segoe UI"/>
                  <a:cs typeface="Segoe UI"/>
                </a:rPr>
                <a:t> </a:t>
              </a:r>
              <a:r>
                <a:rPr sz="1400" dirty="0">
                  <a:latin typeface="Segoe UI"/>
                  <a:cs typeface="Segoe UI"/>
                </a:rPr>
                <a:t>~10%</a:t>
              </a:r>
              <a:r>
                <a:rPr sz="1400" spc="-20" dirty="0">
                  <a:latin typeface="Segoe UI"/>
                  <a:cs typeface="Segoe UI"/>
                </a:rPr>
                <a:t> </a:t>
              </a:r>
              <a:r>
                <a:rPr sz="1400" dirty="0">
                  <a:latin typeface="Segoe UI"/>
                  <a:cs typeface="Segoe UI"/>
                </a:rPr>
                <a:t>after</a:t>
              </a:r>
              <a:r>
                <a:rPr sz="1400" spc="-20" dirty="0">
                  <a:latin typeface="Segoe UI"/>
                  <a:cs typeface="Segoe UI"/>
                </a:rPr>
                <a:t> </a:t>
              </a:r>
              <a:r>
                <a:rPr sz="1400" spc="-10" dirty="0">
                  <a:latin typeface="Segoe UI"/>
                  <a:cs typeface="Segoe UI"/>
                </a:rPr>
                <a:t>lesson</a:t>
              </a:r>
              <a:endParaRPr sz="1400" dirty="0">
                <a:latin typeface="Segoe UI"/>
                <a:cs typeface="Segoe UI"/>
              </a:endParaRPr>
            </a:p>
            <a:p>
              <a:pPr marL="31115">
                <a:lnSpc>
                  <a:spcPct val="100000"/>
                </a:lnSpc>
                <a:spcBef>
                  <a:spcPts val="1260"/>
                </a:spcBef>
              </a:pPr>
              <a:r>
                <a:rPr sz="1400" dirty="0">
                  <a:solidFill>
                    <a:srgbClr val="EF4444"/>
                  </a:solidFill>
                  <a:latin typeface="Segoe UI"/>
                  <a:cs typeface="Segoe UI"/>
                </a:rPr>
                <a:t>Optimization</a:t>
              </a:r>
              <a:r>
                <a:rPr sz="1400" spc="-5" dirty="0">
                  <a:solidFill>
                    <a:srgbClr val="EF4444"/>
                  </a:solidFill>
                  <a:latin typeface="Segoe UI"/>
                  <a:cs typeface="Segoe UI"/>
                </a:rPr>
                <a:t> </a:t>
              </a:r>
              <a:r>
                <a:rPr sz="1400" dirty="0">
                  <a:solidFill>
                    <a:srgbClr val="EF4444"/>
                  </a:solidFill>
                  <a:latin typeface="Segoe UI"/>
                  <a:cs typeface="Segoe UI"/>
                </a:rPr>
                <a:t>needed to</a:t>
              </a:r>
              <a:r>
                <a:rPr sz="1400" spc="-5" dirty="0">
                  <a:solidFill>
                    <a:srgbClr val="EF4444"/>
                  </a:solidFill>
                  <a:latin typeface="Segoe UI"/>
                  <a:cs typeface="Segoe UI"/>
                </a:rPr>
                <a:t> </a:t>
              </a:r>
              <a:r>
                <a:rPr sz="1400" dirty="0">
                  <a:solidFill>
                    <a:srgbClr val="EF4444"/>
                  </a:solidFill>
                  <a:latin typeface="Segoe UI"/>
                  <a:cs typeface="Segoe UI"/>
                </a:rPr>
                <a:t>reduce thermal</a:t>
              </a:r>
              <a:r>
                <a:rPr sz="1400" spc="-5" dirty="0">
                  <a:solidFill>
                    <a:srgbClr val="EF4444"/>
                  </a:solidFill>
                  <a:latin typeface="Segoe UI"/>
                  <a:cs typeface="Segoe UI"/>
                </a:rPr>
                <a:t> </a:t>
              </a:r>
              <a:r>
                <a:rPr sz="1400" spc="-20" dirty="0">
                  <a:solidFill>
                    <a:srgbClr val="EF4444"/>
                  </a:solidFill>
                  <a:latin typeface="Segoe UI"/>
                  <a:cs typeface="Segoe UI"/>
                </a:rPr>
                <a:t>load</a:t>
              </a:r>
              <a:endParaRPr sz="1400" dirty="0">
                <a:latin typeface="Segoe UI"/>
                <a:cs typeface="Segoe UI"/>
              </a:endParaRPr>
            </a:p>
          </p:txBody>
        </p:sp>
        <p:pic>
          <p:nvPicPr>
            <p:cNvPr id="19" name="object 24">
              <a:extLst>
                <a:ext uri="{FF2B5EF4-FFF2-40B4-BE49-F238E27FC236}">
                  <a16:creationId xmlns:a16="http://schemas.microsoft.com/office/drawing/2014/main" id="{F93380B1-95F1-EC8A-612C-74F20247452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4647406"/>
              <a:ext cx="114300" cy="114299"/>
            </a:xfrm>
            <a:prstGeom prst="rect">
              <a:avLst/>
            </a:prstGeom>
          </p:spPr>
        </p:pic>
        <p:pic>
          <p:nvPicPr>
            <p:cNvPr id="20" name="object 25">
              <a:extLst>
                <a:ext uri="{FF2B5EF4-FFF2-40B4-BE49-F238E27FC236}">
                  <a16:creationId xmlns:a16="http://schemas.microsoft.com/office/drawing/2014/main" id="{ADAD0891-CFF5-C005-C049-AD6AD0E0823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080" y="5039804"/>
              <a:ext cx="114300" cy="114299"/>
            </a:xfrm>
            <a:prstGeom prst="rect">
              <a:avLst/>
            </a:prstGeom>
          </p:spPr>
        </p:pic>
        <p:pic>
          <p:nvPicPr>
            <p:cNvPr id="22" name="object 26">
              <a:extLst>
                <a:ext uri="{FF2B5EF4-FFF2-40B4-BE49-F238E27FC236}">
                  <a16:creationId xmlns:a16="http://schemas.microsoft.com/office/drawing/2014/main" id="{3B37E52F-D73B-E65C-905B-E691C4EE5D9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000" y="5404993"/>
              <a:ext cx="133347" cy="152965"/>
            </a:xfrm>
            <a:prstGeom prst="rect">
              <a:avLst/>
            </a:prstGeom>
          </p:spPr>
        </p:pic>
      </p:grp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32A754C9-8DD2-D4DD-2D07-48897014E0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3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7932" y="750051"/>
            <a:ext cx="7367588" cy="34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15"/>
              </a:lnSpc>
              <a:spcBef>
                <a:spcPts val="600"/>
              </a:spcBef>
            </a:pPr>
            <a:r>
              <a:rPr lang="en-US" sz="3600" spc="-105" dirty="0">
                <a:solidFill>
                  <a:schemeClr val="accent6"/>
                </a:solidFill>
                <a:latin typeface="Montserrat"/>
                <a:cs typeface="Montserrat"/>
              </a:rPr>
              <a:t>Conclusion and future work</a:t>
            </a:r>
            <a:endParaRPr sz="3600" dirty="0">
              <a:solidFill>
                <a:schemeClr val="accent6"/>
              </a:solidFill>
              <a:latin typeface="Montserrat"/>
              <a:cs typeface="Montserrat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9585A36-6D41-DE1C-76BD-D7C90F857D2F}"/>
              </a:ext>
            </a:extLst>
          </p:cNvPr>
          <p:cNvGrpSpPr/>
          <p:nvPr/>
        </p:nvGrpSpPr>
        <p:grpSpPr>
          <a:xfrm>
            <a:off x="436285" y="2024062"/>
            <a:ext cx="5659715" cy="2965468"/>
            <a:chOff x="179726" y="920750"/>
            <a:chExt cx="5638800" cy="2965468"/>
          </a:xfrm>
        </p:grpSpPr>
        <p:grpSp>
          <p:nvGrpSpPr>
            <p:cNvPr id="18" name="object 5">
              <a:extLst>
                <a:ext uri="{FF2B5EF4-FFF2-40B4-BE49-F238E27FC236}">
                  <a16:creationId xmlns:a16="http://schemas.microsoft.com/office/drawing/2014/main" id="{816F0B28-74FF-31E6-F277-998CBA73BA97}"/>
                </a:ext>
              </a:extLst>
            </p:cNvPr>
            <p:cNvGrpSpPr/>
            <p:nvPr/>
          </p:nvGrpSpPr>
          <p:grpSpPr>
            <a:xfrm>
              <a:off x="179726" y="1390668"/>
              <a:ext cx="5638800" cy="2495550"/>
              <a:chOff x="179726" y="1390668"/>
              <a:chExt cx="5638800" cy="2495550"/>
            </a:xfrm>
          </p:grpSpPr>
          <p:sp>
            <p:nvSpPr>
              <p:cNvPr id="19" name="object 6">
                <a:extLst>
                  <a:ext uri="{FF2B5EF4-FFF2-40B4-BE49-F238E27FC236}">
                    <a16:creationId xmlns:a16="http://schemas.microsoft.com/office/drawing/2014/main" id="{4E620F79-AE6A-28EC-04FC-440894FF1BC2}"/>
                  </a:ext>
                </a:extLst>
              </p:cNvPr>
              <p:cNvSpPr/>
              <p:nvPr/>
            </p:nvSpPr>
            <p:spPr>
              <a:xfrm>
                <a:off x="179726" y="1390668"/>
                <a:ext cx="5638800" cy="2495550"/>
              </a:xfrm>
              <a:custGeom>
                <a:avLst/>
                <a:gdLst/>
                <a:ahLst/>
                <a:cxnLst/>
                <a:rect l="l" t="t" r="r" b="b"/>
                <a:pathLst>
                  <a:path w="5638800" h="2495550">
                    <a:moveTo>
                      <a:pt x="5567602" y="2495549"/>
                    </a:moveTo>
                    <a:lnTo>
                      <a:pt x="71196" y="2495549"/>
                    </a:lnTo>
                    <a:lnTo>
                      <a:pt x="66241" y="2495061"/>
                    </a:lnTo>
                    <a:lnTo>
                      <a:pt x="29705" y="2479927"/>
                    </a:lnTo>
                    <a:lnTo>
                      <a:pt x="3885" y="2443887"/>
                    </a:lnTo>
                    <a:lnTo>
                      <a:pt x="0" y="2424353"/>
                    </a:lnTo>
                    <a:lnTo>
                      <a:pt x="0" y="2419349"/>
                    </a:lnTo>
                    <a:lnTo>
                      <a:pt x="0" y="71196"/>
                    </a:lnTo>
                    <a:lnTo>
                      <a:pt x="15621" y="29705"/>
                    </a:lnTo>
                    <a:lnTo>
                      <a:pt x="51661" y="3885"/>
                    </a:lnTo>
                    <a:lnTo>
                      <a:pt x="71196" y="0"/>
                    </a:lnTo>
                    <a:lnTo>
                      <a:pt x="5567602" y="0"/>
                    </a:lnTo>
                    <a:lnTo>
                      <a:pt x="5609093" y="15621"/>
                    </a:lnTo>
                    <a:lnTo>
                      <a:pt x="5634913" y="51661"/>
                    </a:lnTo>
                    <a:lnTo>
                      <a:pt x="5638799" y="71196"/>
                    </a:lnTo>
                    <a:lnTo>
                      <a:pt x="5638799" y="2424353"/>
                    </a:lnTo>
                    <a:lnTo>
                      <a:pt x="5623176" y="2465843"/>
                    </a:lnTo>
                    <a:lnTo>
                      <a:pt x="5587137" y="2491663"/>
                    </a:lnTo>
                    <a:lnTo>
                      <a:pt x="5572557" y="2495061"/>
                    </a:lnTo>
                    <a:lnTo>
                      <a:pt x="5567602" y="2495549"/>
                    </a:lnTo>
                    <a:close/>
                  </a:path>
                </a:pathLst>
              </a:custGeom>
              <a:solidFill>
                <a:srgbClr val="F9FAF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0" name="object 7">
                <a:extLst>
                  <a:ext uri="{FF2B5EF4-FFF2-40B4-BE49-F238E27FC236}">
                    <a16:creationId xmlns:a16="http://schemas.microsoft.com/office/drawing/2014/main" id="{2B51E371-ADE8-D9F5-FBC4-B7FCFEC7AD0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56009" y="1701440"/>
                <a:ext cx="169031" cy="121406"/>
              </a:xfrm>
              <a:prstGeom prst="rect">
                <a:avLst/>
              </a:prstGeom>
            </p:spPr>
          </p:pic>
          <p:pic>
            <p:nvPicPr>
              <p:cNvPr id="22" name="object 8">
                <a:extLst>
                  <a:ext uri="{FF2B5EF4-FFF2-40B4-BE49-F238E27FC236}">
                    <a16:creationId xmlns:a16="http://schemas.microsoft.com/office/drawing/2014/main" id="{8C97CECF-CC37-D957-5E65-7D0F63C4A6C9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56009" y="2139590"/>
                <a:ext cx="169031" cy="121406"/>
              </a:xfrm>
              <a:prstGeom prst="rect">
                <a:avLst/>
              </a:prstGeom>
            </p:spPr>
          </p:pic>
          <p:pic>
            <p:nvPicPr>
              <p:cNvPr id="23" name="object 9">
                <a:extLst>
                  <a:ext uri="{FF2B5EF4-FFF2-40B4-BE49-F238E27FC236}">
                    <a16:creationId xmlns:a16="http://schemas.microsoft.com/office/drawing/2014/main" id="{2F2C6128-D842-36D6-0EB4-15735369869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56009" y="2577740"/>
                <a:ext cx="169031" cy="121406"/>
              </a:xfrm>
              <a:prstGeom prst="rect">
                <a:avLst/>
              </a:prstGeom>
            </p:spPr>
          </p:pic>
          <p:pic>
            <p:nvPicPr>
              <p:cNvPr id="24" name="object 10">
                <a:extLst>
                  <a:ext uri="{FF2B5EF4-FFF2-40B4-BE49-F238E27FC236}">
                    <a16:creationId xmlns:a16="http://schemas.microsoft.com/office/drawing/2014/main" id="{7360A7E2-AF33-E91E-85CA-F70C7E645981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56009" y="3015890"/>
                <a:ext cx="169031" cy="121406"/>
              </a:xfrm>
              <a:prstGeom prst="rect">
                <a:avLst/>
              </a:prstGeom>
            </p:spPr>
          </p:pic>
          <p:pic>
            <p:nvPicPr>
              <p:cNvPr id="25" name="object 11">
                <a:extLst>
                  <a:ext uri="{FF2B5EF4-FFF2-40B4-BE49-F238E27FC236}">
                    <a16:creationId xmlns:a16="http://schemas.microsoft.com/office/drawing/2014/main" id="{618A13B0-95DF-0144-D86F-F3F34219B740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56009" y="3454040"/>
                <a:ext cx="169031" cy="121406"/>
              </a:xfrm>
              <a:prstGeom prst="rect">
                <a:avLst/>
              </a:prstGeom>
            </p:spPr>
          </p:pic>
        </p:grpSp>
        <p:pic>
          <p:nvPicPr>
            <p:cNvPr id="26" name="object 12">
              <a:extLst>
                <a:ext uri="{FF2B5EF4-FFF2-40B4-BE49-F238E27FC236}">
                  <a16:creationId xmlns:a16="http://schemas.microsoft.com/office/drawing/2014/main" id="{910FB518-A50D-3A53-2D1E-67C8FB80B66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00" y="952500"/>
              <a:ext cx="228599" cy="228599"/>
            </a:xfrm>
            <a:prstGeom prst="rect">
              <a:avLst/>
            </a:prstGeom>
          </p:spPr>
        </p:pic>
        <p:sp>
          <p:nvSpPr>
            <p:cNvPr id="27" name="object 13">
              <a:extLst>
                <a:ext uri="{FF2B5EF4-FFF2-40B4-BE49-F238E27FC236}">
                  <a16:creationId xmlns:a16="http://schemas.microsoft.com/office/drawing/2014/main" id="{0F8740F5-FFE3-9EDA-024A-C7F201951D3D}"/>
                </a:ext>
              </a:extLst>
            </p:cNvPr>
            <p:cNvSpPr txBox="1"/>
            <p:nvPr/>
          </p:nvSpPr>
          <p:spPr>
            <a:xfrm>
              <a:off x="520700" y="920750"/>
              <a:ext cx="120269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10" dirty="0">
                  <a:solidFill>
                    <a:srgbClr val="FF5721"/>
                  </a:solidFill>
                  <a:latin typeface="Segoe UI"/>
                  <a:cs typeface="Segoe UI"/>
                </a:rPr>
                <a:t>Conclusion</a:t>
              </a:r>
              <a:endParaRPr sz="1800">
                <a:latin typeface="Segoe UI"/>
                <a:cs typeface="Segoe UI"/>
              </a:endParaRPr>
            </a:p>
          </p:txBody>
        </p:sp>
        <p:sp>
          <p:nvSpPr>
            <p:cNvPr id="28" name="object 14">
              <a:extLst>
                <a:ext uri="{FF2B5EF4-FFF2-40B4-BE49-F238E27FC236}">
                  <a16:creationId xmlns:a16="http://schemas.microsoft.com/office/drawing/2014/main" id="{D4817161-F234-81CE-9011-FAD2D628B10E}"/>
                </a:ext>
              </a:extLst>
            </p:cNvPr>
            <p:cNvSpPr txBox="1"/>
            <p:nvPr/>
          </p:nvSpPr>
          <p:spPr>
            <a:xfrm>
              <a:off x="717570" y="1676101"/>
              <a:ext cx="4563110" cy="196088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200" dirty="0">
                  <a:latin typeface="Segoe UI"/>
                  <a:cs typeface="Segoe UI"/>
                </a:rPr>
                <a:t>GuitarMate</a:t>
              </a:r>
              <a:r>
                <a:rPr sz="1200" spc="-20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combines</a:t>
              </a:r>
              <a:r>
                <a:rPr sz="1200" spc="-15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a</a:t>
              </a:r>
              <a:r>
                <a:rPr sz="1200" spc="-10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real-time</a:t>
              </a:r>
              <a:r>
                <a:rPr sz="1200" spc="-15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mobile</a:t>
              </a:r>
              <a:r>
                <a:rPr sz="1200" spc="-10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app</a:t>
              </a:r>
              <a:r>
                <a:rPr sz="1200" spc="-15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and</a:t>
              </a:r>
              <a:r>
                <a:rPr sz="1200" spc="-15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admin</a:t>
              </a:r>
              <a:r>
                <a:rPr sz="1200" spc="-10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web</a:t>
              </a:r>
              <a:r>
                <a:rPr sz="1200" spc="-15" dirty="0">
                  <a:latin typeface="Segoe UI"/>
                  <a:cs typeface="Segoe UI"/>
                </a:rPr>
                <a:t> </a:t>
              </a:r>
              <a:r>
                <a:rPr sz="1200" spc="-10" dirty="0">
                  <a:latin typeface="Segoe UI"/>
                  <a:cs typeface="Segoe UI"/>
                </a:rPr>
                <a:t>portal</a:t>
              </a:r>
              <a:endParaRPr sz="1200" dirty="0">
                <a:latin typeface="Segoe UI"/>
                <a:cs typeface="Segoe UI"/>
              </a:endParaRPr>
            </a:p>
            <a:p>
              <a:pPr marL="12700" marR="680720">
                <a:lnSpc>
                  <a:spcPct val="239600"/>
                </a:lnSpc>
              </a:pPr>
              <a:r>
                <a:rPr sz="1200" dirty="0">
                  <a:latin typeface="Segoe UI"/>
                  <a:cs typeface="Segoe UI"/>
                </a:rPr>
                <a:t>Uses</a:t>
              </a:r>
              <a:r>
                <a:rPr sz="1200" spc="-20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CREPE</a:t>
              </a:r>
              <a:r>
                <a:rPr sz="1200" spc="-15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+</a:t>
              </a:r>
              <a:r>
                <a:rPr sz="1200" spc="-20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custom</a:t>
              </a:r>
              <a:r>
                <a:rPr sz="1200" spc="-15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low-note</a:t>
              </a:r>
              <a:r>
                <a:rPr sz="1200" spc="-20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model</a:t>
              </a:r>
              <a:r>
                <a:rPr sz="1200" spc="-15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for</a:t>
              </a:r>
              <a:r>
                <a:rPr sz="1200" spc="-20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pitch</a:t>
              </a:r>
              <a:r>
                <a:rPr sz="1200" spc="-15" dirty="0">
                  <a:latin typeface="Segoe UI"/>
                  <a:cs typeface="Segoe UI"/>
                </a:rPr>
                <a:t> </a:t>
              </a:r>
              <a:r>
                <a:rPr sz="1200" spc="-10" dirty="0">
                  <a:latin typeface="Segoe UI"/>
                  <a:cs typeface="Segoe UI"/>
                </a:rPr>
                <a:t>detection </a:t>
              </a:r>
              <a:r>
                <a:rPr sz="1200" dirty="0">
                  <a:latin typeface="Segoe UI"/>
                  <a:cs typeface="Segoe UI"/>
                </a:rPr>
                <a:t>Admins</a:t>
              </a:r>
              <a:r>
                <a:rPr sz="1200" spc="-10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transcribe</a:t>
              </a:r>
              <a:r>
                <a:rPr sz="1200" spc="-5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notes</a:t>
              </a:r>
              <a:r>
                <a:rPr sz="1200" spc="-5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from</a:t>
              </a:r>
              <a:r>
                <a:rPr sz="1200" spc="-10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audio</a:t>
              </a:r>
              <a:r>
                <a:rPr sz="1200" spc="-5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using</a:t>
              </a:r>
              <a:r>
                <a:rPr sz="1200" spc="-5" dirty="0">
                  <a:latin typeface="Segoe UI"/>
                  <a:cs typeface="Segoe UI"/>
                </a:rPr>
                <a:t> </a:t>
              </a:r>
              <a:r>
                <a:rPr sz="1200" spc="-10" dirty="0">
                  <a:latin typeface="Segoe UI"/>
                  <a:cs typeface="Segoe UI"/>
                </a:rPr>
                <a:t>Omnizart</a:t>
              </a:r>
              <a:endParaRPr sz="1200" dirty="0">
                <a:latin typeface="Segoe UI"/>
                <a:cs typeface="Segoe UI"/>
              </a:endParaRPr>
            </a:p>
            <a:p>
              <a:pPr>
                <a:lnSpc>
                  <a:spcPct val="100000"/>
                </a:lnSpc>
                <a:spcBef>
                  <a:spcPts val="409"/>
                </a:spcBef>
              </a:pPr>
              <a:endParaRPr sz="1200" dirty="0">
                <a:latin typeface="Segoe UI"/>
                <a:cs typeface="Segoe UI"/>
              </a:endParaRPr>
            </a:p>
            <a:p>
              <a:pPr marL="12700">
                <a:lnSpc>
                  <a:spcPct val="100000"/>
                </a:lnSpc>
              </a:pPr>
              <a:r>
                <a:rPr sz="1200" dirty="0">
                  <a:latin typeface="Segoe UI"/>
                  <a:cs typeface="Segoe UI"/>
                </a:rPr>
                <a:t>Achieves</a:t>
              </a:r>
              <a:r>
                <a:rPr sz="1200" spc="-5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real-time feedback +</a:t>
              </a:r>
              <a:r>
                <a:rPr sz="1200" spc="-5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editable </a:t>
              </a:r>
              <a:r>
                <a:rPr sz="1200" spc="-10" dirty="0">
                  <a:latin typeface="Segoe UI"/>
                  <a:cs typeface="Segoe UI"/>
                </a:rPr>
                <a:t>lessons</a:t>
              </a:r>
              <a:endParaRPr sz="1200" dirty="0">
                <a:latin typeface="Segoe UI"/>
                <a:cs typeface="Segoe UI"/>
              </a:endParaRPr>
            </a:p>
            <a:p>
              <a:pPr>
                <a:lnSpc>
                  <a:spcPct val="100000"/>
                </a:lnSpc>
                <a:spcBef>
                  <a:spcPts val="415"/>
                </a:spcBef>
              </a:pPr>
              <a:endParaRPr sz="1200" dirty="0">
                <a:latin typeface="Segoe UI"/>
                <a:cs typeface="Segoe UI"/>
              </a:endParaRPr>
            </a:p>
            <a:p>
              <a:pPr marL="12700">
                <a:lnSpc>
                  <a:spcPct val="100000"/>
                </a:lnSpc>
              </a:pPr>
              <a:r>
                <a:rPr sz="1200" dirty="0">
                  <a:latin typeface="Segoe UI"/>
                  <a:cs typeface="Segoe UI"/>
                </a:rPr>
                <a:t>Model</a:t>
              </a:r>
              <a:r>
                <a:rPr sz="1200" spc="-10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accuracy</a:t>
              </a:r>
              <a:r>
                <a:rPr sz="1200" spc="-5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and</a:t>
              </a:r>
              <a:r>
                <a:rPr sz="1200" spc="-10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speed</a:t>
              </a:r>
              <a:r>
                <a:rPr sz="1200" spc="-5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support</a:t>
              </a:r>
              <a:r>
                <a:rPr sz="1200" spc="-10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live</a:t>
              </a:r>
              <a:r>
                <a:rPr sz="1200" spc="-5" dirty="0">
                  <a:latin typeface="Segoe UI"/>
                  <a:cs typeface="Segoe UI"/>
                </a:rPr>
                <a:t> </a:t>
              </a:r>
              <a:r>
                <a:rPr sz="1200" dirty="0">
                  <a:latin typeface="Segoe UI"/>
                  <a:cs typeface="Segoe UI"/>
                </a:rPr>
                <a:t>guitar</a:t>
              </a:r>
              <a:r>
                <a:rPr sz="1200" spc="-10" dirty="0">
                  <a:latin typeface="Segoe UI"/>
                  <a:cs typeface="Segoe UI"/>
                </a:rPr>
                <a:t> learning</a:t>
              </a:r>
              <a:endParaRPr sz="1200" dirty="0">
                <a:latin typeface="Segoe UI"/>
                <a:cs typeface="Segoe UI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4D5FF6-EBB3-85AB-8EAA-648DF7CE758A}"/>
              </a:ext>
            </a:extLst>
          </p:cNvPr>
          <p:cNvGrpSpPr/>
          <p:nvPr/>
        </p:nvGrpSpPr>
        <p:grpSpPr>
          <a:xfrm>
            <a:off x="6390272" y="2132806"/>
            <a:ext cx="5639336" cy="3803649"/>
            <a:chOff x="6324063" y="920750"/>
            <a:chExt cx="5639336" cy="3803649"/>
          </a:xfrm>
        </p:grpSpPr>
        <p:pic>
          <p:nvPicPr>
            <p:cNvPr id="31" name="object 20">
              <a:extLst>
                <a:ext uri="{FF2B5EF4-FFF2-40B4-BE49-F238E27FC236}">
                  <a16:creationId xmlns:a16="http://schemas.microsoft.com/office/drawing/2014/main" id="{E794E133-466A-5FFB-A583-4D69A16B9B8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4063" y="952529"/>
              <a:ext cx="229100" cy="229061"/>
            </a:xfrm>
            <a:prstGeom prst="rect">
              <a:avLst/>
            </a:prstGeom>
          </p:spPr>
        </p:pic>
        <p:sp>
          <p:nvSpPr>
            <p:cNvPr id="32" name="object 21">
              <a:extLst>
                <a:ext uri="{FF2B5EF4-FFF2-40B4-BE49-F238E27FC236}">
                  <a16:creationId xmlns:a16="http://schemas.microsoft.com/office/drawing/2014/main" id="{6437279D-D4BA-2669-46A6-D6013511FD3F}"/>
                </a:ext>
              </a:extLst>
            </p:cNvPr>
            <p:cNvSpPr txBox="1"/>
            <p:nvPr/>
          </p:nvSpPr>
          <p:spPr>
            <a:xfrm>
              <a:off x="6616700" y="920750"/>
              <a:ext cx="233997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solidFill>
                    <a:srgbClr val="FF5721"/>
                  </a:solidFill>
                  <a:latin typeface="Segoe UI"/>
                  <a:cs typeface="Segoe UI"/>
                </a:rPr>
                <a:t>Future</a:t>
              </a:r>
              <a:r>
                <a:rPr sz="1800" b="1" spc="-20" dirty="0">
                  <a:solidFill>
                    <a:srgbClr val="FF5721"/>
                  </a:solidFill>
                  <a:latin typeface="Segoe UI"/>
                  <a:cs typeface="Segoe UI"/>
                </a:rPr>
                <a:t> </a:t>
              </a:r>
              <a:r>
                <a:rPr sz="1800" b="1" spc="-10" dirty="0">
                  <a:solidFill>
                    <a:srgbClr val="FF5721"/>
                  </a:solidFill>
                  <a:latin typeface="Segoe UI"/>
                  <a:cs typeface="Segoe UI"/>
                </a:rPr>
                <a:t>Enhancements</a:t>
              </a:r>
              <a:endParaRPr sz="1800">
                <a:latin typeface="Segoe UI"/>
                <a:cs typeface="Segoe UI"/>
              </a:endParaRPr>
            </a:p>
          </p:txBody>
        </p:sp>
        <p:grpSp>
          <p:nvGrpSpPr>
            <p:cNvPr id="33" name="object 22">
              <a:extLst>
                <a:ext uri="{FF2B5EF4-FFF2-40B4-BE49-F238E27FC236}">
                  <a16:creationId xmlns:a16="http://schemas.microsoft.com/office/drawing/2014/main" id="{D483A6E0-E4E9-0291-00A6-98B180917883}"/>
                </a:ext>
              </a:extLst>
            </p:cNvPr>
            <p:cNvGrpSpPr/>
            <p:nvPr/>
          </p:nvGrpSpPr>
          <p:grpSpPr>
            <a:xfrm>
              <a:off x="6324599" y="1371599"/>
              <a:ext cx="2743200" cy="1600200"/>
              <a:chOff x="6324599" y="1371599"/>
              <a:chExt cx="2743200" cy="1600200"/>
            </a:xfrm>
          </p:grpSpPr>
          <p:sp>
            <p:nvSpPr>
              <p:cNvPr id="50" name="object 23">
                <a:extLst>
                  <a:ext uri="{FF2B5EF4-FFF2-40B4-BE49-F238E27FC236}">
                    <a16:creationId xmlns:a16="http://schemas.microsoft.com/office/drawing/2014/main" id="{30D2D829-5ACD-3E42-AE7B-B48F626076F7}"/>
                  </a:ext>
                </a:extLst>
              </p:cNvPr>
              <p:cNvSpPr/>
              <p:nvPr/>
            </p:nvSpPr>
            <p:spPr>
              <a:xfrm>
                <a:off x="6324599" y="1371599"/>
                <a:ext cx="2743200" cy="1600200"/>
              </a:xfrm>
              <a:custGeom>
                <a:avLst/>
                <a:gdLst/>
                <a:ahLst/>
                <a:cxnLst/>
                <a:rect l="l" t="t" r="r" b="b"/>
                <a:pathLst>
                  <a:path w="2743200" h="1600200">
                    <a:moveTo>
                      <a:pt x="2672002" y="1600199"/>
                    </a:moveTo>
                    <a:lnTo>
                      <a:pt x="71196" y="1600199"/>
                    </a:lnTo>
                    <a:lnTo>
                      <a:pt x="66241" y="1599711"/>
                    </a:lnTo>
                    <a:lnTo>
                      <a:pt x="29705" y="1584577"/>
                    </a:lnTo>
                    <a:lnTo>
                      <a:pt x="3885" y="1548537"/>
                    </a:lnTo>
                    <a:lnTo>
                      <a:pt x="0" y="1529003"/>
                    </a:lnTo>
                    <a:lnTo>
                      <a:pt x="0" y="1523999"/>
                    </a:lnTo>
                    <a:lnTo>
                      <a:pt x="0" y="71196"/>
                    </a:lnTo>
                    <a:lnTo>
                      <a:pt x="15621" y="29705"/>
                    </a:lnTo>
                    <a:lnTo>
                      <a:pt x="51661" y="3885"/>
                    </a:lnTo>
                    <a:lnTo>
                      <a:pt x="71196" y="0"/>
                    </a:lnTo>
                    <a:lnTo>
                      <a:pt x="2672002" y="0"/>
                    </a:lnTo>
                    <a:lnTo>
                      <a:pt x="2713493" y="15621"/>
                    </a:lnTo>
                    <a:lnTo>
                      <a:pt x="2739312" y="51661"/>
                    </a:lnTo>
                    <a:lnTo>
                      <a:pt x="2743199" y="71196"/>
                    </a:lnTo>
                    <a:lnTo>
                      <a:pt x="2743199" y="1529003"/>
                    </a:lnTo>
                    <a:lnTo>
                      <a:pt x="2727576" y="1570494"/>
                    </a:lnTo>
                    <a:lnTo>
                      <a:pt x="2691536" y="1596313"/>
                    </a:lnTo>
                    <a:lnTo>
                      <a:pt x="2676957" y="1599711"/>
                    </a:lnTo>
                    <a:lnTo>
                      <a:pt x="2672002" y="1600199"/>
                    </a:lnTo>
                    <a:close/>
                  </a:path>
                </a:pathLst>
              </a:custGeom>
              <a:solidFill>
                <a:srgbClr val="F9FAF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24">
                <a:extLst>
                  <a:ext uri="{FF2B5EF4-FFF2-40B4-BE49-F238E27FC236}">
                    <a16:creationId xmlns:a16="http://schemas.microsoft.com/office/drawing/2014/main" id="{E0F0AC9D-1CE8-D804-7A8F-EA9644294D46}"/>
                  </a:ext>
                </a:extLst>
              </p:cNvPr>
              <p:cNvSpPr/>
              <p:nvPr/>
            </p:nvSpPr>
            <p:spPr>
              <a:xfrm>
                <a:off x="7413077" y="1501775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236087" y="457199"/>
                    </a:moveTo>
                    <a:lnTo>
                      <a:pt x="221113" y="457199"/>
                    </a:lnTo>
                    <a:lnTo>
                      <a:pt x="213644" y="456832"/>
                    </a:lnTo>
                    <a:lnTo>
                      <a:pt x="169405" y="449529"/>
                    </a:lnTo>
                    <a:lnTo>
                      <a:pt x="127441" y="433736"/>
                    </a:lnTo>
                    <a:lnTo>
                      <a:pt x="89364" y="410059"/>
                    </a:lnTo>
                    <a:lnTo>
                      <a:pt x="56638" y="379409"/>
                    </a:lnTo>
                    <a:lnTo>
                      <a:pt x="30521" y="342963"/>
                    </a:lnTo>
                    <a:lnTo>
                      <a:pt x="12016" y="302123"/>
                    </a:lnTo>
                    <a:lnTo>
                      <a:pt x="1834" y="258457"/>
                    </a:lnTo>
                    <a:lnTo>
                      <a:pt x="0" y="236086"/>
                    </a:lnTo>
                    <a:lnTo>
                      <a:pt x="0" y="221112"/>
                    </a:lnTo>
                    <a:lnTo>
                      <a:pt x="5851" y="176659"/>
                    </a:lnTo>
                    <a:lnTo>
                      <a:pt x="20265" y="134201"/>
                    </a:lnTo>
                    <a:lnTo>
                      <a:pt x="42683" y="95371"/>
                    </a:lnTo>
                    <a:lnTo>
                      <a:pt x="72249" y="61661"/>
                    </a:lnTo>
                    <a:lnTo>
                      <a:pt x="107821" y="34366"/>
                    </a:lnTo>
                    <a:lnTo>
                      <a:pt x="148035" y="14535"/>
                    </a:lnTo>
                    <a:lnTo>
                      <a:pt x="191345" y="2931"/>
                    </a:lnTo>
                    <a:lnTo>
                      <a:pt x="221113" y="0"/>
                    </a:lnTo>
                    <a:lnTo>
                      <a:pt x="236087" y="0"/>
                    </a:lnTo>
                    <a:lnTo>
                      <a:pt x="280539" y="5852"/>
                    </a:lnTo>
                    <a:lnTo>
                      <a:pt x="322997" y="20265"/>
                    </a:lnTo>
                    <a:lnTo>
                      <a:pt x="361827" y="42685"/>
                    </a:lnTo>
                    <a:lnTo>
                      <a:pt x="395538" y="72249"/>
                    </a:lnTo>
                    <a:lnTo>
                      <a:pt x="422831" y="107821"/>
                    </a:lnTo>
                    <a:lnTo>
                      <a:pt x="442662" y="148035"/>
                    </a:lnTo>
                    <a:lnTo>
                      <a:pt x="454267" y="191345"/>
                    </a:lnTo>
                    <a:lnTo>
                      <a:pt x="457200" y="221112"/>
                    </a:lnTo>
                    <a:lnTo>
                      <a:pt x="457199" y="228599"/>
                    </a:lnTo>
                    <a:lnTo>
                      <a:pt x="457200" y="236086"/>
                    </a:lnTo>
                    <a:lnTo>
                      <a:pt x="451345" y="280540"/>
                    </a:lnTo>
                    <a:lnTo>
                      <a:pt x="436932" y="322998"/>
                    </a:lnTo>
                    <a:lnTo>
                      <a:pt x="414513" y="361828"/>
                    </a:lnTo>
                    <a:lnTo>
                      <a:pt x="384949" y="395538"/>
                    </a:lnTo>
                    <a:lnTo>
                      <a:pt x="349376" y="422833"/>
                    </a:lnTo>
                    <a:lnTo>
                      <a:pt x="309163" y="442663"/>
                    </a:lnTo>
                    <a:lnTo>
                      <a:pt x="265854" y="454267"/>
                    </a:lnTo>
                    <a:lnTo>
                      <a:pt x="243556" y="456832"/>
                    </a:lnTo>
                    <a:lnTo>
                      <a:pt x="236087" y="457199"/>
                    </a:lnTo>
                    <a:close/>
                  </a:path>
                </a:pathLst>
              </a:custGeom>
              <a:solidFill>
                <a:srgbClr val="FF572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pic>
            <p:nvPicPr>
              <p:cNvPr id="52" name="object 25">
                <a:extLst>
                  <a:ext uri="{FF2B5EF4-FFF2-40B4-BE49-F238E27FC236}">
                    <a16:creationId xmlns:a16="http://schemas.microsoft.com/office/drawing/2014/main" id="{8E348443-A6A9-91BB-0C08-6845D452BDD7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681603" y="1618535"/>
                <a:ext cx="102860" cy="191133"/>
              </a:xfrm>
              <a:prstGeom prst="rect">
                <a:avLst/>
              </a:prstGeom>
            </p:spPr>
          </p:pic>
        </p:grpSp>
        <p:sp>
          <p:nvSpPr>
            <p:cNvPr id="34" name="object 26">
              <a:extLst>
                <a:ext uri="{FF2B5EF4-FFF2-40B4-BE49-F238E27FC236}">
                  <a16:creationId xmlns:a16="http://schemas.microsoft.com/office/drawing/2014/main" id="{2BD5F348-F247-4CB7-544D-5198C2F31E3B}"/>
                </a:ext>
              </a:extLst>
            </p:cNvPr>
            <p:cNvSpPr txBox="1"/>
            <p:nvPr/>
          </p:nvSpPr>
          <p:spPr>
            <a:xfrm>
              <a:off x="6507906" y="2111375"/>
              <a:ext cx="2376805" cy="69977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latin typeface="Segoe UI Semibold"/>
                  <a:cs typeface="Segoe UI Semibold"/>
                </a:rPr>
                <a:t>Chord</a:t>
              </a:r>
              <a:r>
                <a:rPr sz="1350" b="1" spc="-15" dirty="0">
                  <a:latin typeface="Segoe UI Semibold"/>
                  <a:cs typeface="Segoe UI Semibold"/>
                </a:rPr>
                <a:t> </a:t>
              </a:r>
              <a:r>
                <a:rPr sz="1350" b="1" spc="-10" dirty="0">
                  <a:latin typeface="Segoe UI Semibold"/>
                  <a:cs typeface="Segoe UI Semibold"/>
                </a:rPr>
                <a:t>Recognition</a:t>
              </a:r>
              <a:endParaRPr sz="1350">
                <a:latin typeface="Segoe UI Semibold"/>
                <a:cs typeface="Segoe UI Semibold"/>
              </a:endParaRPr>
            </a:p>
            <a:p>
              <a:pPr marL="12700" marR="5080" algn="ctr">
                <a:lnSpc>
                  <a:spcPct val="119000"/>
                </a:lnSpc>
                <a:spcBef>
                  <a:spcPts val="690"/>
                </a:spcBef>
              </a:pP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Detect</a:t>
              </a:r>
              <a:r>
                <a:rPr sz="1050" spc="-15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&amp;</a:t>
              </a:r>
              <a:r>
                <a:rPr sz="1050" spc="-10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evaluate</a:t>
              </a:r>
              <a:r>
                <a:rPr sz="1050" spc="-10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multiple</a:t>
              </a:r>
              <a:r>
                <a:rPr sz="1050" spc="-10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notes</a:t>
              </a:r>
              <a:r>
                <a:rPr sz="1050" spc="-10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(e.g.,</a:t>
              </a:r>
              <a:r>
                <a:rPr sz="1050" spc="-10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spc="-50" dirty="0">
                  <a:solidFill>
                    <a:srgbClr val="4A5462"/>
                  </a:solidFill>
                  <a:latin typeface="Segoe UI"/>
                  <a:cs typeface="Segoe UI"/>
                </a:rPr>
                <a:t>E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minor </a:t>
              </a:r>
              <a:r>
                <a:rPr sz="1050" spc="-10" dirty="0">
                  <a:solidFill>
                    <a:srgbClr val="4A5462"/>
                  </a:solidFill>
                  <a:latin typeface="Segoe UI"/>
                  <a:cs typeface="Segoe UI"/>
                </a:rPr>
                <a:t>chord)</a:t>
              </a:r>
              <a:endParaRPr sz="1050">
                <a:latin typeface="Segoe UI"/>
                <a:cs typeface="Segoe UI"/>
              </a:endParaRPr>
            </a:p>
          </p:txBody>
        </p:sp>
        <p:grpSp>
          <p:nvGrpSpPr>
            <p:cNvPr id="35" name="object 27">
              <a:extLst>
                <a:ext uri="{FF2B5EF4-FFF2-40B4-BE49-F238E27FC236}">
                  <a16:creationId xmlns:a16="http://schemas.microsoft.com/office/drawing/2014/main" id="{586E6226-C757-3F37-601F-F79D60A5EA7D}"/>
                </a:ext>
              </a:extLst>
            </p:cNvPr>
            <p:cNvGrpSpPr/>
            <p:nvPr/>
          </p:nvGrpSpPr>
          <p:grpSpPr>
            <a:xfrm>
              <a:off x="9220199" y="1371599"/>
              <a:ext cx="2743200" cy="1600200"/>
              <a:chOff x="9220199" y="1371599"/>
              <a:chExt cx="2743200" cy="1600200"/>
            </a:xfrm>
          </p:grpSpPr>
          <p:sp>
            <p:nvSpPr>
              <p:cNvPr id="47" name="object 28">
                <a:extLst>
                  <a:ext uri="{FF2B5EF4-FFF2-40B4-BE49-F238E27FC236}">
                    <a16:creationId xmlns:a16="http://schemas.microsoft.com/office/drawing/2014/main" id="{FFF749E8-DE92-3ADF-5730-EAC32B4AFD35}"/>
                  </a:ext>
                </a:extLst>
              </p:cNvPr>
              <p:cNvSpPr/>
              <p:nvPr/>
            </p:nvSpPr>
            <p:spPr>
              <a:xfrm>
                <a:off x="9220199" y="1371599"/>
                <a:ext cx="2743200" cy="1600200"/>
              </a:xfrm>
              <a:custGeom>
                <a:avLst/>
                <a:gdLst/>
                <a:ahLst/>
                <a:cxnLst/>
                <a:rect l="l" t="t" r="r" b="b"/>
                <a:pathLst>
                  <a:path w="2743200" h="1600200">
                    <a:moveTo>
                      <a:pt x="2672002" y="1600199"/>
                    </a:moveTo>
                    <a:lnTo>
                      <a:pt x="71196" y="1600199"/>
                    </a:lnTo>
                    <a:lnTo>
                      <a:pt x="66240" y="1599711"/>
                    </a:lnTo>
                    <a:lnTo>
                      <a:pt x="29704" y="1584577"/>
                    </a:lnTo>
                    <a:lnTo>
                      <a:pt x="3885" y="1548537"/>
                    </a:lnTo>
                    <a:lnTo>
                      <a:pt x="0" y="1529003"/>
                    </a:lnTo>
                    <a:lnTo>
                      <a:pt x="0" y="1523999"/>
                    </a:lnTo>
                    <a:lnTo>
                      <a:pt x="0" y="71196"/>
                    </a:lnTo>
                    <a:lnTo>
                      <a:pt x="15620" y="29705"/>
                    </a:lnTo>
                    <a:lnTo>
                      <a:pt x="51660" y="3885"/>
                    </a:lnTo>
                    <a:lnTo>
                      <a:pt x="71196" y="0"/>
                    </a:lnTo>
                    <a:lnTo>
                      <a:pt x="2672002" y="0"/>
                    </a:lnTo>
                    <a:lnTo>
                      <a:pt x="2713492" y="15621"/>
                    </a:lnTo>
                    <a:lnTo>
                      <a:pt x="2739312" y="51661"/>
                    </a:lnTo>
                    <a:lnTo>
                      <a:pt x="2743198" y="71196"/>
                    </a:lnTo>
                    <a:lnTo>
                      <a:pt x="2743198" y="1529003"/>
                    </a:lnTo>
                    <a:lnTo>
                      <a:pt x="2727576" y="1570494"/>
                    </a:lnTo>
                    <a:lnTo>
                      <a:pt x="2691536" y="1596313"/>
                    </a:lnTo>
                    <a:lnTo>
                      <a:pt x="2676957" y="1599711"/>
                    </a:lnTo>
                    <a:lnTo>
                      <a:pt x="2672002" y="1600199"/>
                    </a:lnTo>
                    <a:close/>
                  </a:path>
                </a:pathLst>
              </a:custGeom>
              <a:solidFill>
                <a:srgbClr val="F9FAF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29">
                <a:extLst>
                  <a:ext uri="{FF2B5EF4-FFF2-40B4-BE49-F238E27FC236}">
                    <a16:creationId xmlns:a16="http://schemas.microsoft.com/office/drawing/2014/main" id="{C3598E74-E20C-8B96-2899-6A4489D07FB2}"/>
                  </a:ext>
                </a:extLst>
              </p:cNvPr>
              <p:cNvSpPr/>
              <p:nvPr/>
            </p:nvSpPr>
            <p:spPr>
              <a:xfrm>
                <a:off x="10363199" y="15240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236086" y="457199"/>
                    </a:moveTo>
                    <a:lnTo>
                      <a:pt x="221113" y="457199"/>
                    </a:lnTo>
                    <a:lnTo>
                      <a:pt x="213645" y="456832"/>
                    </a:lnTo>
                    <a:lnTo>
                      <a:pt x="169405" y="449529"/>
                    </a:lnTo>
                    <a:lnTo>
                      <a:pt x="127439" y="433736"/>
                    </a:lnTo>
                    <a:lnTo>
                      <a:pt x="89364" y="410059"/>
                    </a:lnTo>
                    <a:lnTo>
                      <a:pt x="56638" y="379409"/>
                    </a:lnTo>
                    <a:lnTo>
                      <a:pt x="30519" y="342963"/>
                    </a:lnTo>
                    <a:lnTo>
                      <a:pt x="12015" y="302123"/>
                    </a:lnTo>
                    <a:lnTo>
                      <a:pt x="1834" y="258457"/>
                    </a:lnTo>
                    <a:lnTo>
                      <a:pt x="0" y="236086"/>
                    </a:lnTo>
                    <a:lnTo>
                      <a:pt x="0" y="221112"/>
                    </a:lnTo>
                    <a:lnTo>
                      <a:pt x="5851" y="176659"/>
                    </a:lnTo>
                    <a:lnTo>
                      <a:pt x="20265" y="134201"/>
                    </a:lnTo>
                    <a:lnTo>
                      <a:pt x="42684" y="95371"/>
                    </a:lnTo>
                    <a:lnTo>
                      <a:pt x="72249" y="61661"/>
                    </a:lnTo>
                    <a:lnTo>
                      <a:pt x="107820" y="34366"/>
                    </a:lnTo>
                    <a:lnTo>
                      <a:pt x="148034" y="14535"/>
                    </a:lnTo>
                    <a:lnTo>
                      <a:pt x="191345" y="2931"/>
                    </a:lnTo>
                    <a:lnTo>
                      <a:pt x="221113" y="0"/>
                    </a:lnTo>
                    <a:lnTo>
                      <a:pt x="236086" y="0"/>
                    </a:lnTo>
                    <a:lnTo>
                      <a:pt x="280541" y="5852"/>
                    </a:lnTo>
                    <a:lnTo>
                      <a:pt x="322997" y="20265"/>
                    </a:lnTo>
                    <a:lnTo>
                      <a:pt x="361827" y="42685"/>
                    </a:lnTo>
                    <a:lnTo>
                      <a:pt x="395537" y="72249"/>
                    </a:lnTo>
                    <a:lnTo>
                      <a:pt x="422832" y="107821"/>
                    </a:lnTo>
                    <a:lnTo>
                      <a:pt x="442662" y="148035"/>
                    </a:lnTo>
                    <a:lnTo>
                      <a:pt x="454267" y="191345"/>
                    </a:lnTo>
                    <a:lnTo>
                      <a:pt x="457199" y="221112"/>
                    </a:lnTo>
                    <a:lnTo>
                      <a:pt x="457199" y="228599"/>
                    </a:lnTo>
                    <a:lnTo>
                      <a:pt x="457199" y="236086"/>
                    </a:lnTo>
                    <a:lnTo>
                      <a:pt x="451345" y="280540"/>
                    </a:lnTo>
                    <a:lnTo>
                      <a:pt x="436931" y="322998"/>
                    </a:lnTo>
                    <a:lnTo>
                      <a:pt x="414514" y="361828"/>
                    </a:lnTo>
                    <a:lnTo>
                      <a:pt x="384949" y="395538"/>
                    </a:lnTo>
                    <a:lnTo>
                      <a:pt x="349378" y="422833"/>
                    </a:lnTo>
                    <a:lnTo>
                      <a:pt x="309163" y="442663"/>
                    </a:lnTo>
                    <a:lnTo>
                      <a:pt x="265855" y="454267"/>
                    </a:lnTo>
                    <a:lnTo>
                      <a:pt x="243556" y="456832"/>
                    </a:lnTo>
                    <a:lnTo>
                      <a:pt x="236086" y="457199"/>
                    </a:lnTo>
                    <a:close/>
                  </a:path>
                </a:pathLst>
              </a:custGeom>
              <a:solidFill>
                <a:srgbClr val="FF572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9" name="object 30">
                <a:extLst>
                  <a:ext uri="{FF2B5EF4-FFF2-40B4-BE49-F238E27FC236}">
                    <a16:creationId xmlns:a16="http://schemas.microsoft.com/office/drawing/2014/main" id="{7B85ED02-F0FD-9878-ECF9-DB2C0C41A24D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496549" y="1657349"/>
                <a:ext cx="190499" cy="190425"/>
              </a:xfrm>
              <a:prstGeom prst="rect">
                <a:avLst/>
              </a:prstGeom>
            </p:spPr>
          </p:pic>
        </p:grpSp>
        <p:sp>
          <p:nvSpPr>
            <p:cNvPr id="36" name="object 31">
              <a:extLst>
                <a:ext uri="{FF2B5EF4-FFF2-40B4-BE49-F238E27FC236}">
                  <a16:creationId xmlns:a16="http://schemas.microsoft.com/office/drawing/2014/main" id="{037FEC05-35E8-25C8-AF65-6D2B502682BA}"/>
                </a:ext>
              </a:extLst>
            </p:cNvPr>
            <p:cNvSpPr txBox="1"/>
            <p:nvPr/>
          </p:nvSpPr>
          <p:spPr>
            <a:xfrm>
              <a:off x="9558287" y="2111375"/>
              <a:ext cx="2066925" cy="69977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latin typeface="Segoe UI Semibold"/>
                  <a:cs typeface="Segoe UI Semibold"/>
                </a:rPr>
                <a:t>Visual </a:t>
              </a:r>
              <a:r>
                <a:rPr sz="1350" b="1" spc="-10" dirty="0">
                  <a:latin typeface="Segoe UI Semibold"/>
                  <a:cs typeface="Segoe UI Semibold"/>
                </a:rPr>
                <a:t>Feedback</a:t>
              </a:r>
              <a:endParaRPr sz="1350">
                <a:latin typeface="Segoe UI Semibold"/>
                <a:cs typeface="Segoe UI Semibold"/>
              </a:endParaRPr>
            </a:p>
            <a:p>
              <a:pPr marL="12700" marR="5080" algn="ctr">
                <a:lnSpc>
                  <a:spcPct val="119000"/>
                </a:lnSpc>
                <a:spcBef>
                  <a:spcPts val="690"/>
                </a:spcBef>
              </a:pP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Color-coded</a:t>
              </a:r>
              <a:r>
                <a:rPr sz="1050" spc="-10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note</a:t>
              </a:r>
              <a:r>
                <a:rPr sz="1050" spc="-10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feedback</a:t>
              </a:r>
              <a:r>
                <a:rPr sz="1050" spc="-10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(Red</a:t>
              </a:r>
              <a:r>
                <a:rPr sz="1050" spc="-5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spc="-50" dirty="0">
                  <a:solidFill>
                    <a:srgbClr val="4A5462"/>
                  </a:solidFill>
                  <a:latin typeface="Segoe UI"/>
                  <a:cs typeface="Segoe UI"/>
                </a:rPr>
                <a:t>=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wrong,</a:t>
              </a:r>
              <a:r>
                <a:rPr sz="1050" spc="-10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Blue</a:t>
              </a:r>
              <a:r>
                <a:rPr sz="1050" spc="-5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=</a:t>
              </a:r>
              <a:r>
                <a:rPr sz="1050" spc="-5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spc="-10" dirty="0">
                  <a:solidFill>
                    <a:srgbClr val="4A5462"/>
                  </a:solidFill>
                  <a:latin typeface="Segoe UI"/>
                  <a:cs typeface="Segoe UI"/>
                </a:rPr>
                <a:t>good)</a:t>
              </a:r>
              <a:endParaRPr sz="1050">
                <a:latin typeface="Segoe UI"/>
                <a:cs typeface="Segoe UI"/>
              </a:endParaRPr>
            </a:p>
          </p:txBody>
        </p:sp>
        <p:grpSp>
          <p:nvGrpSpPr>
            <p:cNvPr id="37" name="object 32">
              <a:extLst>
                <a:ext uri="{FF2B5EF4-FFF2-40B4-BE49-F238E27FC236}">
                  <a16:creationId xmlns:a16="http://schemas.microsoft.com/office/drawing/2014/main" id="{C5A01A3C-2A95-ECF8-C84C-288AA3E29EAC}"/>
                </a:ext>
              </a:extLst>
            </p:cNvPr>
            <p:cNvGrpSpPr/>
            <p:nvPr/>
          </p:nvGrpSpPr>
          <p:grpSpPr>
            <a:xfrm>
              <a:off x="6324599" y="3124199"/>
              <a:ext cx="2743200" cy="1600200"/>
              <a:chOff x="6324599" y="3124199"/>
              <a:chExt cx="2743200" cy="1600200"/>
            </a:xfrm>
          </p:grpSpPr>
          <p:sp>
            <p:nvSpPr>
              <p:cNvPr id="44" name="object 33">
                <a:extLst>
                  <a:ext uri="{FF2B5EF4-FFF2-40B4-BE49-F238E27FC236}">
                    <a16:creationId xmlns:a16="http://schemas.microsoft.com/office/drawing/2014/main" id="{4C55E2FB-A875-5223-5AC6-669019478548}"/>
                  </a:ext>
                </a:extLst>
              </p:cNvPr>
              <p:cNvSpPr/>
              <p:nvPr/>
            </p:nvSpPr>
            <p:spPr>
              <a:xfrm>
                <a:off x="6324599" y="3124199"/>
                <a:ext cx="2743200" cy="1600200"/>
              </a:xfrm>
              <a:custGeom>
                <a:avLst/>
                <a:gdLst/>
                <a:ahLst/>
                <a:cxnLst/>
                <a:rect l="l" t="t" r="r" b="b"/>
                <a:pathLst>
                  <a:path w="2743200" h="1600200">
                    <a:moveTo>
                      <a:pt x="2672002" y="1600199"/>
                    </a:moveTo>
                    <a:lnTo>
                      <a:pt x="71196" y="1600199"/>
                    </a:lnTo>
                    <a:lnTo>
                      <a:pt x="66241" y="1599711"/>
                    </a:lnTo>
                    <a:lnTo>
                      <a:pt x="29705" y="1584577"/>
                    </a:lnTo>
                    <a:lnTo>
                      <a:pt x="3885" y="1548537"/>
                    </a:lnTo>
                    <a:lnTo>
                      <a:pt x="0" y="1529003"/>
                    </a:lnTo>
                    <a:lnTo>
                      <a:pt x="0" y="1523999"/>
                    </a:lnTo>
                    <a:lnTo>
                      <a:pt x="0" y="71196"/>
                    </a:lnTo>
                    <a:lnTo>
                      <a:pt x="15621" y="29705"/>
                    </a:lnTo>
                    <a:lnTo>
                      <a:pt x="51661" y="3885"/>
                    </a:lnTo>
                    <a:lnTo>
                      <a:pt x="71196" y="0"/>
                    </a:lnTo>
                    <a:lnTo>
                      <a:pt x="2672002" y="0"/>
                    </a:lnTo>
                    <a:lnTo>
                      <a:pt x="2713493" y="15621"/>
                    </a:lnTo>
                    <a:lnTo>
                      <a:pt x="2739312" y="51661"/>
                    </a:lnTo>
                    <a:lnTo>
                      <a:pt x="2743199" y="71196"/>
                    </a:lnTo>
                    <a:lnTo>
                      <a:pt x="2743199" y="1529003"/>
                    </a:lnTo>
                    <a:lnTo>
                      <a:pt x="2727576" y="1570494"/>
                    </a:lnTo>
                    <a:lnTo>
                      <a:pt x="2691536" y="1596313"/>
                    </a:lnTo>
                    <a:lnTo>
                      <a:pt x="2676957" y="1599711"/>
                    </a:lnTo>
                    <a:lnTo>
                      <a:pt x="2672002" y="1600199"/>
                    </a:lnTo>
                    <a:close/>
                  </a:path>
                </a:pathLst>
              </a:custGeom>
              <a:solidFill>
                <a:srgbClr val="F9FAF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34">
                <a:extLst>
                  <a:ext uri="{FF2B5EF4-FFF2-40B4-BE49-F238E27FC236}">
                    <a16:creationId xmlns:a16="http://schemas.microsoft.com/office/drawing/2014/main" id="{4F17069E-67DC-09A7-C382-23F0647A3717}"/>
                  </a:ext>
                </a:extLst>
              </p:cNvPr>
              <p:cNvSpPr/>
              <p:nvPr/>
            </p:nvSpPr>
            <p:spPr>
              <a:xfrm>
                <a:off x="7467599" y="3276599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236087" y="457199"/>
                    </a:moveTo>
                    <a:lnTo>
                      <a:pt x="221113" y="457199"/>
                    </a:lnTo>
                    <a:lnTo>
                      <a:pt x="213644" y="456833"/>
                    </a:lnTo>
                    <a:lnTo>
                      <a:pt x="169405" y="449529"/>
                    </a:lnTo>
                    <a:lnTo>
                      <a:pt x="127441" y="433736"/>
                    </a:lnTo>
                    <a:lnTo>
                      <a:pt x="89364" y="410059"/>
                    </a:lnTo>
                    <a:lnTo>
                      <a:pt x="56638" y="379409"/>
                    </a:lnTo>
                    <a:lnTo>
                      <a:pt x="30521" y="342963"/>
                    </a:lnTo>
                    <a:lnTo>
                      <a:pt x="12016" y="302123"/>
                    </a:lnTo>
                    <a:lnTo>
                      <a:pt x="1834" y="258457"/>
                    </a:lnTo>
                    <a:lnTo>
                      <a:pt x="0" y="236087"/>
                    </a:lnTo>
                    <a:lnTo>
                      <a:pt x="0" y="221113"/>
                    </a:lnTo>
                    <a:lnTo>
                      <a:pt x="5851" y="176659"/>
                    </a:lnTo>
                    <a:lnTo>
                      <a:pt x="20265" y="134201"/>
                    </a:lnTo>
                    <a:lnTo>
                      <a:pt x="42683" y="95371"/>
                    </a:lnTo>
                    <a:lnTo>
                      <a:pt x="72249" y="61661"/>
                    </a:lnTo>
                    <a:lnTo>
                      <a:pt x="107821" y="34366"/>
                    </a:lnTo>
                    <a:lnTo>
                      <a:pt x="148035" y="14536"/>
                    </a:lnTo>
                    <a:lnTo>
                      <a:pt x="191345" y="2931"/>
                    </a:lnTo>
                    <a:lnTo>
                      <a:pt x="221113" y="0"/>
                    </a:lnTo>
                    <a:lnTo>
                      <a:pt x="236087" y="0"/>
                    </a:lnTo>
                    <a:lnTo>
                      <a:pt x="280539" y="5853"/>
                    </a:lnTo>
                    <a:lnTo>
                      <a:pt x="322997" y="20266"/>
                    </a:lnTo>
                    <a:lnTo>
                      <a:pt x="361827" y="42685"/>
                    </a:lnTo>
                    <a:lnTo>
                      <a:pt x="395538" y="72249"/>
                    </a:lnTo>
                    <a:lnTo>
                      <a:pt x="422831" y="107821"/>
                    </a:lnTo>
                    <a:lnTo>
                      <a:pt x="442662" y="148035"/>
                    </a:lnTo>
                    <a:lnTo>
                      <a:pt x="454267" y="191345"/>
                    </a:lnTo>
                    <a:lnTo>
                      <a:pt x="457200" y="221113"/>
                    </a:lnTo>
                    <a:lnTo>
                      <a:pt x="457199" y="228599"/>
                    </a:lnTo>
                    <a:lnTo>
                      <a:pt x="457200" y="236087"/>
                    </a:lnTo>
                    <a:lnTo>
                      <a:pt x="451345" y="280540"/>
                    </a:lnTo>
                    <a:lnTo>
                      <a:pt x="436932" y="322998"/>
                    </a:lnTo>
                    <a:lnTo>
                      <a:pt x="414513" y="361828"/>
                    </a:lnTo>
                    <a:lnTo>
                      <a:pt x="384949" y="395538"/>
                    </a:lnTo>
                    <a:lnTo>
                      <a:pt x="349376" y="422833"/>
                    </a:lnTo>
                    <a:lnTo>
                      <a:pt x="309163" y="442663"/>
                    </a:lnTo>
                    <a:lnTo>
                      <a:pt x="265854" y="454267"/>
                    </a:lnTo>
                    <a:lnTo>
                      <a:pt x="243556" y="456833"/>
                    </a:lnTo>
                    <a:lnTo>
                      <a:pt x="236087" y="457199"/>
                    </a:lnTo>
                    <a:close/>
                  </a:path>
                </a:pathLst>
              </a:custGeom>
              <a:solidFill>
                <a:srgbClr val="FF572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6" name="object 35">
                <a:extLst>
                  <a:ext uri="{FF2B5EF4-FFF2-40B4-BE49-F238E27FC236}">
                    <a16:creationId xmlns:a16="http://schemas.microsoft.com/office/drawing/2014/main" id="{972B6A62-66EF-047A-5B94-3694345A3D56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7581899" y="3418916"/>
                <a:ext cx="238124" cy="172566"/>
              </a:xfrm>
              <a:prstGeom prst="rect">
                <a:avLst/>
              </a:prstGeom>
            </p:spPr>
          </p:pic>
        </p:grpSp>
        <p:sp>
          <p:nvSpPr>
            <p:cNvPr id="38" name="object 36">
              <a:extLst>
                <a:ext uri="{FF2B5EF4-FFF2-40B4-BE49-F238E27FC236}">
                  <a16:creationId xmlns:a16="http://schemas.microsoft.com/office/drawing/2014/main" id="{7CA0DFA9-899C-3CF7-A839-A9262EABD29F}"/>
                </a:ext>
              </a:extLst>
            </p:cNvPr>
            <p:cNvSpPr txBox="1"/>
            <p:nvPr/>
          </p:nvSpPr>
          <p:spPr>
            <a:xfrm>
              <a:off x="6569521" y="3863975"/>
              <a:ext cx="2253615" cy="50927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latin typeface="Segoe UI Semibold"/>
                  <a:cs typeface="Segoe UI Semibold"/>
                </a:rPr>
                <a:t>Noise </a:t>
              </a:r>
              <a:r>
                <a:rPr sz="1350" b="1" spc="-10" dirty="0">
                  <a:latin typeface="Segoe UI Semibold"/>
                  <a:cs typeface="Segoe UI Semibold"/>
                </a:rPr>
                <a:t>Robustness</a:t>
              </a:r>
              <a:endParaRPr sz="1350">
                <a:latin typeface="Segoe UI Semibold"/>
                <a:cs typeface="Segoe UI Semibold"/>
              </a:endParaRPr>
            </a:p>
            <a:p>
              <a:pPr algn="ctr">
                <a:lnSpc>
                  <a:spcPct val="100000"/>
                </a:lnSpc>
                <a:spcBef>
                  <a:spcPts val="930"/>
                </a:spcBef>
              </a:pPr>
              <a:r>
                <a:rPr sz="1050" spc="-20" dirty="0">
                  <a:solidFill>
                    <a:srgbClr val="4A5462"/>
                  </a:solidFill>
                  <a:latin typeface="Segoe UI"/>
                  <a:cs typeface="Segoe UI"/>
                </a:rPr>
                <a:t>Train</a:t>
              </a:r>
              <a:r>
                <a:rPr sz="1050" spc="-10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with</a:t>
              </a:r>
              <a:r>
                <a:rPr sz="1050" spc="-5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noisy</a:t>
              </a:r>
              <a:r>
                <a:rPr sz="1050" spc="-5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data</a:t>
              </a:r>
              <a:r>
                <a:rPr sz="1050" spc="-5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or</a:t>
              </a:r>
              <a:r>
                <a:rPr sz="1050" spc="-10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add</a:t>
              </a:r>
              <a:r>
                <a:rPr sz="1050" spc="-5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spc="-10" dirty="0">
                  <a:solidFill>
                    <a:srgbClr val="4A5462"/>
                  </a:solidFill>
                  <a:latin typeface="Segoe UI"/>
                  <a:cs typeface="Segoe UI"/>
                </a:rPr>
                <a:t>denoisers</a:t>
              </a:r>
              <a:endParaRPr sz="1050">
                <a:latin typeface="Segoe UI"/>
                <a:cs typeface="Segoe UI"/>
              </a:endParaRPr>
            </a:p>
          </p:txBody>
        </p:sp>
        <p:grpSp>
          <p:nvGrpSpPr>
            <p:cNvPr id="39" name="object 37">
              <a:extLst>
                <a:ext uri="{FF2B5EF4-FFF2-40B4-BE49-F238E27FC236}">
                  <a16:creationId xmlns:a16="http://schemas.microsoft.com/office/drawing/2014/main" id="{A99AF28F-4FB2-1605-05DF-DC46FACEF6D4}"/>
                </a:ext>
              </a:extLst>
            </p:cNvPr>
            <p:cNvGrpSpPr/>
            <p:nvPr/>
          </p:nvGrpSpPr>
          <p:grpSpPr>
            <a:xfrm>
              <a:off x="9220199" y="3124199"/>
              <a:ext cx="2743200" cy="1600200"/>
              <a:chOff x="9220199" y="3124199"/>
              <a:chExt cx="2743200" cy="1600200"/>
            </a:xfrm>
          </p:grpSpPr>
          <p:sp>
            <p:nvSpPr>
              <p:cNvPr id="41" name="object 38">
                <a:extLst>
                  <a:ext uri="{FF2B5EF4-FFF2-40B4-BE49-F238E27FC236}">
                    <a16:creationId xmlns:a16="http://schemas.microsoft.com/office/drawing/2014/main" id="{40D752AA-9D60-EFDA-6D35-5F8FBB1273D6}"/>
                  </a:ext>
                </a:extLst>
              </p:cNvPr>
              <p:cNvSpPr/>
              <p:nvPr/>
            </p:nvSpPr>
            <p:spPr>
              <a:xfrm>
                <a:off x="9220199" y="3124199"/>
                <a:ext cx="2743200" cy="1600200"/>
              </a:xfrm>
              <a:custGeom>
                <a:avLst/>
                <a:gdLst/>
                <a:ahLst/>
                <a:cxnLst/>
                <a:rect l="l" t="t" r="r" b="b"/>
                <a:pathLst>
                  <a:path w="2743200" h="1600200">
                    <a:moveTo>
                      <a:pt x="2672002" y="1600199"/>
                    </a:moveTo>
                    <a:lnTo>
                      <a:pt x="71196" y="1600199"/>
                    </a:lnTo>
                    <a:lnTo>
                      <a:pt x="66240" y="1599711"/>
                    </a:lnTo>
                    <a:lnTo>
                      <a:pt x="29704" y="1584577"/>
                    </a:lnTo>
                    <a:lnTo>
                      <a:pt x="3885" y="1548537"/>
                    </a:lnTo>
                    <a:lnTo>
                      <a:pt x="0" y="1529003"/>
                    </a:lnTo>
                    <a:lnTo>
                      <a:pt x="0" y="1523999"/>
                    </a:lnTo>
                    <a:lnTo>
                      <a:pt x="0" y="71196"/>
                    </a:lnTo>
                    <a:lnTo>
                      <a:pt x="15620" y="29705"/>
                    </a:lnTo>
                    <a:lnTo>
                      <a:pt x="51660" y="3885"/>
                    </a:lnTo>
                    <a:lnTo>
                      <a:pt x="71196" y="0"/>
                    </a:lnTo>
                    <a:lnTo>
                      <a:pt x="2672002" y="0"/>
                    </a:lnTo>
                    <a:lnTo>
                      <a:pt x="2713492" y="15621"/>
                    </a:lnTo>
                    <a:lnTo>
                      <a:pt x="2739312" y="51661"/>
                    </a:lnTo>
                    <a:lnTo>
                      <a:pt x="2743198" y="71196"/>
                    </a:lnTo>
                    <a:lnTo>
                      <a:pt x="2743198" y="1529003"/>
                    </a:lnTo>
                    <a:lnTo>
                      <a:pt x="2727576" y="1570494"/>
                    </a:lnTo>
                    <a:lnTo>
                      <a:pt x="2691536" y="1596313"/>
                    </a:lnTo>
                    <a:lnTo>
                      <a:pt x="2676957" y="1599711"/>
                    </a:lnTo>
                    <a:lnTo>
                      <a:pt x="2672002" y="1600199"/>
                    </a:lnTo>
                    <a:close/>
                  </a:path>
                </a:pathLst>
              </a:custGeom>
              <a:solidFill>
                <a:srgbClr val="F9FAF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39">
                <a:extLst>
                  <a:ext uri="{FF2B5EF4-FFF2-40B4-BE49-F238E27FC236}">
                    <a16:creationId xmlns:a16="http://schemas.microsoft.com/office/drawing/2014/main" id="{9588F60C-B117-6FAF-ADB0-DD43B15DCF2B}"/>
                  </a:ext>
                </a:extLst>
              </p:cNvPr>
              <p:cNvSpPr/>
              <p:nvPr/>
            </p:nvSpPr>
            <p:spPr>
              <a:xfrm>
                <a:off x="10363199" y="3276599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236086" y="457199"/>
                    </a:moveTo>
                    <a:lnTo>
                      <a:pt x="221113" y="457199"/>
                    </a:lnTo>
                    <a:lnTo>
                      <a:pt x="213645" y="456833"/>
                    </a:lnTo>
                    <a:lnTo>
                      <a:pt x="169405" y="449529"/>
                    </a:lnTo>
                    <a:lnTo>
                      <a:pt x="127439" y="433736"/>
                    </a:lnTo>
                    <a:lnTo>
                      <a:pt x="89364" y="410059"/>
                    </a:lnTo>
                    <a:lnTo>
                      <a:pt x="56638" y="379409"/>
                    </a:lnTo>
                    <a:lnTo>
                      <a:pt x="30519" y="342963"/>
                    </a:lnTo>
                    <a:lnTo>
                      <a:pt x="12015" y="302123"/>
                    </a:lnTo>
                    <a:lnTo>
                      <a:pt x="1834" y="258457"/>
                    </a:lnTo>
                    <a:lnTo>
                      <a:pt x="0" y="236087"/>
                    </a:lnTo>
                    <a:lnTo>
                      <a:pt x="0" y="221113"/>
                    </a:lnTo>
                    <a:lnTo>
                      <a:pt x="5851" y="176659"/>
                    </a:lnTo>
                    <a:lnTo>
                      <a:pt x="20265" y="134201"/>
                    </a:lnTo>
                    <a:lnTo>
                      <a:pt x="42684" y="95371"/>
                    </a:lnTo>
                    <a:lnTo>
                      <a:pt x="72249" y="61661"/>
                    </a:lnTo>
                    <a:lnTo>
                      <a:pt x="107820" y="34366"/>
                    </a:lnTo>
                    <a:lnTo>
                      <a:pt x="148034" y="14536"/>
                    </a:lnTo>
                    <a:lnTo>
                      <a:pt x="191345" y="2931"/>
                    </a:lnTo>
                    <a:lnTo>
                      <a:pt x="221113" y="0"/>
                    </a:lnTo>
                    <a:lnTo>
                      <a:pt x="236086" y="0"/>
                    </a:lnTo>
                    <a:lnTo>
                      <a:pt x="280541" y="5853"/>
                    </a:lnTo>
                    <a:lnTo>
                      <a:pt x="322997" y="20266"/>
                    </a:lnTo>
                    <a:lnTo>
                      <a:pt x="361827" y="42685"/>
                    </a:lnTo>
                    <a:lnTo>
                      <a:pt x="395537" y="72249"/>
                    </a:lnTo>
                    <a:lnTo>
                      <a:pt x="422832" y="107821"/>
                    </a:lnTo>
                    <a:lnTo>
                      <a:pt x="442662" y="148035"/>
                    </a:lnTo>
                    <a:lnTo>
                      <a:pt x="454267" y="191345"/>
                    </a:lnTo>
                    <a:lnTo>
                      <a:pt x="457199" y="221113"/>
                    </a:lnTo>
                    <a:lnTo>
                      <a:pt x="457199" y="228599"/>
                    </a:lnTo>
                    <a:lnTo>
                      <a:pt x="457199" y="236087"/>
                    </a:lnTo>
                    <a:lnTo>
                      <a:pt x="451345" y="280540"/>
                    </a:lnTo>
                    <a:lnTo>
                      <a:pt x="436931" y="322998"/>
                    </a:lnTo>
                    <a:lnTo>
                      <a:pt x="414514" y="361828"/>
                    </a:lnTo>
                    <a:lnTo>
                      <a:pt x="384949" y="395538"/>
                    </a:lnTo>
                    <a:lnTo>
                      <a:pt x="349378" y="422833"/>
                    </a:lnTo>
                    <a:lnTo>
                      <a:pt x="309163" y="442663"/>
                    </a:lnTo>
                    <a:lnTo>
                      <a:pt x="265855" y="454267"/>
                    </a:lnTo>
                    <a:lnTo>
                      <a:pt x="243556" y="456833"/>
                    </a:lnTo>
                    <a:lnTo>
                      <a:pt x="236086" y="457199"/>
                    </a:lnTo>
                    <a:close/>
                  </a:path>
                </a:pathLst>
              </a:custGeom>
              <a:solidFill>
                <a:srgbClr val="FF572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3" name="object 40">
                <a:extLst>
                  <a:ext uri="{FF2B5EF4-FFF2-40B4-BE49-F238E27FC236}">
                    <a16:creationId xmlns:a16="http://schemas.microsoft.com/office/drawing/2014/main" id="{71A3810E-8E45-B6A0-5EA2-648AFA71243E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0496549" y="3409354"/>
                <a:ext cx="190499" cy="191095"/>
              </a:xfrm>
              <a:prstGeom prst="rect">
                <a:avLst/>
              </a:prstGeom>
            </p:spPr>
          </p:pic>
        </p:grpSp>
        <p:sp>
          <p:nvSpPr>
            <p:cNvPr id="40" name="object 41">
              <a:extLst>
                <a:ext uri="{FF2B5EF4-FFF2-40B4-BE49-F238E27FC236}">
                  <a16:creationId xmlns:a16="http://schemas.microsoft.com/office/drawing/2014/main" id="{66B4127C-F669-6D87-8532-5EDEDF7D93A9}"/>
                </a:ext>
              </a:extLst>
            </p:cNvPr>
            <p:cNvSpPr txBox="1"/>
            <p:nvPr/>
          </p:nvSpPr>
          <p:spPr>
            <a:xfrm>
              <a:off x="9395617" y="3863975"/>
              <a:ext cx="2392680" cy="69977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latin typeface="Segoe UI Semibold"/>
                  <a:cs typeface="Segoe UI Semibold"/>
                </a:rPr>
                <a:t>Multi-</a:t>
              </a:r>
              <a:r>
                <a:rPr sz="1350" b="1" spc="-10" dirty="0">
                  <a:latin typeface="Segoe UI Semibold"/>
                  <a:cs typeface="Segoe UI Semibold"/>
                </a:rPr>
                <a:t>Instrument</a:t>
              </a:r>
              <a:endParaRPr sz="1350">
                <a:latin typeface="Segoe UI Semibold"/>
                <a:cs typeface="Segoe UI Semibold"/>
              </a:endParaRPr>
            </a:p>
            <a:p>
              <a:pPr marL="12700" marR="5080" algn="ctr">
                <a:lnSpc>
                  <a:spcPct val="119000"/>
                </a:lnSpc>
                <a:spcBef>
                  <a:spcPts val="690"/>
                </a:spcBef>
              </a:pP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Expand</a:t>
              </a:r>
              <a:r>
                <a:rPr sz="1050" spc="-20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to</a:t>
              </a:r>
              <a:r>
                <a:rPr sz="1050" spc="-15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ukulele</a:t>
              </a:r>
              <a:r>
                <a:rPr sz="1050" spc="-15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(UI</a:t>
              </a:r>
              <a:r>
                <a:rPr sz="1050" spc="-15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changes)</a:t>
              </a:r>
              <a:r>
                <a:rPr sz="1050" spc="-15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and</a:t>
              </a:r>
              <a:r>
                <a:rPr sz="1050" spc="-15" dirty="0">
                  <a:solidFill>
                    <a:srgbClr val="4A5462"/>
                  </a:solidFill>
                  <a:latin typeface="Segoe UI"/>
                  <a:cs typeface="Segoe UI"/>
                </a:rPr>
                <a:t> </a:t>
              </a:r>
              <a:r>
                <a:rPr sz="1050" spc="-20" dirty="0">
                  <a:solidFill>
                    <a:srgbClr val="4A5462"/>
                  </a:solidFill>
                  <a:latin typeface="Segoe UI"/>
                  <a:cs typeface="Segoe UI"/>
                </a:rPr>
                <a:t>bass </a:t>
              </a:r>
              <a:r>
                <a:rPr sz="1050" dirty="0">
                  <a:solidFill>
                    <a:srgbClr val="4A5462"/>
                  </a:solidFill>
                  <a:latin typeface="Segoe UI"/>
                  <a:cs typeface="Segoe UI"/>
                </a:rPr>
                <a:t>(model </a:t>
              </a:r>
              <a:r>
                <a:rPr sz="1050" spc="-10" dirty="0">
                  <a:solidFill>
                    <a:srgbClr val="4A5462"/>
                  </a:solidFill>
                  <a:latin typeface="Segoe UI"/>
                  <a:cs typeface="Segoe UI"/>
                </a:rPr>
                <a:t>retraining)</a:t>
              </a:r>
              <a:endParaRPr sz="1050">
                <a:latin typeface="Segoe UI"/>
                <a:cs typeface="Segoe UI"/>
              </a:endParaRPr>
            </a:p>
          </p:txBody>
        </p:sp>
      </p:grpSp>
      <p:pic>
        <p:nvPicPr>
          <p:cNvPr id="54" name="Graphic 53" descr="Music note outline">
            <a:extLst>
              <a:ext uri="{FF2B5EF4-FFF2-40B4-BE49-F238E27FC236}">
                <a16:creationId xmlns:a16="http://schemas.microsoft.com/office/drawing/2014/main" id="{605DF594-8C32-AAB5-9210-642F7197F6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88004" y="2697558"/>
            <a:ext cx="457200" cy="457200"/>
          </a:xfrm>
          <a:prstGeom prst="rect">
            <a:avLst/>
          </a:prstGeom>
        </p:spPr>
      </p:pic>
      <p:pic>
        <p:nvPicPr>
          <p:cNvPr id="56" name="Graphic 55" descr="Glasses outline">
            <a:extLst>
              <a:ext uri="{FF2B5EF4-FFF2-40B4-BE49-F238E27FC236}">
                <a16:creationId xmlns:a16="http://schemas.microsoft.com/office/drawing/2014/main" id="{7719E87C-1A24-17B6-4E11-9144E8E32B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67458" y="2773758"/>
            <a:ext cx="381000" cy="381000"/>
          </a:xfrm>
          <a:prstGeom prst="rect">
            <a:avLst/>
          </a:prstGeom>
        </p:spPr>
      </p:pic>
      <p:pic>
        <p:nvPicPr>
          <p:cNvPr id="58" name="Graphic 57" descr="Megaphone1 with solid fill">
            <a:extLst>
              <a:ext uri="{FF2B5EF4-FFF2-40B4-BE49-F238E27FC236}">
                <a16:creationId xmlns:a16="http://schemas.microsoft.com/office/drawing/2014/main" id="{D2014BD6-48C2-989E-1B17-E3BAA86F382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33808" y="4444998"/>
            <a:ext cx="457200" cy="457200"/>
          </a:xfrm>
          <a:prstGeom prst="rect">
            <a:avLst/>
          </a:prstGeom>
        </p:spPr>
      </p:pic>
      <p:pic>
        <p:nvPicPr>
          <p:cNvPr id="60" name="Graphic 59" descr="Guitar with solid fill">
            <a:extLst>
              <a:ext uri="{FF2B5EF4-FFF2-40B4-BE49-F238E27FC236}">
                <a16:creationId xmlns:a16="http://schemas.microsoft.com/office/drawing/2014/main" id="{405C793C-5938-BB27-0035-2E157F25FE3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454002" y="4529175"/>
            <a:ext cx="394456" cy="394456"/>
          </a:xfrm>
          <a:prstGeom prst="rect">
            <a:avLst/>
          </a:prstGeom>
        </p:spPr>
      </p:pic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F1E21144-C4E0-7E12-8FA0-8BB618499D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6">
            <a:extLst>
              <a:ext uri="{FF2B5EF4-FFF2-40B4-BE49-F238E27FC236}">
                <a16:creationId xmlns:a16="http://schemas.microsoft.com/office/drawing/2014/main" id="{A13BF04F-6630-3ED9-B7D9-EE44B87B7302}"/>
              </a:ext>
            </a:extLst>
          </p:cNvPr>
          <p:cNvSpPr/>
          <p:nvPr/>
        </p:nvSpPr>
        <p:spPr>
          <a:xfrm>
            <a:off x="5181600" y="1686163"/>
            <a:ext cx="1524000" cy="1219200"/>
          </a:xfrm>
          <a:custGeom>
            <a:avLst/>
            <a:gdLst/>
            <a:ahLst/>
            <a:cxnLst/>
            <a:rect l="l" t="t" r="r" b="b"/>
            <a:pathLst>
              <a:path w="392429" h="392430">
                <a:moveTo>
                  <a:pt x="287013" y="139630"/>
                </a:moveTo>
                <a:lnTo>
                  <a:pt x="217638" y="139630"/>
                </a:lnTo>
                <a:lnTo>
                  <a:pt x="277047" y="80144"/>
                </a:lnTo>
                <a:lnTo>
                  <a:pt x="289772" y="46262"/>
                </a:lnTo>
                <a:lnTo>
                  <a:pt x="291229" y="44039"/>
                </a:lnTo>
                <a:lnTo>
                  <a:pt x="329941" y="5404"/>
                </a:lnTo>
                <a:lnTo>
                  <a:pt x="335995" y="1351"/>
                </a:lnTo>
                <a:lnTo>
                  <a:pt x="342905" y="0"/>
                </a:lnTo>
                <a:lnTo>
                  <a:pt x="349830" y="1351"/>
                </a:lnTo>
                <a:lnTo>
                  <a:pt x="355927" y="5404"/>
                </a:lnTo>
                <a:lnTo>
                  <a:pt x="386514" y="36067"/>
                </a:lnTo>
                <a:lnTo>
                  <a:pt x="390567" y="42121"/>
                </a:lnTo>
                <a:lnTo>
                  <a:pt x="391918" y="49031"/>
                </a:lnTo>
                <a:lnTo>
                  <a:pt x="390567" y="55956"/>
                </a:lnTo>
                <a:lnTo>
                  <a:pt x="386514" y="62053"/>
                </a:lnTo>
                <a:lnTo>
                  <a:pt x="347878" y="100688"/>
                </a:lnTo>
                <a:lnTo>
                  <a:pt x="345655" y="102145"/>
                </a:lnTo>
                <a:lnTo>
                  <a:pt x="311773" y="114870"/>
                </a:lnTo>
                <a:lnTo>
                  <a:pt x="287013" y="139630"/>
                </a:lnTo>
                <a:close/>
              </a:path>
              <a:path w="392429" h="392430">
                <a:moveTo>
                  <a:pt x="108182" y="391995"/>
                </a:moveTo>
                <a:lnTo>
                  <a:pt x="70542" y="380998"/>
                </a:lnTo>
                <a:lnTo>
                  <a:pt x="35885" y="356110"/>
                </a:lnTo>
                <a:lnTo>
                  <a:pt x="10996" y="321451"/>
                </a:lnTo>
                <a:lnTo>
                  <a:pt x="0" y="283803"/>
                </a:lnTo>
                <a:lnTo>
                  <a:pt x="3362" y="247621"/>
                </a:lnTo>
                <a:lnTo>
                  <a:pt x="32672" y="208286"/>
                </a:lnTo>
                <a:lnTo>
                  <a:pt x="73140" y="195436"/>
                </a:lnTo>
                <a:lnTo>
                  <a:pt x="82563" y="193150"/>
                </a:lnTo>
                <a:lnTo>
                  <a:pt x="90800" y="187838"/>
                </a:lnTo>
                <a:lnTo>
                  <a:pt x="97125" y="180269"/>
                </a:lnTo>
                <a:lnTo>
                  <a:pt x="100813" y="171213"/>
                </a:lnTo>
                <a:lnTo>
                  <a:pt x="103290" y="162805"/>
                </a:lnTo>
                <a:lnTo>
                  <a:pt x="106831" y="154885"/>
                </a:lnTo>
                <a:lnTo>
                  <a:pt x="111464" y="147540"/>
                </a:lnTo>
                <a:lnTo>
                  <a:pt x="117218" y="140857"/>
                </a:lnTo>
                <a:lnTo>
                  <a:pt x="138298" y="127212"/>
                </a:lnTo>
                <a:lnTo>
                  <a:pt x="163576" y="122651"/>
                </a:lnTo>
                <a:lnTo>
                  <a:pt x="190780" y="126886"/>
                </a:lnTo>
                <a:lnTo>
                  <a:pt x="217638" y="139630"/>
                </a:lnTo>
                <a:lnTo>
                  <a:pt x="287013" y="139630"/>
                </a:lnTo>
                <a:lnTo>
                  <a:pt x="252287" y="174356"/>
                </a:lnTo>
                <a:lnTo>
                  <a:pt x="262694" y="196280"/>
                </a:lnTo>
                <a:lnTo>
                  <a:pt x="154040" y="196280"/>
                </a:lnTo>
                <a:lnTo>
                  <a:pt x="123057" y="223502"/>
                </a:lnTo>
                <a:lnTo>
                  <a:pt x="122124" y="228196"/>
                </a:lnTo>
                <a:lnTo>
                  <a:pt x="122124" y="237954"/>
                </a:lnTo>
                <a:lnTo>
                  <a:pt x="149346" y="268937"/>
                </a:lnTo>
                <a:lnTo>
                  <a:pt x="154040" y="269870"/>
                </a:lnTo>
                <a:lnTo>
                  <a:pt x="254231" y="269870"/>
                </a:lnTo>
                <a:lnTo>
                  <a:pt x="251061" y="274776"/>
                </a:lnTo>
                <a:lnTo>
                  <a:pt x="244377" y="280498"/>
                </a:lnTo>
                <a:lnTo>
                  <a:pt x="237032" y="285135"/>
                </a:lnTo>
                <a:lnTo>
                  <a:pt x="229113" y="288693"/>
                </a:lnTo>
                <a:lnTo>
                  <a:pt x="220705" y="291181"/>
                </a:lnTo>
                <a:lnTo>
                  <a:pt x="211648" y="294901"/>
                </a:lnTo>
                <a:lnTo>
                  <a:pt x="204080" y="301223"/>
                </a:lnTo>
                <a:lnTo>
                  <a:pt x="198767" y="309442"/>
                </a:lnTo>
                <a:lnTo>
                  <a:pt x="196481" y="318854"/>
                </a:lnTo>
                <a:lnTo>
                  <a:pt x="194597" y="333265"/>
                </a:lnTo>
                <a:lnTo>
                  <a:pt x="190320" y="346863"/>
                </a:lnTo>
                <a:lnTo>
                  <a:pt x="183642" y="359354"/>
                </a:lnTo>
                <a:lnTo>
                  <a:pt x="174557" y="370444"/>
                </a:lnTo>
                <a:lnTo>
                  <a:pt x="144341" y="388632"/>
                </a:lnTo>
                <a:lnTo>
                  <a:pt x="108182" y="391995"/>
                </a:lnTo>
                <a:close/>
              </a:path>
              <a:path w="392429" h="392430">
                <a:moveTo>
                  <a:pt x="254231" y="269870"/>
                </a:moveTo>
                <a:lnTo>
                  <a:pt x="163798" y="269870"/>
                </a:lnTo>
                <a:lnTo>
                  <a:pt x="168492" y="268937"/>
                </a:lnTo>
                <a:lnTo>
                  <a:pt x="177508" y="265202"/>
                </a:lnTo>
                <a:lnTo>
                  <a:pt x="195714" y="237954"/>
                </a:lnTo>
                <a:lnTo>
                  <a:pt x="195714" y="228196"/>
                </a:lnTo>
                <a:lnTo>
                  <a:pt x="168492" y="197213"/>
                </a:lnTo>
                <a:lnTo>
                  <a:pt x="163798" y="196280"/>
                </a:lnTo>
                <a:lnTo>
                  <a:pt x="262694" y="196280"/>
                </a:lnTo>
                <a:lnTo>
                  <a:pt x="264910" y="200948"/>
                </a:lnTo>
                <a:lnTo>
                  <a:pt x="265031" y="201204"/>
                </a:lnTo>
                <a:lnTo>
                  <a:pt x="269237" y="228196"/>
                </a:lnTo>
                <a:lnTo>
                  <a:pt x="269267" y="228389"/>
                </a:lnTo>
                <a:lnTo>
                  <a:pt x="264706" y="253663"/>
                </a:lnTo>
                <a:lnTo>
                  <a:pt x="254231" y="26987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B07576-538C-85C5-71D0-BCFEC2F74628}"/>
              </a:ext>
            </a:extLst>
          </p:cNvPr>
          <p:cNvSpPr txBox="1"/>
          <p:nvPr/>
        </p:nvSpPr>
        <p:spPr>
          <a:xfrm>
            <a:off x="2971800" y="338262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lang="en-US" sz="3600" b="1" dirty="0">
                <a:latin typeface="Segoe UI"/>
                <a:cs typeface="Segoe UI"/>
              </a:rPr>
              <a:t>Thank you</a:t>
            </a:r>
            <a:r>
              <a:rPr lang="en-US" sz="3600" b="1" spc="5" dirty="0">
                <a:latin typeface="Segoe UI"/>
                <a:cs typeface="Segoe UI"/>
              </a:rPr>
              <a:t> </a:t>
            </a:r>
            <a:r>
              <a:rPr lang="en-US" sz="3600" b="1" dirty="0">
                <a:latin typeface="Segoe UI"/>
                <a:cs typeface="Segoe UI"/>
              </a:rPr>
              <a:t>for</a:t>
            </a:r>
            <a:r>
              <a:rPr lang="en-US" sz="3600" b="1" spc="5" dirty="0">
                <a:latin typeface="Segoe UI"/>
                <a:cs typeface="Segoe UI"/>
              </a:rPr>
              <a:t> </a:t>
            </a:r>
            <a:r>
              <a:rPr lang="en-US" sz="3600" b="1" dirty="0">
                <a:latin typeface="Segoe UI"/>
                <a:cs typeface="Segoe UI"/>
              </a:rPr>
              <a:t>your </a:t>
            </a:r>
            <a:r>
              <a:rPr lang="en-US" sz="3600" b="1" spc="-10" dirty="0">
                <a:latin typeface="Segoe UI"/>
                <a:cs typeface="Segoe UI"/>
              </a:rPr>
              <a:t>attention!</a:t>
            </a:r>
            <a:endParaRPr lang="en-US" sz="3600" dirty="0">
              <a:latin typeface="Segoe UI"/>
              <a:cs typeface="Segoe UI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D57A5513-3A69-D529-5BD9-BB7691AE0B95}"/>
              </a:ext>
            </a:extLst>
          </p:cNvPr>
          <p:cNvSpPr/>
          <p:nvPr/>
        </p:nvSpPr>
        <p:spPr>
          <a:xfrm>
            <a:off x="0" y="0"/>
            <a:ext cx="12192000" cy="589280"/>
          </a:xfrm>
          <a:custGeom>
            <a:avLst/>
            <a:gdLst/>
            <a:ahLst/>
            <a:cxnLst/>
            <a:rect l="l" t="t" r="r" b="b"/>
            <a:pathLst>
              <a:path w="10466705" h="589280">
                <a:moveTo>
                  <a:pt x="10466234" y="588725"/>
                </a:moveTo>
                <a:lnTo>
                  <a:pt x="0" y="588725"/>
                </a:lnTo>
                <a:lnTo>
                  <a:pt x="0" y="0"/>
                </a:lnTo>
                <a:lnTo>
                  <a:pt x="10466234" y="0"/>
                </a:lnTo>
                <a:lnTo>
                  <a:pt x="10466234" y="58872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195FBC81-431C-4EA6-B27B-DA8533CF0472}"/>
              </a:ext>
            </a:extLst>
          </p:cNvPr>
          <p:cNvSpPr/>
          <p:nvPr/>
        </p:nvSpPr>
        <p:spPr>
          <a:xfrm>
            <a:off x="24447" y="6452394"/>
            <a:ext cx="12192000" cy="393065"/>
          </a:xfrm>
          <a:custGeom>
            <a:avLst/>
            <a:gdLst/>
            <a:ahLst/>
            <a:cxnLst/>
            <a:rect l="l" t="t" r="r" b="b"/>
            <a:pathLst>
              <a:path w="10466705" h="393065">
                <a:moveTo>
                  <a:pt x="10466234" y="392483"/>
                </a:moveTo>
                <a:lnTo>
                  <a:pt x="0" y="392483"/>
                </a:lnTo>
                <a:lnTo>
                  <a:pt x="0" y="0"/>
                </a:lnTo>
                <a:lnTo>
                  <a:pt x="10466234" y="0"/>
                </a:lnTo>
                <a:lnTo>
                  <a:pt x="10466234" y="392483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9431B-CEEF-493F-6813-7DA40CEE2E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032240" y="6452394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bg1"/>
                </a:solidFill>
              </a:rPr>
              <a:t>28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763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1643</TotalTime>
  <Words>1416</Words>
  <Application>Microsoft Office PowerPoint</Application>
  <PresentationFormat>Custom</PresentationFormat>
  <Paragraphs>300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Aptos</vt:lpstr>
      <vt:lpstr>Arial</vt:lpstr>
      <vt:lpstr>Comfortaa</vt:lpstr>
      <vt:lpstr>DejaVu Sans</vt:lpstr>
      <vt:lpstr>Liberation Sans</vt:lpstr>
      <vt:lpstr>Liberation Serif</vt:lpstr>
      <vt:lpstr>Montserrat</vt:lpstr>
      <vt:lpstr>Montserrat Medium</vt:lpstr>
      <vt:lpstr>Montserrat SemiBold</vt:lpstr>
      <vt:lpstr>Segoe UI</vt:lpstr>
      <vt:lpstr>Segoe UI Semibold</vt:lpstr>
      <vt:lpstr>Times New Roman</vt:lpstr>
      <vt:lpstr>Office Theme</vt:lpstr>
      <vt:lpstr>GuitarMate Interactive Guitar Learning App with Deep Learning Pitch Detection</vt:lpstr>
      <vt:lpstr>Table of Contents</vt:lpstr>
      <vt:lpstr>Problem Statement &amp; Motivation</vt:lpstr>
      <vt:lpstr>System Overview &amp; Architecture</vt:lpstr>
      <vt:lpstr>System Overview</vt:lpstr>
      <vt:lpstr>System Architecture</vt:lpstr>
      <vt:lpstr>System Architecture</vt:lpstr>
      <vt:lpstr>Model Evaluation and Selection</vt:lpstr>
      <vt:lpstr>Model Evaluation and Selection</vt:lpstr>
      <vt:lpstr>Model Evaluation and Selection</vt:lpstr>
      <vt:lpstr>Model Evaluation and Selection</vt:lpstr>
      <vt:lpstr>Model Evaluation and Selection</vt:lpstr>
      <vt:lpstr>Implementation of core functions</vt:lpstr>
      <vt:lpstr>Mobile App</vt:lpstr>
      <vt:lpstr>Mobile App</vt:lpstr>
      <vt:lpstr>Mobile App</vt:lpstr>
      <vt:lpstr>Mobile App</vt:lpstr>
      <vt:lpstr>Mobile App</vt:lpstr>
      <vt:lpstr>Mobile App</vt:lpstr>
      <vt:lpstr>Mobile App</vt:lpstr>
      <vt:lpstr>Mobile App</vt:lpstr>
      <vt:lpstr>Mobile App</vt:lpstr>
      <vt:lpstr>Admin Portal</vt:lpstr>
      <vt:lpstr>Evaluation &amp; Results</vt:lpstr>
      <vt:lpstr>Evaluation &amp; Results</vt:lpstr>
      <vt:lpstr>Evaluation &amp; Results</vt:lpstr>
      <vt:lpstr>Conclusion and 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Duy</cp:lastModifiedBy>
  <cp:revision>8</cp:revision>
  <dcterms:created xsi:type="dcterms:W3CDTF">2025-06-24T14:10:02Z</dcterms:created>
  <dcterms:modified xsi:type="dcterms:W3CDTF">2025-07-08T03:45:23Z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2025-06-24T00:00:00Z</vt:filetime>
  </property>
  <property fmtid="{D5CDD505-2E9C-101B-9397-08002B2CF9AE}" pid="3" name="Producer">
    <vt:lpwstr>pypdf</vt:lpwstr>
  </property>
  <property fmtid="{D5CDD505-2E9C-101B-9397-08002B2CF9AE}" pid="4" name="LastSaved">
    <vt:filetime>2025-06-24T00:00:00Z</vt:filetime>
  </property>
</Properties>
</file>